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52"/>
  </p:notesMasterIdLst>
  <p:handoutMasterIdLst>
    <p:handoutMasterId r:id="rId53"/>
  </p:handoutMasterIdLst>
  <p:sldIdLst>
    <p:sldId id="7687" r:id="rId3"/>
    <p:sldId id="256" r:id="rId4"/>
    <p:sldId id="7630" r:id="rId5"/>
    <p:sldId id="7656" r:id="rId6"/>
    <p:sldId id="7657" r:id="rId7"/>
    <p:sldId id="7658" r:id="rId8"/>
    <p:sldId id="7684" r:id="rId9"/>
    <p:sldId id="7685" r:id="rId10"/>
    <p:sldId id="7688" r:id="rId11"/>
    <p:sldId id="7689" r:id="rId12"/>
    <p:sldId id="7690" r:id="rId13"/>
    <p:sldId id="7691" r:id="rId14"/>
    <p:sldId id="7659" r:id="rId15"/>
    <p:sldId id="7692" r:id="rId16"/>
    <p:sldId id="7694" r:id="rId17"/>
    <p:sldId id="7693" r:id="rId18"/>
    <p:sldId id="7686" r:id="rId19"/>
    <p:sldId id="7696" r:id="rId20"/>
    <p:sldId id="7698" r:id="rId21"/>
    <p:sldId id="7699" r:id="rId22"/>
    <p:sldId id="7660" r:id="rId23"/>
    <p:sldId id="7695" r:id="rId24"/>
    <p:sldId id="7661" r:id="rId25"/>
    <p:sldId id="7697" r:id="rId26"/>
    <p:sldId id="7662" r:id="rId27"/>
    <p:sldId id="7704" r:id="rId28"/>
    <p:sldId id="7682" r:id="rId29"/>
    <p:sldId id="7683" r:id="rId30"/>
    <p:sldId id="7663" r:id="rId31"/>
    <p:sldId id="7664" r:id="rId32"/>
    <p:sldId id="7665" r:id="rId33"/>
    <p:sldId id="7667" r:id="rId34"/>
    <p:sldId id="7668" r:id="rId35"/>
    <p:sldId id="7669" r:id="rId36"/>
    <p:sldId id="7670" r:id="rId37"/>
    <p:sldId id="7671" r:id="rId38"/>
    <p:sldId id="7700" r:id="rId39"/>
    <p:sldId id="7701" r:id="rId40"/>
    <p:sldId id="7702" r:id="rId41"/>
    <p:sldId id="7672" r:id="rId42"/>
    <p:sldId id="7679" r:id="rId43"/>
    <p:sldId id="7703" r:id="rId44"/>
    <p:sldId id="7673" r:id="rId45"/>
    <p:sldId id="7674" r:id="rId46"/>
    <p:sldId id="7675" r:id="rId47"/>
    <p:sldId id="7676" r:id="rId48"/>
    <p:sldId id="7677" r:id="rId49"/>
    <p:sldId id="7678" r:id="rId50"/>
    <p:sldId id="7522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8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8" autoAdjust="0"/>
    <p:restoredTop sz="95317" autoAdjust="0"/>
  </p:normalViewPr>
  <p:slideViewPr>
    <p:cSldViewPr snapToGrid="0">
      <p:cViewPr varScale="1">
        <p:scale>
          <a:sx n="111" d="100"/>
          <a:sy n="111" d="100"/>
        </p:scale>
        <p:origin x="70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60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xmlns="" id="{3A99781D-8CC5-3888-5356-106C252AAA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B8400415-194A-E754-81A9-FB4D628EE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C5146-FE87-45DC-9F7A-852F97AD352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8E66F587-7FAC-1557-2F5B-0AADA8C921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728FA03A-4728-AFD2-A44B-354D8E0860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0167D-598F-478A-87DE-32B72930B1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8904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51325-44B5-4B15-A551-A61A79A305DE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793FC-B9DE-4853-870F-B5DB9A952A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80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313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73882FB3-418F-49F1-A1A6-86E3E52198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699"/>
          <a:stretch/>
        </p:blipFill>
        <p:spPr>
          <a:xfrm>
            <a:off x="0" y="0"/>
            <a:ext cx="4595964" cy="46604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4124955D-E53E-4330-81C9-6DE22EF19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56206" y="1432211"/>
            <a:ext cx="4935794" cy="54257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432F1D-C345-6F68-03F2-CA301D43C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139" y="2577382"/>
            <a:ext cx="8169721" cy="1373647"/>
          </a:xfrm>
        </p:spPr>
        <p:txBody>
          <a:bodyPr anchor="ctr">
            <a:normAutofit/>
          </a:bodyPr>
          <a:lstStyle>
            <a:lvl1pPr algn="ctr">
              <a:defRPr sz="4400" b="1" spc="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椭圆 28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xmlns="" id="{62A9A5AA-6DE7-18F5-8E6C-CB43E191A403}"/>
              </a:ext>
            </a:extLst>
          </p:cNvPr>
          <p:cNvSpPr/>
          <p:nvPr userDrawn="1"/>
        </p:nvSpPr>
        <p:spPr>
          <a:xfrm>
            <a:off x="6017623" y="4837332"/>
            <a:ext cx="163773" cy="163773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4" name="任意多边形 12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xmlns="" id="{44C24D63-C12A-25FC-6C3A-15C6F620994B}"/>
              </a:ext>
            </a:extLst>
          </p:cNvPr>
          <p:cNvSpPr/>
          <p:nvPr userDrawn="1"/>
        </p:nvSpPr>
        <p:spPr>
          <a:xfrm>
            <a:off x="6281483" y="4919114"/>
            <a:ext cx="3125338" cy="0"/>
          </a:xfrm>
          <a:custGeom>
            <a:avLst/>
            <a:gdLst>
              <a:gd name="connsiteX0" fmla="*/ 0 w 3125338"/>
              <a:gd name="connsiteY0" fmla="*/ 0 h 0"/>
              <a:gd name="connsiteX1" fmla="*/ 3125338 w 312533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5338">
                <a:moveTo>
                  <a:pt x="0" y="0"/>
                </a:moveTo>
                <a:lnTo>
                  <a:pt x="3125338" y="0"/>
                </a:lnTo>
              </a:path>
            </a:pathLst>
          </a:custGeom>
          <a:noFill/>
          <a:ln w="12700" cap="flat" cmpd="sng" algn="ctr">
            <a:gradFill>
              <a:gsLst>
                <a:gs pos="100000">
                  <a:srgbClr val="232324"/>
                </a:gs>
                <a:gs pos="0">
                  <a:schemeClr val="bg1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5" name="任意多边形 13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xmlns="" id="{0F8191E4-A18B-52C7-C513-D24B8AA69514}"/>
              </a:ext>
            </a:extLst>
          </p:cNvPr>
          <p:cNvSpPr/>
          <p:nvPr userDrawn="1"/>
        </p:nvSpPr>
        <p:spPr>
          <a:xfrm flipH="1">
            <a:off x="2750971" y="4919114"/>
            <a:ext cx="3125338" cy="0"/>
          </a:xfrm>
          <a:custGeom>
            <a:avLst/>
            <a:gdLst>
              <a:gd name="connsiteX0" fmla="*/ 0 w 3125338"/>
              <a:gd name="connsiteY0" fmla="*/ 0 h 0"/>
              <a:gd name="connsiteX1" fmla="*/ 3125338 w 312533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5338">
                <a:moveTo>
                  <a:pt x="0" y="0"/>
                </a:moveTo>
                <a:lnTo>
                  <a:pt x="3125338" y="0"/>
                </a:lnTo>
              </a:path>
            </a:pathLst>
          </a:custGeom>
          <a:noFill/>
          <a:ln w="12700" cap="flat" cmpd="sng" algn="ctr">
            <a:gradFill>
              <a:gsLst>
                <a:gs pos="100000">
                  <a:srgbClr val="232324"/>
                </a:gs>
                <a:gs pos="0">
                  <a:schemeClr val="bg1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CB5C35-7803-6D59-AFD6-C5546255C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58400" y="6571955"/>
            <a:ext cx="2124894" cy="2860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Php &amp; my sql </a:t>
            </a:r>
            <a:r>
              <a:rPr lang="zh-TW" altLang="en-US"/>
              <a:t> 課程                  </a:t>
            </a:r>
            <a:fld id="{44C17B34-3B2B-4648-8E11-108A0E011466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8449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11302 0.00046 L 1.04167E-6 1.11111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51" y="-23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1138 1.11111E-6 L -2.29167E-6 1.11111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9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5" grpId="0" animBg="1"/>
      <p:bldP spid="5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17728734-F8F9-4C88-993B-AD792CD56D89}"/>
              </a:ext>
            </a:extLst>
          </p:cNvPr>
          <p:cNvGrpSpPr/>
          <p:nvPr userDrawn="1"/>
        </p:nvGrpSpPr>
        <p:grpSpPr>
          <a:xfrm>
            <a:off x="295071" y="1902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xmlns="" id="{26DC0884-6A83-48BA-AAF8-3B7EB24F2D4E}"/>
                </a:ext>
              </a:extLst>
            </p:cNvPr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xmlns="" id="{349408B6-9696-4A5B-A103-E1EE4FB46197}"/>
                  </a:ext>
                </a:extLst>
              </p:cNvPr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xmlns="" id="{BC7BAA39-3124-4873-A47F-BED4F34F6883}"/>
                  </a:ext>
                </a:extLst>
              </p:cNvPr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xmlns="" id="{94B5EC67-E582-47F5-AD80-247E1E58B109}"/>
                </a:ext>
              </a:extLst>
            </p:cNvPr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itchFamily="34" charset="-122"/>
              </a:endParaRPr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A75435F8-A470-4185-91DA-FD983119D8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565"/>
          <a:stretch/>
        </p:blipFill>
        <p:spPr>
          <a:xfrm>
            <a:off x="5372100" y="6019799"/>
            <a:ext cx="6819900" cy="83820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BB3CD0BC-D18B-4A9C-ADD3-6443622D574A}"/>
              </a:ext>
            </a:extLst>
          </p:cNvPr>
          <p:cNvSpPr/>
          <p:nvPr userDrawn="1"/>
        </p:nvSpPr>
        <p:spPr>
          <a:xfrm>
            <a:off x="0" y="6429375"/>
            <a:ext cx="5372100" cy="428625"/>
          </a:xfrm>
          <a:prstGeom prst="rect">
            <a:avLst/>
          </a:prstGeom>
          <a:gradFill flip="none" rotWithShape="1">
            <a:gsLst>
              <a:gs pos="58000">
                <a:schemeClr val="accent2"/>
              </a:gs>
              <a:gs pos="58000">
                <a:schemeClr val="accent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F8BEE157-F2A3-9A93-9707-9D2968744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64" y="171177"/>
            <a:ext cx="10701092" cy="569052"/>
          </a:xfrm>
        </p:spPr>
        <p:txBody>
          <a:bodyPr>
            <a:normAutofit/>
          </a:bodyPr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0C15B001-787B-FFB5-6B2A-6EE1F3880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65" y="872155"/>
            <a:ext cx="10701092" cy="5049254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CE09D2A5-33AF-B7F8-966B-BA582D5C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6473" y="6054635"/>
            <a:ext cx="6497076" cy="274320"/>
          </a:xfrm>
        </p:spPr>
        <p:txBody>
          <a:bodyPr/>
          <a:lstStyle/>
          <a:p>
            <a:pPr>
              <a:defRPr/>
            </a:pPr>
            <a:endParaRPr lang="zh-TW" alt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2DBAD842-DBB7-F5EA-1788-9FB8BD0F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5516" y="6053335"/>
            <a:ext cx="1071936" cy="274320"/>
          </a:xfrm>
        </p:spPr>
        <p:txBody>
          <a:bodyPr/>
          <a:lstStyle>
            <a:lvl1pPr algn="r">
              <a:defRPr b="1"/>
            </a:lvl1pPr>
          </a:lstStyle>
          <a:p>
            <a:pPr>
              <a:defRPr/>
            </a:pPr>
            <a:fld id="{A664C07F-1B4E-4B53-AA43-54279C4DA7C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996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C717-EF4A-47D2-A5FF-318658AF1AD2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7F23-4C57-47C3-8C46-422A2FEB1C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54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C717-EF4A-47D2-A5FF-318658AF1AD2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7F23-4C57-47C3-8C46-422A2FEB1C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083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C717-EF4A-47D2-A5FF-318658AF1AD2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7F23-4C57-47C3-8C46-422A2FEB1C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6806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C717-EF4A-47D2-A5FF-318658AF1AD2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7F23-4C57-47C3-8C46-422A2FEB1C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4377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C717-EF4A-47D2-A5FF-318658AF1AD2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7F23-4C57-47C3-8C46-422A2FEB1C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350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C717-EF4A-47D2-A5FF-318658AF1AD2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7F23-4C57-47C3-8C46-422A2FEB1C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754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C717-EF4A-47D2-A5FF-318658AF1AD2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7F23-4C57-47C3-8C46-422A2FEB1C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731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C717-EF4A-47D2-A5FF-318658AF1AD2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7F23-4C57-47C3-8C46-422A2FEB1C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860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C717-EF4A-47D2-A5FF-318658AF1AD2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7F23-4C57-47C3-8C46-422A2FEB1C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1659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C717-EF4A-47D2-A5FF-318658AF1AD2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7F23-4C57-47C3-8C46-422A2FEB1C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682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0C717-EF4A-47D2-A5FF-318658AF1AD2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7F23-4C57-47C3-8C46-422A2FEB1C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08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2EA2FAB7-23F0-91EE-3B46-AE9A0469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86" y="315250"/>
            <a:ext cx="11136519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8B2364DB-2433-6FEA-3E13-41BCDB08F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587" y="2016034"/>
            <a:ext cx="1113652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xmlns="" id="{642B31BD-0CB1-21AE-3C7D-ADF3F224F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588" y="6200738"/>
            <a:ext cx="246805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35ED0061-284E-1375-EBF5-3B69A4916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83557" y="6200738"/>
            <a:ext cx="728834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D86B3E7E-4EBB-C1F2-2727-E4DAE819A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75552" y="6200738"/>
            <a:ext cx="111555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44C17B34-3B2B-4648-8E11-108A0E01146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8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0C717-EF4A-47D2-A5FF-318658AF1AD2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C7F23-4C57-47C3-8C46-422A2FEB1C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288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it/server-case-computer-computer-pc-309012/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ch02_1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ch02_3.ph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hp.net/manual/en/reserved.keywords.ph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ch02_6.php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ch02_7.php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ch02_8.php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ch02_9.php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ch02_10.php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ch02_11.php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ch02_12.php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ch02_13.php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ch02_14.php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ch02_15.htm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8.png"/><Relationship Id="rId7" Type="http://schemas.openxmlformats.org/officeDocument/2006/relationships/hyperlink" Target="ch02_18.php" TargetMode="External"/><Relationship Id="rId2" Type="http://schemas.openxmlformats.org/officeDocument/2006/relationships/hyperlink" Target="ch02_16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ch02_18.html" TargetMode="External"/><Relationship Id="rId5" Type="http://schemas.openxmlformats.org/officeDocument/2006/relationships/image" Target="../media/image49.png"/><Relationship Id="rId4" Type="http://schemas.openxmlformats.org/officeDocument/2006/relationships/hyperlink" Target="ch02_16.php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08E8088-6CE5-CC81-E1E8-E7210795B5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Client Server </a:t>
            </a:r>
            <a:r>
              <a:rPr lang="zh-TW" altLang="en-US" dirty="0"/>
              <a:t>架構</a:t>
            </a:r>
          </a:p>
        </p:txBody>
      </p:sp>
    </p:spTree>
    <p:extLst>
      <p:ext uri="{BB962C8B-B14F-4D97-AF65-F5344CB8AC3E}">
        <p14:creationId xmlns:p14="http://schemas.microsoft.com/office/powerpoint/2010/main" val="107921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28535" y="767147"/>
            <a:ext cx="1968843" cy="1977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瀏覽器</a:t>
            </a:r>
          </a:p>
        </p:txBody>
      </p:sp>
      <p:sp>
        <p:nvSpPr>
          <p:cNvPr id="5" name="矩形 4"/>
          <p:cNvSpPr/>
          <p:nvPr/>
        </p:nvSpPr>
        <p:spPr>
          <a:xfrm>
            <a:off x="7045378" y="1161535"/>
            <a:ext cx="2636108" cy="135100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Apache/IIS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Web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伺服器</a:t>
            </a:r>
          </a:p>
        </p:txBody>
      </p:sp>
      <p:sp>
        <p:nvSpPr>
          <p:cNvPr id="6" name="圓角矩形 5"/>
          <p:cNvSpPr/>
          <p:nvPr/>
        </p:nvSpPr>
        <p:spPr>
          <a:xfrm>
            <a:off x="6641724" y="683741"/>
            <a:ext cx="3443416" cy="2290118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480718" y="448962"/>
            <a:ext cx="3064475" cy="2660822"/>
          </a:xfrm>
          <a:prstGeom prst="roundRect">
            <a:avLst/>
          </a:pr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>
            <a:off x="3997378" y="1268627"/>
            <a:ext cx="3048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5014751" y="622296"/>
            <a:ext cx="1223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請求網頁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html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074740" y="1958208"/>
            <a:ext cx="1845276" cy="59312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執行客戶端應用程式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(</a:t>
            </a:r>
            <a:r>
              <a:rPr kumimoji="0" lang="en-US" altLang="zh-TW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javascript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)</a:t>
            </a:r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cxnSp>
        <p:nvCxnSpPr>
          <p:cNvPr id="12" name="直線單箭頭接點 11"/>
          <p:cNvCxnSpPr>
            <a:endCxn id="11" idx="6"/>
          </p:cNvCxnSpPr>
          <p:nvPr/>
        </p:nvCxnSpPr>
        <p:spPr>
          <a:xfrm flipH="1">
            <a:off x="4920016" y="2254770"/>
            <a:ext cx="21253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035335" y="3756115"/>
            <a:ext cx="1968843" cy="1977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瀏覽器</a:t>
            </a:r>
          </a:p>
        </p:txBody>
      </p:sp>
      <p:sp>
        <p:nvSpPr>
          <p:cNvPr id="16" name="矩形 15"/>
          <p:cNvSpPr/>
          <p:nvPr/>
        </p:nvSpPr>
        <p:spPr>
          <a:xfrm>
            <a:off x="7045378" y="4103985"/>
            <a:ext cx="2636108" cy="135100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Apache(PHP)/IIS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Web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伺服器</a:t>
            </a:r>
          </a:p>
        </p:txBody>
      </p:sp>
      <p:sp>
        <p:nvSpPr>
          <p:cNvPr id="17" name="圓角矩形 16"/>
          <p:cNvSpPr/>
          <p:nvPr/>
        </p:nvSpPr>
        <p:spPr>
          <a:xfrm>
            <a:off x="6641724" y="3686432"/>
            <a:ext cx="3443416" cy="2290118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1480718" y="3451653"/>
            <a:ext cx="3064475" cy="2660822"/>
          </a:xfrm>
          <a:prstGeom prst="roundRect">
            <a:avLst/>
          </a:pr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19" name="直線單箭頭接點 18"/>
          <p:cNvCxnSpPr/>
          <p:nvPr/>
        </p:nvCxnSpPr>
        <p:spPr>
          <a:xfrm>
            <a:off x="3997378" y="4271318"/>
            <a:ext cx="3048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4818485" y="3725555"/>
            <a:ext cx="1548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請求網頁</a:t>
            </a:r>
            <a:r>
              <a:rPr kumimoji="0" lang="en-US" altLang="zh-TW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php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cxnSp>
        <p:nvCxnSpPr>
          <p:cNvPr id="22" name="直線單箭頭接點 21"/>
          <p:cNvCxnSpPr/>
          <p:nvPr/>
        </p:nvCxnSpPr>
        <p:spPr>
          <a:xfrm flipH="1">
            <a:off x="3997378" y="5348416"/>
            <a:ext cx="3048000" cy="236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6497563" y="5075538"/>
            <a:ext cx="1845276" cy="59312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執行伺服端應用程式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(PHP)</a:t>
            </a:r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809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C7B72E3-1D1E-A70B-2F94-63AE9B1F5E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pc="-150" dirty="0">
                <a:latin typeface="华文宋体" panose="02010600040101010101" pitchFamily="2" charset="-122"/>
                <a:ea typeface="华文宋体" panose="02010600040101010101" pitchFamily="2" charset="-122"/>
                <a:cs typeface="Open Sans" panose="020B0606030504020204" pitchFamily="34" charset="0"/>
                <a:sym typeface="微软雅黑 Light" panose="020B0502040204020203" pitchFamily="34" charset="-122"/>
              </a:rPr>
              <a:t>PHP</a:t>
            </a:r>
            <a:r>
              <a:rPr lang="zh-TW" altLang="en-US" sz="4400" b="1" spc="-150" dirty="0">
                <a:solidFill>
                  <a:schemeClr val="bg1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Open Sans" panose="020B0606030504020204" pitchFamily="34" charset="0"/>
                <a:sym typeface="微软雅黑 Light" panose="020B0502040204020203" pitchFamily="34" charset="-122"/>
              </a:rPr>
              <a:t>程式語言撰寫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4004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BCAA844-1B30-0FDD-3F95-B389E697E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PHP</a:t>
            </a:r>
            <a:r>
              <a:rPr lang="zh-TW" altLang="en-US" dirty="0"/>
              <a:t>程式語言的簡介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4BA0EB6-FAB0-61D1-FEE3-F7765E715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65" y="872155"/>
            <a:ext cx="9345763" cy="1080866"/>
          </a:xfrm>
        </p:spPr>
        <p:txBody>
          <a:bodyPr/>
          <a:lstStyle/>
          <a:p>
            <a:r>
              <a:rPr lang="en-US" altLang="zh-TW" dirty="0"/>
              <a:t>PHP</a:t>
            </a:r>
            <a:r>
              <a:rPr lang="zh-TW" altLang="en-US" dirty="0"/>
              <a:t>藉由輸出產生的</a:t>
            </a:r>
            <a:r>
              <a:rPr lang="en-US" altLang="zh-TW" dirty="0"/>
              <a:t>HTML</a:t>
            </a:r>
            <a:r>
              <a:rPr lang="zh-TW" altLang="en-US" dirty="0"/>
              <a:t>語法，供使用者的瀏覽器瀏覽</a:t>
            </a:r>
          </a:p>
          <a:p>
            <a:r>
              <a:rPr lang="en-US" altLang="zh-TW" dirty="0"/>
              <a:t>PHP</a:t>
            </a:r>
            <a:r>
              <a:rPr lang="zh-TW" altLang="en-US" dirty="0"/>
              <a:t>程式必須存成</a:t>
            </a:r>
            <a:r>
              <a:rPr lang="en-US" altLang="zh-TW" dirty="0"/>
              <a:t>.</a:t>
            </a:r>
            <a:r>
              <a:rPr lang="en-US" altLang="zh-TW" dirty="0" err="1"/>
              <a:t>php</a:t>
            </a:r>
            <a:r>
              <a:rPr lang="zh-TW" altLang="en-US" dirty="0"/>
              <a:t>檔</a:t>
            </a:r>
          </a:p>
          <a:p>
            <a:endParaRPr lang="zh-TW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1B9B42F-F611-E49E-77CC-0771E68B3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11" y="2889762"/>
            <a:ext cx="1296987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4">
            <a:extLst>
              <a:ext uri="{FF2B5EF4-FFF2-40B4-BE49-F238E27FC236}">
                <a16:creationId xmlns:a16="http://schemas.microsoft.com/office/drawing/2014/main" xmlns="" id="{D090E10B-E1C4-4A93-DFAF-5E1E9537E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660" y="2637374"/>
            <a:ext cx="6985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xmlns="" id="{DF2BB182-CE82-D240-47F9-D6B96201FBB1}"/>
              </a:ext>
            </a:extLst>
          </p:cNvPr>
          <p:cNvCxnSpPr>
            <a:cxnSpLocks/>
          </p:cNvCxnSpPr>
          <p:nvPr/>
        </p:nvCxnSpPr>
        <p:spPr>
          <a:xfrm>
            <a:off x="2624265" y="3348574"/>
            <a:ext cx="2475640" cy="1338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xmlns="" id="{FC9F7E28-5BAA-13FF-2120-BE14B8690147}"/>
              </a:ext>
            </a:extLst>
          </p:cNvPr>
          <p:cNvCxnSpPr>
            <a:cxnSpLocks/>
          </p:cNvCxnSpPr>
          <p:nvPr/>
        </p:nvCxnSpPr>
        <p:spPr>
          <a:xfrm>
            <a:off x="2567702" y="4052240"/>
            <a:ext cx="2475640" cy="0"/>
          </a:xfrm>
          <a:prstGeom prst="straightConnector1">
            <a:avLst/>
          </a:prstGeom>
          <a:ln w="3810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22">
            <a:extLst>
              <a:ext uri="{FF2B5EF4-FFF2-40B4-BE49-F238E27FC236}">
                <a16:creationId xmlns:a16="http://schemas.microsoft.com/office/drawing/2014/main" xmlns="" id="{538B0C7A-E64B-DA58-DB23-9D36131CF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10802"/>
            <a:ext cx="264619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ctr" eaLnBrk="1" hangingPunct="1"/>
            <a:r>
              <a:rPr lang="zh-TW" altLang="en-US" dirty="0"/>
              <a:t>個人電腦</a:t>
            </a:r>
            <a:endParaRPr lang="en-US" altLang="zh-TW" dirty="0"/>
          </a:p>
          <a:p>
            <a:pPr algn="ctr" eaLnBrk="1" hangingPunct="1"/>
            <a:r>
              <a:rPr lang="zh-TW" altLang="en-US" dirty="0"/>
              <a:t>瀏覽器</a:t>
            </a:r>
            <a:r>
              <a:rPr lang="en-US" altLang="zh-TW" dirty="0"/>
              <a:t>(Google Chrome)</a:t>
            </a:r>
            <a:endParaRPr lang="zh-TW" altLang="en-US" dirty="0"/>
          </a:p>
        </p:txBody>
      </p:sp>
      <p:sp>
        <p:nvSpPr>
          <p:cNvPr id="14" name="文字方塊 23">
            <a:extLst>
              <a:ext uri="{FF2B5EF4-FFF2-40B4-BE49-F238E27FC236}">
                <a16:creationId xmlns:a16="http://schemas.microsoft.com/office/drawing/2014/main" xmlns="" id="{B8A4BF72-5069-0BB9-0AB6-51CE99FAF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6816" y="5275078"/>
            <a:ext cx="218521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eaLnBrk="1" hangingPunct="1"/>
            <a:r>
              <a:rPr lang="en-US" altLang="zh-TW" dirty="0"/>
              <a:t>Apache </a:t>
            </a:r>
            <a:r>
              <a:rPr lang="zh-TW" altLang="en-US" dirty="0"/>
              <a:t>網站伺服器</a:t>
            </a:r>
            <a:endParaRPr lang="en-US" altLang="zh-TW" dirty="0"/>
          </a:p>
          <a:p>
            <a:pPr eaLnBrk="1" hangingPunct="1"/>
            <a:r>
              <a:rPr lang="en-US" altLang="zh-TW" dirty="0"/>
              <a:t>202.10.x.x</a:t>
            </a:r>
            <a:endParaRPr lang="zh-TW" altLang="en-US" dirty="0"/>
          </a:p>
        </p:txBody>
      </p:sp>
      <p:sp>
        <p:nvSpPr>
          <p:cNvPr id="15" name="文字方塊 24">
            <a:extLst>
              <a:ext uri="{FF2B5EF4-FFF2-40B4-BE49-F238E27FC236}">
                <a16:creationId xmlns:a16="http://schemas.microsoft.com/office/drawing/2014/main" xmlns="" id="{7EFA0FD2-7D8A-DEF3-A3E9-F1CD6AD79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798" y="2327632"/>
            <a:ext cx="491679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eaLnBrk="1" hangingPunct="1"/>
            <a:r>
              <a:rPr lang="zh-TW" altLang="en-US" dirty="0"/>
              <a:t>送出網址</a:t>
            </a:r>
            <a:r>
              <a:rPr lang="en-US" altLang="zh-TW" dirty="0"/>
              <a:t>http://www.xx.xx.com/index.php:80 or</a:t>
            </a:r>
          </a:p>
          <a:p>
            <a:pPr eaLnBrk="1" hangingPunct="1"/>
            <a:r>
              <a:rPr lang="en-US" altLang="zh-TW" dirty="0"/>
              <a:t>	http://202.10.x.x </a:t>
            </a:r>
            <a:endParaRPr lang="zh-TW" altLang="en-US" dirty="0"/>
          </a:p>
        </p:txBody>
      </p:sp>
      <p:sp>
        <p:nvSpPr>
          <p:cNvPr id="16" name="文字方塊 25">
            <a:extLst>
              <a:ext uri="{FF2B5EF4-FFF2-40B4-BE49-F238E27FC236}">
                <a16:creationId xmlns:a16="http://schemas.microsoft.com/office/drawing/2014/main" xmlns="" id="{C7C8449A-BB60-6B4B-215F-1C234C5D2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367" y="4187226"/>
            <a:ext cx="1954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eaLnBrk="1" hangingPunct="1"/>
            <a:r>
              <a:rPr lang="zh-TW" altLang="en-US" dirty="0"/>
              <a:t>回傳</a:t>
            </a:r>
            <a:r>
              <a:rPr lang="en-US" altLang="zh-TW" dirty="0" err="1"/>
              <a:t>php</a:t>
            </a:r>
            <a:r>
              <a:rPr lang="zh-TW" altLang="en-US" dirty="0"/>
              <a:t>輸出資料</a:t>
            </a:r>
          </a:p>
        </p:txBody>
      </p:sp>
      <p:sp>
        <p:nvSpPr>
          <p:cNvPr id="17" name="文字方塊 26">
            <a:extLst>
              <a:ext uri="{FF2B5EF4-FFF2-40B4-BE49-F238E27FC236}">
                <a16:creationId xmlns:a16="http://schemas.microsoft.com/office/drawing/2014/main" xmlns="" id="{8FF0435E-E762-71F2-45F5-437F38D6E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8804" y="3361955"/>
            <a:ext cx="11592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eaLnBrk="1" hangingPunct="1"/>
            <a:r>
              <a:rPr lang="en-US" altLang="zh-TW" dirty="0"/>
              <a:t>.</a:t>
            </a:r>
            <a:r>
              <a:rPr lang="en-US" altLang="zh-TW" dirty="0" err="1"/>
              <a:t>php</a:t>
            </a:r>
            <a:r>
              <a:rPr lang="en-US" altLang="zh-TW" dirty="0"/>
              <a:t> </a:t>
            </a:r>
            <a:r>
              <a:rPr lang="zh-TW" altLang="en-US" dirty="0"/>
              <a:t>翻譯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xmlns="" id="{79F86065-5E2E-67E1-F1B7-42856C3567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9265046" y="2816585"/>
            <a:ext cx="1754429" cy="2291499"/>
          </a:xfrm>
          <a:prstGeom prst="rect">
            <a:avLst/>
          </a:prstGeom>
        </p:spPr>
      </p:pic>
      <p:sp>
        <p:nvSpPr>
          <p:cNvPr id="24" name="雲朵形 23">
            <a:extLst>
              <a:ext uri="{FF2B5EF4-FFF2-40B4-BE49-F238E27FC236}">
                <a16:creationId xmlns:a16="http://schemas.microsoft.com/office/drawing/2014/main" xmlns="" id="{A76E56BB-97CE-FFAD-682B-2E07915F36DD}"/>
              </a:ext>
            </a:extLst>
          </p:cNvPr>
          <p:cNvSpPr/>
          <p:nvPr/>
        </p:nvSpPr>
        <p:spPr>
          <a:xfrm>
            <a:off x="5824653" y="2415622"/>
            <a:ext cx="3022090" cy="2494593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Internet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xmlns="" id="{3A495325-7833-FB44-F53B-AC9F84FE9937}"/>
              </a:ext>
            </a:extLst>
          </p:cNvPr>
          <p:cNvSpPr txBox="1"/>
          <p:nvPr/>
        </p:nvSpPr>
        <p:spPr>
          <a:xfrm>
            <a:off x="505474" y="2955032"/>
            <a:ext cx="1569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>
                <a:solidFill>
                  <a:srgbClr val="FF0000"/>
                </a:solidFill>
              </a:rPr>
              <a:t>HTML</a:t>
            </a:r>
            <a:endParaRPr lang="zh-TW" altLang="en-US" sz="4000" b="1" dirty="0">
              <a:solidFill>
                <a:srgbClr val="FF0000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xmlns="" id="{5507C715-4CD6-A20A-B49B-6EA1D3ABEB92}"/>
              </a:ext>
            </a:extLst>
          </p:cNvPr>
          <p:cNvSpPr txBox="1"/>
          <p:nvPr/>
        </p:nvSpPr>
        <p:spPr>
          <a:xfrm>
            <a:off x="11019475" y="1709742"/>
            <a:ext cx="9332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&lt;?</a:t>
            </a:r>
            <a:r>
              <a:rPr lang="en-US" altLang="zh-TW" sz="2000" b="1" dirty="0" err="1">
                <a:solidFill>
                  <a:srgbClr val="FF0000"/>
                </a:solidFill>
              </a:rPr>
              <a:t>php</a:t>
            </a:r>
            <a:endParaRPr lang="en-US" altLang="zh-TW" sz="2000" b="1" dirty="0">
              <a:solidFill>
                <a:srgbClr val="FF0000"/>
              </a:solidFill>
            </a:endParaRPr>
          </a:p>
          <a:p>
            <a:r>
              <a:rPr lang="en-US" altLang="zh-TW" sz="2000" b="1" dirty="0">
                <a:solidFill>
                  <a:srgbClr val="FF0000"/>
                </a:solidFill>
              </a:rPr>
              <a:t>…</a:t>
            </a:r>
          </a:p>
          <a:p>
            <a:r>
              <a:rPr lang="en-US" altLang="zh-TW" sz="2000" b="1" dirty="0">
                <a:solidFill>
                  <a:srgbClr val="FF0000"/>
                </a:solidFill>
              </a:rPr>
              <a:t>?&gt;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8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9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392D964-49AA-B8D4-3451-2364399E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 5 </a:t>
            </a:r>
            <a:r>
              <a:rPr lang="zh-TW" altLang="en-US" dirty="0"/>
              <a:t>架構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A0982373-7BFF-6CE2-DAAA-5D6082453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&lt;!DOCTYPE html&gt;</a:t>
            </a:r>
          </a:p>
          <a:p>
            <a:pPr lvl="1"/>
            <a:r>
              <a:rPr lang="zh-TW" altLang="en-US" dirty="0"/>
              <a:t>不是ＨＴＭＬ標籤，主要告訴瀏覽器使用的ＨＴＭＬ版本</a:t>
            </a:r>
            <a:endParaRPr lang="en-US" altLang="zh-TW" dirty="0"/>
          </a:p>
          <a:p>
            <a:r>
              <a:rPr lang="en-US" altLang="zh-TW" dirty="0"/>
              <a:t>&lt;html&gt;</a:t>
            </a:r>
            <a:r>
              <a:rPr lang="zh-TW" altLang="en-US" dirty="0"/>
              <a:t>標籤，網頁的根元素，擁有</a:t>
            </a:r>
            <a:r>
              <a:rPr lang="en-US" altLang="zh-TW" dirty="0"/>
              <a:t>&lt;head&gt;</a:t>
            </a:r>
            <a:r>
              <a:rPr lang="zh-TW" altLang="en-US" dirty="0"/>
              <a:t>和</a:t>
            </a:r>
            <a:r>
              <a:rPr lang="en-US" altLang="zh-TW" dirty="0"/>
              <a:t>&lt;body&gt;</a:t>
            </a:r>
          </a:p>
          <a:p>
            <a:pPr lvl="1"/>
            <a:r>
              <a:rPr lang="en-US" altLang="zh-TW" dirty="0"/>
              <a:t>&lt;html</a:t>
            </a:r>
            <a:r>
              <a:rPr lang="zh-TW" altLang="en-US" dirty="0"/>
              <a:t> </a:t>
            </a:r>
            <a:r>
              <a:rPr lang="en-US" altLang="zh-TW" dirty="0"/>
              <a:t>lang=“</a:t>
            </a:r>
            <a:r>
              <a:rPr lang="en-US" altLang="zh-TW" dirty="0" err="1"/>
              <a:t>zh</a:t>
            </a:r>
            <a:r>
              <a:rPr lang="en-US" altLang="zh-TW" dirty="0"/>
              <a:t>-TW”&gt;</a:t>
            </a:r>
          </a:p>
          <a:p>
            <a:r>
              <a:rPr lang="en-US" altLang="zh-TW" dirty="0"/>
              <a:t>&lt;head&gt;</a:t>
            </a:r>
            <a:r>
              <a:rPr lang="zh-TW" altLang="en-US" dirty="0"/>
              <a:t>標籤，標題元素，包含</a:t>
            </a:r>
            <a:r>
              <a:rPr lang="en-US" altLang="zh-TW" dirty="0"/>
              <a:t>&lt;title&gt;</a:t>
            </a:r>
            <a:r>
              <a:rPr lang="zh-TW" altLang="en-US" dirty="0"/>
              <a:t>、</a:t>
            </a:r>
            <a:r>
              <a:rPr lang="en-US" altLang="zh-TW" dirty="0"/>
              <a:t>&lt;meta&gt;</a:t>
            </a:r>
            <a:r>
              <a:rPr lang="zh-TW" altLang="en-US" dirty="0"/>
              <a:t>、</a:t>
            </a:r>
            <a:r>
              <a:rPr lang="en-US" altLang="zh-TW" dirty="0"/>
              <a:t>&lt;script&gt; and 				     &lt;style&gt;</a:t>
            </a:r>
          </a:p>
          <a:p>
            <a:pPr lvl="1"/>
            <a:r>
              <a:rPr lang="en-US" altLang="zh-TW" dirty="0"/>
              <a:t>&lt;meta&gt;</a:t>
            </a:r>
            <a:r>
              <a:rPr lang="zh-TW" altLang="en-US" dirty="0"/>
              <a:t>標籤指定</a:t>
            </a:r>
            <a:r>
              <a:rPr lang="en-US" altLang="zh-TW" dirty="0"/>
              <a:t>utf-8: &lt;meta charset="utf-8"/&gt;</a:t>
            </a:r>
          </a:p>
          <a:p>
            <a:r>
              <a:rPr lang="en-US" altLang="zh-TW" dirty="0"/>
              <a:t>&lt;body&gt;</a:t>
            </a:r>
            <a:r>
              <a:rPr lang="zh-TW" altLang="en-US" dirty="0"/>
              <a:t>標籤</a:t>
            </a:r>
            <a:endParaRPr lang="en-US" altLang="zh-TW" dirty="0"/>
          </a:p>
          <a:p>
            <a:pPr lvl="1"/>
            <a:r>
              <a:rPr lang="zh-TW" altLang="en-US" dirty="0"/>
              <a:t>網頁內容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hlinkClick r:id="rId2" action="ppaction://hlinkfile"/>
              </a:rPr>
              <a:t>HTML</a:t>
            </a:r>
            <a:r>
              <a:rPr lang="zh-TW" altLang="en-US" dirty="0">
                <a:hlinkClick r:id="rId2" action="ppaction://hlinkfile"/>
              </a:rPr>
              <a:t> 簡單範例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82306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9F5D988-04BE-AA04-5DAB-04BE69E88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PHP</a:t>
            </a:r>
            <a:r>
              <a:rPr lang="zh-TW" altLang="en-US" dirty="0"/>
              <a:t>的第一步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519E43E-D671-B338-8341-2C92A4F61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3200" dirty="0"/>
              <a:t>PHP</a:t>
            </a:r>
            <a:r>
              <a:rPr lang="zh-TW" altLang="en-US" sz="3200" dirty="0"/>
              <a:t>與</a:t>
            </a:r>
            <a:r>
              <a:rPr lang="en-US" altLang="zh-TW" sz="3200" dirty="0"/>
              <a:t>HTML</a:t>
            </a:r>
            <a:r>
              <a:rPr lang="zh-TW" altLang="en-US" sz="3200" dirty="0"/>
              <a:t>結合</a:t>
            </a:r>
          </a:p>
          <a:p>
            <a:pPr lvl="1"/>
            <a:r>
              <a:rPr lang="zh-TW" altLang="en-US" sz="3200" dirty="0"/>
              <a:t>文字檔</a:t>
            </a:r>
            <a:r>
              <a:rPr lang="en-US" altLang="zh-TW" sz="3200" dirty="0"/>
              <a:t>.</a:t>
            </a:r>
            <a:r>
              <a:rPr lang="en-US" altLang="zh-TW" sz="3200" dirty="0" err="1"/>
              <a:t>php</a:t>
            </a:r>
            <a:endParaRPr lang="en-US" altLang="zh-TW" sz="3200" dirty="0"/>
          </a:p>
          <a:p>
            <a:pPr lvl="1"/>
            <a:r>
              <a:rPr lang="zh-TW" altLang="en-US" sz="3200" dirty="0"/>
              <a:t>程式碼標記</a:t>
            </a:r>
            <a:r>
              <a:rPr lang="en-US" altLang="zh-TW" sz="3200" dirty="0"/>
              <a:t>:  </a:t>
            </a:r>
          </a:p>
          <a:p>
            <a:pPr marL="457200" lvl="1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  &lt;?</a:t>
            </a:r>
            <a:r>
              <a:rPr lang="en-US" altLang="zh-TW" sz="3200" dirty="0" err="1">
                <a:solidFill>
                  <a:srgbClr val="FF0000"/>
                </a:solidFill>
              </a:rPr>
              <a:t>php</a:t>
            </a:r>
            <a:r>
              <a:rPr lang="en-US" altLang="zh-TW" sz="3200" dirty="0">
                <a:solidFill>
                  <a:srgbClr val="FF0000"/>
                </a:solidFill>
              </a:rPr>
              <a:t>   </a:t>
            </a:r>
          </a:p>
          <a:p>
            <a:pPr marL="457200" lvl="1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     …</a:t>
            </a:r>
          </a:p>
          <a:p>
            <a:pPr marL="457200" lvl="1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     </a:t>
            </a:r>
            <a:r>
              <a:rPr lang="en-US" altLang="zh-TW" sz="3200" dirty="0" err="1">
                <a:solidFill>
                  <a:srgbClr val="FF0000"/>
                </a:solidFill>
              </a:rPr>
              <a:t>php</a:t>
            </a:r>
            <a:r>
              <a:rPr lang="zh-TW" altLang="en-US" sz="3200" dirty="0">
                <a:solidFill>
                  <a:srgbClr val="FF0000"/>
                </a:solidFill>
              </a:rPr>
              <a:t>程式碼</a:t>
            </a:r>
            <a:endParaRPr lang="en-US" altLang="zh-TW" sz="32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  ?&gt;</a:t>
            </a:r>
          </a:p>
          <a:p>
            <a:pPr lvl="1"/>
            <a:r>
              <a:rPr lang="zh-TW" altLang="en-US" sz="3200" dirty="0"/>
              <a:t>以記事本或</a:t>
            </a:r>
            <a:r>
              <a:rPr lang="en-US" altLang="zh-TW" sz="3200" dirty="0"/>
              <a:t>Visual </a:t>
            </a:r>
            <a:r>
              <a:rPr lang="en-US" altLang="zh-TW" sz="3200" dirty="0" err="1"/>
              <a:t>Studo</a:t>
            </a:r>
            <a:r>
              <a:rPr lang="en-US" altLang="zh-TW" sz="3200" dirty="0"/>
              <a:t> Code</a:t>
            </a:r>
            <a:r>
              <a:rPr lang="zh-TW" altLang="en-US" sz="3200" dirty="0"/>
              <a:t>等編寫</a:t>
            </a:r>
            <a:endParaRPr lang="en-US" altLang="zh-TW" sz="3200" dirty="0"/>
          </a:p>
          <a:p>
            <a:pPr lvl="1"/>
            <a:r>
              <a:rPr lang="zh-TW" altLang="en-US" sz="3200" dirty="0"/>
              <a:t>每個程式指令敘述以 </a:t>
            </a:r>
            <a:r>
              <a:rPr lang="en-US" altLang="zh-TW" sz="3200" dirty="0">
                <a:solidFill>
                  <a:srgbClr val="C00000"/>
                </a:solidFill>
              </a:rPr>
              <a:t>;</a:t>
            </a:r>
            <a:r>
              <a:rPr lang="en-US" altLang="zh-TW" sz="3200" dirty="0"/>
              <a:t> </a:t>
            </a:r>
            <a:r>
              <a:rPr lang="zh-TW" altLang="en-US" sz="3200" dirty="0"/>
              <a:t>做為結束</a:t>
            </a:r>
          </a:p>
          <a:p>
            <a:r>
              <a:rPr lang="zh-TW" altLang="en-US" sz="3600" dirty="0"/>
              <a:t>註解</a:t>
            </a:r>
            <a:endParaRPr lang="en-US" altLang="zh-TW" sz="3600" dirty="0"/>
          </a:p>
          <a:p>
            <a:pPr lvl="1"/>
            <a:r>
              <a:rPr lang="en-US" altLang="zh-TW" sz="3200" dirty="0">
                <a:hlinkClick r:id="rId2" action="ppaction://hlinkfile"/>
              </a:rPr>
              <a:t>CH02_3</a:t>
            </a:r>
            <a:r>
              <a:rPr lang="en-US" altLang="zh-TW" sz="3200" dirty="0"/>
              <a:t>	</a:t>
            </a:r>
          </a:p>
          <a:p>
            <a:pPr marL="0" indent="0">
              <a:buNone/>
            </a:pPr>
            <a:endParaRPr lang="en-US" altLang="zh-TW" sz="3600" dirty="0"/>
          </a:p>
          <a:p>
            <a:endParaRPr lang="zh-TW" altLang="en-US" sz="36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1689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1CEBB11-CFB4-E7AE-4F08-5CA1C351A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PHP </a:t>
            </a:r>
            <a:r>
              <a:rPr lang="zh-TW" altLang="en-US" dirty="0"/>
              <a:t>的第一個指令 </a:t>
            </a:r>
            <a:r>
              <a:rPr lang="en-US" altLang="zh-TW" dirty="0"/>
              <a:t>print </a:t>
            </a:r>
            <a:r>
              <a:rPr lang="zh-TW" altLang="en-US" dirty="0"/>
              <a:t>與 </a:t>
            </a:r>
            <a:r>
              <a:rPr lang="en-US" altLang="zh-TW" dirty="0"/>
              <a:t>echo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E4825DF-BC0E-4044-56D4-56C08BF4A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PHP</a:t>
            </a:r>
            <a:r>
              <a:rPr lang="zh-TW" altLang="en-US" dirty="0"/>
              <a:t>使用</a:t>
            </a:r>
            <a:r>
              <a:rPr lang="en-US" altLang="zh-TW" dirty="0"/>
              <a:t>echo</a:t>
            </a:r>
            <a:r>
              <a:rPr lang="zh-TW" altLang="en-US" dirty="0"/>
              <a:t>指令將內容輸出到前端，供軟體來解讀，如瀏覽器軟體解讀</a:t>
            </a:r>
            <a:r>
              <a:rPr lang="en-US" altLang="zh-TW" dirty="0"/>
              <a:t>html</a:t>
            </a:r>
            <a:r>
              <a:rPr lang="zh-TW" altLang="en-US" dirty="0"/>
              <a:t>標籤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lvl="1"/>
            <a:r>
              <a:rPr lang="en-US" altLang="zh-TW" dirty="0"/>
              <a:t>echo “Hello,</a:t>
            </a:r>
            <a:r>
              <a:rPr lang="zh-TW" altLang="en-US" dirty="0"/>
              <a:t>這是我的第</a:t>
            </a:r>
            <a:r>
              <a:rPr lang="en-US" altLang="zh-TW" dirty="0"/>
              <a:t>1</a:t>
            </a:r>
            <a:r>
              <a:rPr lang="zh-TW" altLang="en-US" dirty="0"/>
              <a:t>支程式</a:t>
            </a:r>
            <a:r>
              <a:rPr lang="en-US" altLang="zh-TW" dirty="0"/>
              <a:t>\n”;</a:t>
            </a:r>
          </a:p>
          <a:p>
            <a:pPr lvl="1"/>
            <a:r>
              <a:rPr lang="en-US" altLang="zh-TW" dirty="0"/>
              <a:t>echo ‘Hello,</a:t>
            </a:r>
            <a:r>
              <a:rPr lang="zh-TW" altLang="en-US" dirty="0"/>
              <a:t>這是我的第</a:t>
            </a:r>
            <a:r>
              <a:rPr lang="en-US" altLang="zh-TW" dirty="0"/>
              <a:t>1</a:t>
            </a:r>
            <a:r>
              <a:rPr lang="zh-TW" altLang="en-US" dirty="0"/>
              <a:t>支程式</a:t>
            </a:r>
            <a:r>
              <a:rPr lang="en-US" altLang="zh-TW" dirty="0"/>
              <a:t>\n’</a:t>
            </a:r>
          </a:p>
          <a:p>
            <a:pPr lvl="1"/>
            <a:r>
              <a:rPr lang="en-US" altLang="zh-TW" dirty="0"/>
              <a:t>echo “</a:t>
            </a:r>
            <a:r>
              <a:rPr lang="zh-TW" altLang="en-US" dirty="0"/>
              <a:t>輸出雙引號</a:t>
            </a:r>
            <a:r>
              <a:rPr lang="en-US" altLang="zh-TW" dirty="0"/>
              <a:t>\””;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5921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BD7B48F-13E9-7DC7-BF18-B5F6F97C5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Escape </a:t>
            </a:r>
            <a:r>
              <a:rPr lang="zh-TW" altLang="en-US" dirty="0"/>
              <a:t>跳脫字元</a:t>
            </a:r>
            <a:r>
              <a:rPr lang="en-US" altLang="zh-TW" dirty="0"/>
              <a:t>/</a:t>
            </a:r>
            <a:r>
              <a:rPr lang="zh-TW" altLang="en-US" dirty="0"/>
              <a:t>逸出字元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xmlns="" id="{CA10029B-D037-2797-C8BF-45488B537D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1492274"/>
              </p:ext>
            </p:extLst>
          </p:nvPr>
        </p:nvGraphicFramePr>
        <p:xfrm>
          <a:off x="526433" y="1474853"/>
          <a:ext cx="10701338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0669">
                  <a:extLst>
                    <a:ext uri="{9D8B030D-6E8A-4147-A177-3AD203B41FA5}">
                      <a16:colId xmlns:a16="http://schemas.microsoft.com/office/drawing/2014/main" xmlns="" val="3388634959"/>
                    </a:ext>
                  </a:extLst>
                </a:gridCol>
                <a:gridCol w="5350669">
                  <a:extLst>
                    <a:ext uri="{9D8B030D-6E8A-4147-A177-3AD203B41FA5}">
                      <a16:colId xmlns:a16="http://schemas.microsoft.com/office/drawing/2014/main" xmlns="" val="827682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/>
                        <a:t>Escape</a:t>
                      </a:r>
                      <a:r>
                        <a:rPr lang="zh-TW" altLang="en-US" sz="2800" dirty="0"/>
                        <a:t>跳脫字元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800" dirty="0"/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21448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/>
                        <a:t>\n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換列</a:t>
                      </a:r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82804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/>
                        <a:t>\r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歸位 跳回行首 </a:t>
                      </a:r>
                      <a:r>
                        <a:rPr lang="en-US" altLang="zh-TW" sz="28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808080"/>
                          </a:highlight>
                          <a:latin typeface="+mn-lt"/>
                          <a:ea typeface="+mn-ea"/>
                          <a:cs typeface="+mn-cs"/>
                        </a:rPr>
                        <a:t>Enter</a:t>
                      </a:r>
                      <a:r>
                        <a:rPr lang="zh-TW" alt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鍵</a:t>
                      </a:r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41801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\"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雙引號</a:t>
                      </a:r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7705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/>
                        <a:t>\\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800" dirty="0"/>
                        <a:t>反斜線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40864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/>
                        <a:t>\$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/>
                        <a:t>$</a:t>
                      </a:r>
                      <a:r>
                        <a:rPr lang="zh-TW" altLang="en-US" sz="2800" dirty="0"/>
                        <a:t>符號</a:t>
                      </a:r>
                    </a:p>
                  </a:txBody>
                  <a:tcPr marL="6350" marR="6350" marT="6350" marB="6350" anchor="ctr"/>
                </a:tc>
                <a:extLst>
                  <a:ext uri="{0D108BD9-81ED-4DB2-BD59-A6C34878D82A}">
                    <a16:rowId xmlns:a16="http://schemas.microsoft.com/office/drawing/2014/main" xmlns="" val="407059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\{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左括弧</a:t>
                      </a:r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12852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dirty="0"/>
                        <a:t>\[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左方括弧</a:t>
                      </a:r>
                      <a:endParaRPr lang="zh-TW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6063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64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BB56945B-A95A-F22D-5534-BB936D68B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794" y="1468942"/>
            <a:ext cx="4756139" cy="355306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B6C93D4D-175B-942D-44C5-7064E0732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29" y="1803457"/>
            <a:ext cx="4890428" cy="306592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1BD49166-AA81-7E71-CCAA-3D680989DA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898" b="18031"/>
          <a:stretch>
            <a:fillRect/>
          </a:stretch>
        </p:blipFill>
        <p:spPr>
          <a:xfrm>
            <a:off x="7306728" y="5338293"/>
            <a:ext cx="4258269" cy="80493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ABA1E777-17AC-326F-0561-0464DE6D56E9}"/>
              </a:ext>
            </a:extLst>
          </p:cNvPr>
          <p:cNvSpPr txBox="1"/>
          <p:nvPr/>
        </p:nvSpPr>
        <p:spPr>
          <a:xfrm>
            <a:off x="734096" y="1032183"/>
            <a:ext cx="330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Server/</a:t>
            </a:r>
            <a:r>
              <a:rPr lang="en-US" altLang="zh-TW" sz="2800" b="1" dirty="0" err="1"/>
              <a:t>apache</a:t>
            </a:r>
            <a:r>
              <a:rPr lang="en-US" altLang="zh-TW" sz="2800" b="1" dirty="0"/>
              <a:t>/</a:t>
            </a:r>
            <a:r>
              <a:rPr lang="en-US" altLang="zh-TW" sz="2800" b="1" dirty="0" err="1"/>
              <a:t>php</a:t>
            </a:r>
            <a:endParaRPr lang="zh-TW" altLang="en-US" sz="2800" b="1" dirty="0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xmlns="" id="{C1C0B100-7AA7-D55E-08C8-2DA42FA0FEC4}"/>
              </a:ext>
            </a:extLst>
          </p:cNvPr>
          <p:cNvSpPr/>
          <p:nvPr/>
        </p:nvSpPr>
        <p:spPr>
          <a:xfrm>
            <a:off x="5582992" y="3103808"/>
            <a:ext cx="1101143" cy="10045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F7AF5CF5-C528-6798-57B2-1E9463BB4575}"/>
              </a:ext>
            </a:extLst>
          </p:cNvPr>
          <p:cNvSpPr txBox="1"/>
          <p:nvPr/>
        </p:nvSpPr>
        <p:spPr>
          <a:xfrm>
            <a:off x="7956998" y="584363"/>
            <a:ext cx="2590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/>
              <a:t>Client/browser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95917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6F822E7-FDB6-E77A-1700-C90EC545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Echo </a:t>
            </a:r>
            <a:r>
              <a:rPr lang="zh-TW" altLang="en-US" dirty="0"/>
              <a:t>縮寫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xmlns="" id="{50D224B8-D000-7F56-0BC5-97A539E55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9" y="944970"/>
            <a:ext cx="5860181" cy="482476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xmlns="" id="{87D0D11D-55DF-E89E-0784-6A10C3AD5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44966"/>
            <a:ext cx="6192114" cy="482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352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D0C815DB-9A04-59AB-830F-E35095798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0" y="862885"/>
            <a:ext cx="5595365" cy="556367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B3EEDB35-1020-8160-82AD-B6476117E052}"/>
              </a:ext>
            </a:extLst>
          </p:cNvPr>
          <p:cNvSpPr txBox="1"/>
          <p:nvPr/>
        </p:nvSpPr>
        <p:spPr>
          <a:xfrm>
            <a:off x="1041579" y="246777"/>
            <a:ext cx="64877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PHP</a:t>
            </a:r>
            <a:r>
              <a:rPr lang="zh-TW" altLang="zh-TW" sz="28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連續多行資料列印</a:t>
            </a:r>
            <a:endParaRPr lang="zh-TW" altLang="en-US" sz="2800" b="1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F75863AD-F175-A0E6-2B70-768924E2E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390" y="193362"/>
            <a:ext cx="4768579" cy="347067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xmlns="" id="{C39990A9-9898-4129-0D8F-EFC2342CB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438" y="3902299"/>
            <a:ext cx="3768531" cy="260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46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685B644-5B5E-2599-18CA-EDE0AF37E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995EB8D6-FB96-D21D-CDDF-EF25E168E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「變數」是輸入階段所必需應用的一個重要元素。我們所輸入的資料必須存放在電腦的記憶體中，但是這個資料是存放在那一個位置</a:t>
            </a:r>
            <a:r>
              <a:rPr lang="en-US" altLang="zh-TW" dirty="0"/>
              <a:t>(</a:t>
            </a:r>
            <a:r>
              <a:rPr lang="zh-TW" altLang="en-US" dirty="0"/>
              <a:t>址</a:t>
            </a:r>
            <a:r>
              <a:rPr lang="en-US" altLang="zh-TW" dirty="0"/>
              <a:t>)</a:t>
            </a:r>
            <a:r>
              <a:rPr lang="zh-TW" altLang="en-US" dirty="0"/>
              <a:t>呢</a:t>
            </a:r>
            <a:r>
              <a:rPr lang="en-US" altLang="zh-TW" dirty="0"/>
              <a:t>?</a:t>
            </a:r>
            <a:r>
              <a:rPr lang="zh-TW" altLang="en-US" dirty="0"/>
              <a:t>要如何才能使用到這個位置</a:t>
            </a:r>
            <a:r>
              <a:rPr lang="en-US" altLang="zh-TW" dirty="0"/>
              <a:t>(</a:t>
            </a:r>
            <a:r>
              <a:rPr lang="zh-TW" altLang="en-US" dirty="0"/>
              <a:t>址</a:t>
            </a:r>
            <a:r>
              <a:rPr lang="en-US" altLang="zh-TW" dirty="0"/>
              <a:t>)</a:t>
            </a:r>
            <a:r>
              <a:rPr lang="zh-TW" altLang="en-US" dirty="0"/>
              <a:t>的資料呢</a:t>
            </a:r>
            <a:r>
              <a:rPr lang="en-US" altLang="zh-TW" dirty="0"/>
              <a:t>?</a:t>
            </a:r>
          </a:p>
          <a:p>
            <a:endParaRPr lang="en-US" altLang="zh-TW" dirty="0"/>
          </a:p>
          <a:p>
            <a:r>
              <a:rPr lang="zh-TW" altLang="en-US" dirty="0"/>
              <a:t>因此，記憶體中每一個存放資料的位置都要有一個對應的「門牌號碼</a:t>
            </a:r>
            <a:r>
              <a:rPr lang="en-US" altLang="zh-TW" dirty="0"/>
              <a:t>(</a:t>
            </a:r>
            <a:r>
              <a:rPr lang="zh-TW" altLang="en-US" dirty="0"/>
              <a:t>稱為</a:t>
            </a:r>
            <a:r>
              <a:rPr lang="en-US" altLang="zh-TW" dirty="0"/>
              <a:t>:</a:t>
            </a:r>
            <a:r>
              <a:rPr lang="zh-TW" altLang="en-US" dirty="0"/>
              <a:t>變數</a:t>
            </a:r>
            <a:r>
              <a:rPr lang="en-US" altLang="zh-TW" dirty="0"/>
              <a:t>)</a:t>
            </a:r>
            <a:r>
              <a:rPr lang="zh-TW" altLang="en-US" dirty="0"/>
              <a:t>」。所以我們對「變數」的定義如下：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「變數」是指　記憶體中</a:t>
            </a:r>
            <a:r>
              <a:rPr lang="en-US" altLang="zh-TW" dirty="0"/>
              <a:t>【</a:t>
            </a:r>
            <a:r>
              <a:rPr lang="zh-TW" altLang="en-US" dirty="0"/>
              <a:t>存放資料</a:t>
            </a:r>
            <a:r>
              <a:rPr lang="en-US" altLang="zh-TW" dirty="0"/>
              <a:t>】</a:t>
            </a:r>
            <a:r>
              <a:rPr lang="zh-TW" altLang="en-US" dirty="0"/>
              <a:t>的位置名稱（這個位置，由電腦自動設定），因為這個位置中所存放的資料，可視需要而隨時變更，因此，我們就將這一個記憶體中存放「資料的位置的名稱」，叫做變數名稱　，簡稱「變數」。</a:t>
            </a:r>
          </a:p>
        </p:txBody>
      </p:sp>
    </p:spTree>
    <p:extLst>
      <p:ext uri="{BB962C8B-B14F-4D97-AF65-F5344CB8AC3E}">
        <p14:creationId xmlns:p14="http://schemas.microsoft.com/office/powerpoint/2010/main" val="3824965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D97133B-7CEB-F32D-E503-3C43E599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200" dirty="0"/>
              <a:t>變數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9382B30C-6B24-DC03-D51D-95C98529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9663" y="923669"/>
            <a:ext cx="8492979" cy="5528645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PHP</a:t>
            </a:r>
            <a:r>
              <a:rPr lang="zh-TW" altLang="en-US" dirty="0"/>
              <a:t>使用指令與資料所組成</a:t>
            </a:r>
            <a:endParaRPr lang="en-US" altLang="zh-TW" dirty="0"/>
          </a:p>
          <a:p>
            <a:r>
              <a:rPr lang="zh-TW" altLang="en-US" dirty="0"/>
              <a:t>變數可以儲存程式執行過程中的一些暫存資料</a:t>
            </a:r>
            <a:endParaRPr lang="en-US" altLang="zh-TW" dirty="0"/>
          </a:p>
          <a:p>
            <a:r>
              <a:rPr lang="zh-TW" altLang="en-US" dirty="0"/>
              <a:t>變數使用</a:t>
            </a:r>
            <a:r>
              <a:rPr lang="en-US" altLang="zh-TW" dirty="0"/>
              <a:t>$</a:t>
            </a:r>
            <a:r>
              <a:rPr lang="zh-TW" altLang="en-US" dirty="0"/>
              <a:t>符號開頭，盡量不使用關鍵字如</a:t>
            </a:r>
            <a:r>
              <a:rPr lang="en-US" altLang="zh-TW" dirty="0"/>
              <a:t>print</a:t>
            </a:r>
          </a:p>
          <a:p>
            <a:pPr lvl="1"/>
            <a:r>
              <a:rPr lang="zh-TW" altLang="en-US" dirty="0"/>
              <a:t>建議</a:t>
            </a:r>
            <a:r>
              <a:rPr lang="en-US" altLang="zh-TW" dirty="0"/>
              <a:t>$</a:t>
            </a:r>
            <a:r>
              <a:rPr lang="en-US" altLang="zh-TW" dirty="0" err="1"/>
              <a:t>varName</a:t>
            </a:r>
            <a:r>
              <a:rPr lang="zh-TW" altLang="en-US" dirty="0"/>
              <a:t>、</a:t>
            </a:r>
            <a:r>
              <a:rPr lang="en-US" altLang="zh-TW" dirty="0"/>
              <a:t>$</a:t>
            </a:r>
            <a:r>
              <a:rPr lang="en-US" altLang="zh-TW" dirty="0" err="1"/>
              <a:t>numSum</a:t>
            </a:r>
            <a:r>
              <a:rPr lang="zh-TW" altLang="en-US" dirty="0"/>
              <a:t>、</a:t>
            </a:r>
            <a:r>
              <a:rPr lang="en-US" altLang="zh-TW" dirty="0"/>
              <a:t>$</a:t>
            </a:r>
            <a:r>
              <a:rPr lang="en-US" altLang="zh-TW" dirty="0" err="1"/>
              <a:t>tmpPrint</a:t>
            </a:r>
            <a:r>
              <a:rPr lang="en-US" altLang="zh-TW" dirty="0"/>
              <a:t>…</a:t>
            </a:r>
          </a:p>
          <a:p>
            <a:pPr lvl="1"/>
            <a:r>
              <a:rPr lang="zh-TW" altLang="en-US" dirty="0"/>
              <a:t>請查閱</a:t>
            </a:r>
            <a:r>
              <a:rPr lang="en-US" altLang="zh-TW" dirty="0">
                <a:hlinkClick r:id="rId2"/>
              </a:rPr>
              <a:t>https://www.php.net/manual/en/reserved.keywords.php</a:t>
            </a:r>
            <a:endParaRPr lang="en-US" altLang="zh-TW" dirty="0"/>
          </a:p>
          <a:p>
            <a:r>
              <a:rPr lang="en-US" altLang="zh-TW" dirty="0"/>
              <a:t>PHP</a:t>
            </a:r>
            <a:r>
              <a:rPr lang="zh-TW" altLang="en-US" dirty="0"/>
              <a:t>的資料型態主要分成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數字 </a:t>
            </a:r>
            <a:r>
              <a:rPr lang="en-US" altLang="zh-TW" dirty="0"/>
              <a:t>(</a:t>
            </a:r>
            <a:r>
              <a:rPr lang="zh-TW" altLang="en-US" dirty="0"/>
              <a:t>整數</a:t>
            </a:r>
            <a:r>
              <a:rPr lang="en-US" altLang="zh-TW" dirty="0"/>
              <a:t>, </a:t>
            </a:r>
            <a:r>
              <a:rPr lang="zh-TW" altLang="en-US" dirty="0"/>
              <a:t>浮點數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ex:   123    12.34    -123     -12.3</a:t>
            </a:r>
          </a:p>
          <a:p>
            <a:r>
              <a:rPr lang="zh-TW" altLang="en-US" dirty="0"/>
              <a:t>文字 </a:t>
            </a:r>
            <a:r>
              <a:rPr lang="en-US" altLang="zh-TW" dirty="0"/>
              <a:t>(</a:t>
            </a:r>
            <a:r>
              <a:rPr lang="zh-TW" altLang="en-US" dirty="0"/>
              <a:t>字串</a:t>
            </a:r>
            <a:r>
              <a:rPr lang="en-US" altLang="zh-TW" dirty="0"/>
              <a:t>, </a:t>
            </a:r>
            <a:r>
              <a:rPr lang="zh-TW" altLang="en-US" dirty="0"/>
              <a:t>字元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ex:   “</a:t>
            </a:r>
            <a:r>
              <a:rPr lang="zh-TW" altLang="en-US" dirty="0"/>
              <a:t>書籍資料</a:t>
            </a:r>
            <a:r>
              <a:rPr lang="en-US" altLang="zh-TW" dirty="0"/>
              <a:t>”    “</a:t>
            </a:r>
            <a:r>
              <a:rPr lang="zh-TW" altLang="en-US" dirty="0"/>
              <a:t>價格</a:t>
            </a:r>
            <a:r>
              <a:rPr lang="en-US" altLang="zh-TW" dirty="0"/>
              <a:t>”     “</a:t>
            </a:r>
            <a:r>
              <a:rPr lang="zh-TW" altLang="en-US" dirty="0"/>
              <a:t>姓名</a:t>
            </a:r>
            <a:r>
              <a:rPr lang="en-US" altLang="zh-TW" dirty="0"/>
              <a:t>"    </a:t>
            </a:r>
          </a:p>
          <a:p>
            <a:r>
              <a:rPr lang="zh-TW" altLang="en-US" dirty="0"/>
              <a:t>資料可以透過變數來儲存，之後可以再拿來使用</a:t>
            </a:r>
          </a:p>
          <a:p>
            <a:pPr marL="0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5055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7BE621E-CDF0-D549-B1F5-2F5716E20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xmlns="" id="{6832FC66-ACC3-1E14-D8EF-9B651AFA39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8248878"/>
              </p:ext>
            </p:extLst>
          </p:nvPr>
        </p:nvGraphicFramePr>
        <p:xfrm>
          <a:off x="5047823" y="1981546"/>
          <a:ext cx="5602298" cy="16137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02298">
                  <a:extLst>
                    <a:ext uri="{9D8B030D-6E8A-4147-A177-3AD203B41FA5}">
                      <a16:colId xmlns:a16="http://schemas.microsoft.com/office/drawing/2014/main" xmlns="" val="1939897204"/>
                    </a:ext>
                  </a:extLst>
                </a:gridCol>
              </a:tblGrid>
              <a:tr h="806869">
                <a:tc>
                  <a:txBody>
                    <a:bodyPr/>
                    <a:lstStyle/>
                    <a:p>
                      <a:r>
                        <a:rPr lang="en-US" altLang="zh-TW" sz="4400" dirty="0"/>
                        <a:t>PHP</a:t>
                      </a:r>
                      <a:r>
                        <a:rPr lang="zh-TW" altLang="en-US" sz="4400" dirty="0"/>
                        <a:t>變數與應用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55179920"/>
                  </a:ext>
                </a:extLst>
              </a:tr>
              <a:tr h="806869">
                <a:tc>
                  <a:txBody>
                    <a:bodyPr/>
                    <a:lstStyle/>
                    <a:p>
                      <a:r>
                        <a:rPr lang="en-US" altLang="zh-TW" sz="4400" dirty="0"/>
                        <a:t>100</a:t>
                      </a:r>
                      <a:endParaRPr lang="zh-TW" altLang="en-US" sz="4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0717948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0009331D-C7EA-6037-92DC-0ECFAF15E466}"/>
              </a:ext>
            </a:extLst>
          </p:cNvPr>
          <p:cNvSpPr txBox="1"/>
          <p:nvPr/>
        </p:nvSpPr>
        <p:spPr>
          <a:xfrm>
            <a:off x="6598458" y="3797463"/>
            <a:ext cx="3119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記憶體空間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xmlns="" id="{68D7C5C8-7A55-9932-BD82-BBD554673CA5}"/>
              </a:ext>
            </a:extLst>
          </p:cNvPr>
          <p:cNvSpPr/>
          <p:nvPr/>
        </p:nvSpPr>
        <p:spPr>
          <a:xfrm>
            <a:off x="1187710" y="2080555"/>
            <a:ext cx="3382248" cy="5414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$</a:t>
            </a:r>
            <a:r>
              <a:rPr lang="en-US" altLang="zh-TW" sz="3600" dirty="0" err="1"/>
              <a:t>bk_Name</a:t>
            </a:r>
            <a:endParaRPr lang="zh-TW" altLang="en-US" sz="3600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xmlns="" id="{5A770E4D-4A95-230F-6EBF-C06CEABF4400}"/>
              </a:ext>
            </a:extLst>
          </p:cNvPr>
          <p:cNvSpPr/>
          <p:nvPr/>
        </p:nvSpPr>
        <p:spPr>
          <a:xfrm>
            <a:off x="1142630" y="3020125"/>
            <a:ext cx="3382248" cy="54146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$</a:t>
            </a:r>
            <a:r>
              <a:rPr lang="en-US" altLang="zh-TW" sz="3600" dirty="0" err="1"/>
              <a:t>bk_Price</a:t>
            </a:r>
            <a:endParaRPr lang="zh-TW" altLang="en-US" sz="36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B416FCBD-7B4B-9DAB-5AEC-3B2C80E4E616}"/>
              </a:ext>
            </a:extLst>
          </p:cNvPr>
          <p:cNvSpPr txBox="1"/>
          <p:nvPr/>
        </p:nvSpPr>
        <p:spPr>
          <a:xfrm>
            <a:off x="1065362" y="3882038"/>
            <a:ext cx="64877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$</a:t>
            </a:r>
            <a:r>
              <a:rPr lang="en-US" altLang="zh-TW" sz="2000" b="1" dirty="0" err="1"/>
              <a:t>bk_Name</a:t>
            </a:r>
            <a:r>
              <a:rPr lang="en-US" altLang="zh-TW" sz="2000" b="1" dirty="0"/>
              <a:t> =“PHP</a:t>
            </a:r>
            <a:r>
              <a:rPr lang="zh-TW" altLang="en-US" sz="2000" b="1" dirty="0"/>
              <a:t>變數與應用</a:t>
            </a:r>
            <a:r>
              <a:rPr lang="en-US" altLang="zh-TW" sz="2000" b="1" dirty="0"/>
              <a:t>”</a:t>
            </a:r>
          </a:p>
          <a:p>
            <a:r>
              <a:rPr lang="en-US" altLang="zh-TW" sz="2000" b="1" dirty="0"/>
              <a:t>$</a:t>
            </a:r>
            <a:r>
              <a:rPr lang="en-US" altLang="zh-TW" sz="2000" b="1" dirty="0" err="1"/>
              <a:t>bk_Price</a:t>
            </a:r>
            <a:r>
              <a:rPr lang="en-US" altLang="zh-TW" sz="2000" b="1" dirty="0"/>
              <a:t>=100</a:t>
            </a:r>
          </a:p>
        </p:txBody>
      </p:sp>
    </p:spTree>
    <p:extLst>
      <p:ext uri="{BB962C8B-B14F-4D97-AF65-F5344CB8AC3E}">
        <p14:creationId xmlns:p14="http://schemas.microsoft.com/office/powerpoint/2010/main" val="1613497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F9A4326-284B-E7B0-DB8F-9E9581BA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CFEC0EF8-CDA7-6429-6FE4-6BFB0BCFE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2" y="1023869"/>
            <a:ext cx="5675297" cy="5250829"/>
          </a:xfrm>
          <a:prstGeom prst="rect">
            <a:avLst/>
          </a:prstGeom>
        </p:spPr>
      </p:pic>
      <p:sp>
        <p:nvSpPr>
          <p:cNvPr id="6" name="箭號: 向右 5">
            <a:extLst>
              <a:ext uri="{FF2B5EF4-FFF2-40B4-BE49-F238E27FC236}">
                <a16:creationId xmlns:a16="http://schemas.microsoft.com/office/drawing/2014/main" xmlns="" id="{7735F91F-74D6-D932-E6A0-C0B00DEAED37}"/>
              </a:ext>
            </a:extLst>
          </p:cNvPr>
          <p:cNvSpPr/>
          <p:nvPr/>
        </p:nvSpPr>
        <p:spPr>
          <a:xfrm>
            <a:off x="5875997" y="3327311"/>
            <a:ext cx="624625" cy="6439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FA549378-883C-7FF9-E278-DA429752B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504" y="455703"/>
            <a:ext cx="4058216" cy="362000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xmlns="" id="{C053E4D4-FA46-40C0-C731-328531D26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175" y="4498249"/>
            <a:ext cx="3010320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75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C02EBEC-778C-A777-7FCA-5E6BE425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資料型態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xmlns="" id="{7C3AFF39-5235-D664-41EF-6340A5060B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416590"/>
              </p:ext>
            </p:extLst>
          </p:nvPr>
        </p:nvGraphicFramePr>
        <p:xfrm>
          <a:off x="498518" y="1078181"/>
          <a:ext cx="11194963" cy="479857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992330">
                  <a:extLst>
                    <a:ext uri="{9D8B030D-6E8A-4147-A177-3AD203B41FA5}">
                      <a16:colId xmlns:a16="http://schemas.microsoft.com/office/drawing/2014/main" xmlns="" val="32711079"/>
                    </a:ext>
                  </a:extLst>
                </a:gridCol>
                <a:gridCol w="3221908">
                  <a:extLst>
                    <a:ext uri="{9D8B030D-6E8A-4147-A177-3AD203B41FA5}">
                      <a16:colId xmlns:a16="http://schemas.microsoft.com/office/drawing/2014/main" xmlns="" val="2763746761"/>
                    </a:ext>
                  </a:extLst>
                </a:gridCol>
                <a:gridCol w="4980725">
                  <a:extLst>
                    <a:ext uri="{9D8B030D-6E8A-4147-A177-3AD203B41FA5}">
                      <a16:colId xmlns:a16="http://schemas.microsoft.com/office/drawing/2014/main" xmlns="" val="4184944909"/>
                    </a:ext>
                  </a:extLst>
                </a:gridCol>
              </a:tblGrid>
              <a:tr h="533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>
                          <a:effectLst/>
                        </a:rPr>
                        <a:t>資料型態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>
                          <a:effectLst/>
                        </a:rPr>
                        <a:t>識別字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>
                          <a:effectLst/>
                        </a:rPr>
                        <a:t>說明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774823433"/>
                  </a:ext>
                </a:extLst>
              </a:tr>
              <a:tr h="533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 dirty="0">
                          <a:effectLst/>
                        </a:rPr>
                        <a:t>整數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solidFill>
                            <a:srgbClr val="FF0000"/>
                          </a:solidFill>
                          <a:effectLst/>
                        </a:rPr>
                        <a:t>int</a:t>
                      </a:r>
                      <a:endParaRPr lang="zh-TW" sz="2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>
                          <a:effectLst/>
                        </a:rPr>
                        <a:t> 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668007"/>
                  </a:ext>
                </a:extLst>
              </a:tr>
              <a:tr h="1066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>
                          <a:effectLst/>
                        </a:rPr>
                        <a:t>雙精確數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solidFill>
                            <a:srgbClr val="FF0000"/>
                          </a:solidFill>
                          <a:effectLst/>
                        </a:rPr>
                        <a:t>double</a:t>
                      </a:r>
                      <a:r>
                        <a:rPr lang="zh-TW" sz="2800" kern="100" dirty="0">
                          <a:effectLst/>
                        </a:rPr>
                        <a:t>、</a:t>
                      </a:r>
                      <a:r>
                        <a:rPr lang="en-US" sz="2800" kern="100" dirty="0">
                          <a:effectLst/>
                        </a:rPr>
                        <a:t>float</a:t>
                      </a:r>
                      <a:r>
                        <a:rPr lang="zh-TW" sz="2800" kern="100" dirty="0">
                          <a:effectLst/>
                        </a:rPr>
                        <a:t>、</a:t>
                      </a:r>
                      <a:r>
                        <a:rPr lang="en-US" sz="2800" kern="100" dirty="0">
                          <a:effectLst/>
                        </a:rPr>
                        <a:t>real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>
                          <a:effectLst/>
                        </a:rPr>
                        <a:t>雙精確數、浮點數、實數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327198230"/>
                  </a:ext>
                </a:extLst>
              </a:tr>
              <a:tr h="533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 dirty="0">
                          <a:effectLst/>
                        </a:rPr>
                        <a:t>字串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solidFill>
                            <a:srgbClr val="FF0000"/>
                          </a:solidFill>
                          <a:effectLst/>
                        </a:rPr>
                        <a:t>string</a:t>
                      </a:r>
                      <a:endParaRPr lang="zh-TW" sz="2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>
                          <a:effectLst/>
                        </a:rPr>
                        <a:t>必須用</a:t>
                      </a:r>
                      <a:r>
                        <a:rPr lang="en-US" sz="2800" kern="100">
                          <a:effectLst/>
                        </a:rPr>
                        <a:t> " " </a:t>
                      </a:r>
                      <a:r>
                        <a:rPr lang="zh-TW" sz="2800" kern="100">
                          <a:effectLst/>
                        </a:rPr>
                        <a:t>或 </a:t>
                      </a:r>
                      <a:r>
                        <a:rPr lang="en-US" sz="2800" kern="100">
                          <a:effectLst/>
                        </a:rPr>
                        <a:t>' ' </a:t>
                      </a:r>
                      <a:r>
                        <a:rPr lang="zh-TW" sz="2800" kern="100">
                          <a:effectLst/>
                        </a:rPr>
                        <a:t>包含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6664906"/>
                  </a:ext>
                </a:extLst>
              </a:tr>
              <a:tr h="533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>
                          <a:effectLst/>
                        </a:rPr>
                        <a:t>布林值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 err="1">
                          <a:solidFill>
                            <a:srgbClr val="FF0000"/>
                          </a:solidFill>
                          <a:effectLst/>
                        </a:rPr>
                        <a:t>boolean</a:t>
                      </a:r>
                      <a:endParaRPr lang="zh-TW" sz="2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 dirty="0">
                          <a:effectLst/>
                        </a:rPr>
                        <a:t>真（</a:t>
                      </a:r>
                      <a:r>
                        <a:rPr lang="en-US" altLang="zh-TW" sz="2800" kern="100" dirty="0">
                          <a:effectLst/>
                        </a:rPr>
                        <a:t>true</a:t>
                      </a:r>
                      <a:r>
                        <a:rPr lang="en-US" sz="2800" kern="100" dirty="0">
                          <a:effectLst/>
                        </a:rPr>
                        <a:t>/1</a:t>
                      </a:r>
                      <a:r>
                        <a:rPr lang="zh-TW" sz="2800" kern="100" dirty="0">
                          <a:effectLst/>
                        </a:rPr>
                        <a:t>）、假（</a:t>
                      </a:r>
                      <a:r>
                        <a:rPr lang="en-US" altLang="zh-TW" sz="2800" kern="100" dirty="0">
                          <a:effectLst/>
                        </a:rPr>
                        <a:t>false</a:t>
                      </a:r>
                      <a:r>
                        <a:rPr lang="en-US" sz="2800" kern="100" dirty="0">
                          <a:effectLst/>
                        </a:rPr>
                        <a:t>/0</a:t>
                      </a:r>
                      <a:r>
                        <a:rPr lang="zh-TW" sz="2800" kern="100" dirty="0">
                          <a:effectLst/>
                        </a:rPr>
                        <a:t>）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744081435"/>
                  </a:ext>
                </a:extLst>
              </a:tr>
              <a:tr h="533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>
                          <a:effectLst/>
                        </a:rPr>
                        <a:t>陣列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>
                          <a:effectLst/>
                        </a:rPr>
                        <a:t>array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 dirty="0">
                          <a:effectLst/>
                        </a:rPr>
                        <a:t>存放整組資料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760249248"/>
                  </a:ext>
                </a:extLst>
              </a:tr>
              <a:tr h="533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>
                          <a:effectLst/>
                        </a:rPr>
                        <a:t>物件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>
                          <a:effectLst/>
                        </a:rPr>
                        <a:t>object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</a:rPr>
                        <a:t> 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622197305"/>
                  </a:ext>
                </a:extLst>
              </a:tr>
              <a:tr h="533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>
                          <a:effectLst/>
                        </a:rPr>
                        <a:t>空值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>
                          <a:effectLst/>
                        </a:rPr>
                        <a:t>NULL</a:t>
                      </a:r>
                      <a:endParaRPr lang="zh-TW" sz="28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2800" kern="100" dirty="0">
                          <a:effectLst/>
                        </a:rPr>
                        <a:t>未設資料的變數值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329254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313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586AA2E-3883-1BC1-44CB-23BB0E1A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資料型態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DDDBC38E-F8EE-9D96-15AA-9D7A2CEE1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布林資料型態</a:t>
            </a:r>
            <a:endParaRPr lang="en-US" altLang="zh-TW" dirty="0"/>
          </a:p>
          <a:p>
            <a:pPr lvl="1"/>
            <a:r>
              <a:rPr lang="zh-TW" altLang="en-US" dirty="0"/>
              <a:t>只能有</a:t>
            </a:r>
            <a:r>
              <a:rPr lang="en-US" altLang="zh-TW" dirty="0"/>
              <a:t>true</a:t>
            </a:r>
            <a:r>
              <a:rPr lang="zh-TW" altLang="en-US" dirty="0"/>
              <a:t>和</a:t>
            </a:r>
            <a:r>
              <a:rPr lang="en-US" altLang="zh-TW" dirty="0"/>
              <a:t>false</a:t>
            </a:r>
            <a:r>
              <a:rPr lang="zh-TW" altLang="en-US" dirty="0"/>
              <a:t>，</a:t>
            </a:r>
            <a:r>
              <a:rPr lang="en-US" altLang="zh-TW" dirty="0"/>
              <a:t>True</a:t>
            </a:r>
            <a:r>
              <a:rPr lang="zh-TW" altLang="en-US" dirty="0"/>
              <a:t>和</a:t>
            </a:r>
            <a:r>
              <a:rPr lang="en-US" altLang="zh-TW" dirty="0"/>
              <a:t>False</a:t>
            </a:r>
            <a:r>
              <a:rPr lang="zh-TW" altLang="en-US" dirty="0"/>
              <a:t>不區分大小寫</a:t>
            </a:r>
            <a:endParaRPr lang="en-US" altLang="zh-TW" dirty="0"/>
          </a:p>
          <a:p>
            <a:pPr lvl="1"/>
            <a:r>
              <a:rPr lang="en-US" altLang="zh-TW" dirty="0"/>
              <a:t>$</a:t>
            </a:r>
            <a:r>
              <a:rPr lang="en-US" altLang="zh-TW" dirty="0" err="1"/>
              <a:t>varBooleans</a:t>
            </a:r>
            <a:r>
              <a:rPr lang="en-US" altLang="zh-TW" dirty="0"/>
              <a:t>=True;</a:t>
            </a:r>
          </a:p>
          <a:p>
            <a:r>
              <a:rPr lang="zh-TW" altLang="en-US" dirty="0"/>
              <a:t>數值資料型態</a:t>
            </a:r>
            <a:endParaRPr lang="en-US" altLang="zh-TW" dirty="0"/>
          </a:p>
          <a:p>
            <a:pPr lvl="1"/>
            <a:r>
              <a:rPr lang="en-US" altLang="zh-TW" dirty="0"/>
              <a:t>$</a:t>
            </a:r>
            <a:r>
              <a:rPr lang="en-US" altLang="zh-TW" dirty="0" err="1"/>
              <a:t>varNum</a:t>
            </a:r>
            <a:r>
              <a:rPr lang="en-US" altLang="zh-TW" dirty="0"/>
              <a:t>=8;</a:t>
            </a:r>
          </a:p>
          <a:p>
            <a:r>
              <a:rPr lang="zh-TW" altLang="en-US" dirty="0"/>
              <a:t>字串資料型態</a:t>
            </a:r>
            <a:endParaRPr lang="en-US" altLang="zh-TW" dirty="0"/>
          </a:p>
          <a:p>
            <a:pPr lvl="1"/>
            <a:r>
              <a:rPr lang="en-US" altLang="zh-TW" dirty="0"/>
              <a:t>$</a:t>
            </a:r>
            <a:r>
              <a:rPr lang="en-US" altLang="zh-TW" dirty="0" err="1"/>
              <a:t>varString</a:t>
            </a:r>
            <a:r>
              <a:rPr lang="en-US" altLang="zh-TW" dirty="0"/>
              <a:t>=“hello”;</a:t>
            </a:r>
          </a:p>
          <a:p>
            <a:r>
              <a:rPr lang="en-US" altLang="zh-TW" dirty="0"/>
              <a:t>NULL</a:t>
            </a:r>
            <a:r>
              <a:rPr lang="zh-TW" altLang="en-US" dirty="0"/>
              <a:t>資料型態</a:t>
            </a:r>
            <a:endParaRPr lang="en-US" altLang="zh-TW" dirty="0"/>
          </a:p>
          <a:p>
            <a:pPr lvl="1"/>
            <a:r>
              <a:rPr lang="zh-TW" altLang="en-US" dirty="0"/>
              <a:t>變數尚未被指定值</a:t>
            </a:r>
            <a:endParaRPr lang="en-US" altLang="zh-TW" dirty="0"/>
          </a:p>
          <a:p>
            <a:pPr lvl="1"/>
            <a:r>
              <a:rPr lang="zh-TW" altLang="en-US" dirty="0"/>
              <a:t>變數被指定為</a:t>
            </a:r>
            <a:r>
              <a:rPr lang="en-US" altLang="zh-TW" dirty="0"/>
              <a:t>null</a:t>
            </a:r>
          </a:p>
          <a:p>
            <a:pPr lvl="1"/>
            <a:r>
              <a:rPr lang="zh-TW" altLang="en-US" dirty="0"/>
              <a:t>變數被</a:t>
            </a:r>
            <a:r>
              <a:rPr lang="en-US" altLang="zh-TW" dirty="0"/>
              <a:t>unset()</a:t>
            </a:r>
            <a:r>
              <a:rPr lang="zh-TW" altLang="en-US" dirty="0"/>
              <a:t>移除指定值</a:t>
            </a:r>
            <a:endParaRPr lang="en-US" altLang="zh-TW" dirty="0"/>
          </a:p>
          <a:p>
            <a:pPr lvl="1"/>
            <a:r>
              <a:rPr lang="en-US" altLang="zh-TW" dirty="0"/>
              <a:t>$</a:t>
            </a:r>
            <a:r>
              <a:rPr lang="en-US" altLang="zh-TW" dirty="0" err="1"/>
              <a:t>varNull</a:t>
            </a:r>
            <a:r>
              <a:rPr lang="en-US" altLang="zh-TW" dirty="0"/>
              <a:t>=null;</a:t>
            </a:r>
          </a:p>
          <a:p>
            <a:r>
              <a:rPr lang="en-US" altLang="zh-TW" dirty="0" err="1"/>
              <a:t>Var_dump</a:t>
            </a:r>
            <a:r>
              <a:rPr lang="en-US" altLang="zh-TW" dirty="0"/>
              <a:t>(</a:t>
            </a:r>
            <a:r>
              <a:rPr lang="zh-TW" altLang="en-US" dirty="0"/>
              <a:t>變數</a:t>
            </a:r>
            <a:r>
              <a:rPr lang="en-US" altLang="zh-TW" dirty="0"/>
              <a:t>)</a:t>
            </a:r>
            <a:r>
              <a:rPr lang="zh-TW" altLang="en-US" dirty="0"/>
              <a:t>函數顯示變數的資料型態和值</a:t>
            </a:r>
          </a:p>
        </p:txBody>
      </p:sp>
    </p:spTree>
    <p:extLst>
      <p:ext uri="{BB962C8B-B14F-4D97-AF65-F5344CB8AC3E}">
        <p14:creationId xmlns:p14="http://schemas.microsoft.com/office/powerpoint/2010/main" val="1497193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CB7305D-F03D-3FF6-CACD-F74A25046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變數資料型態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DFEF3EA-C703-33C5-51D6-3B76218CE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02" y="817808"/>
            <a:ext cx="4197629" cy="569246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590CAC72-3EC9-948B-4B43-72FCB58B0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403" y="237816"/>
            <a:ext cx="5068007" cy="438211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8D2ED8CC-A4B6-39E6-6834-51C1AEB83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312" y="4796936"/>
            <a:ext cx="2734057" cy="1552792"/>
          </a:xfrm>
          <a:prstGeom prst="rect">
            <a:avLst/>
          </a:prstGeom>
        </p:spPr>
      </p:pic>
      <p:sp>
        <p:nvSpPr>
          <p:cNvPr id="10" name="箭號: 向右 9">
            <a:extLst>
              <a:ext uri="{FF2B5EF4-FFF2-40B4-BE49-F238E27FC236}">
                <a16:creationId xmlns:a16="http://schemas.microsoft.com/office/drawing/2014/main" xmlns="" id="{34E06B8B-4366-53DB-EB8B-4C26FF0B665C}"/>
              </a:ext>
            </a:extLst>
          </p:cNvPr>
          <p:cNvSpPr/>
          <p:nvPr/>
        </p:nvSpPr>
        <p:spPr>
          <a:xfrm>
            <a:off x="4797380" y="2929944"/>
            <a:ext cx="579550" cy="7598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580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391E2ED-158C-8622-CE50-9F237929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Echo </a:t>
            </a:r>
            <a:r>
              <a:rPr lang="zh-TW" altLang="en-US" dirty="0"/>
              <a:t>單引號與雙引號差別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FB9B3AC9-3BAB-7C22-59A8-E6A6C3455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5" y="882202"/>
            <a:ext cx="5398124" cy="555640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8FB32CE5-C1BE-EBCD-668B-2A536989D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967" y="4704476"/>
            <a:ext cx="1819529" cy="99073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53F344B6-E53D-1CD6-5668-27FD75098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967" y="912299"/>
            <a:ext cx="5144218" cy="338184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B4CEA56C-280C-BF27-335D-E60A7EDEA37C}"/>
              </a:ext>
            </a:extLst>
          </p:cNvPr>
          <p:cNvSpPr txBox="1"/>
          <p:nvPr/>
        </p:nvSpPr>
        <p:spPr>
          <a:xfrm>
            <a:off x="7720884" y="4938235"/>
            <a:ext cx="3671198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TW" altLang="en-US" sz="2800" dirty="0"/>
              <a:t>試看看印出</a:t>
            </a:r>
            <a:r>
              <a:rPr lang="en-US" altLang="zh-TW" sz="2800" dirty="0"/>
              <a:t>$num=100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45619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28AD1F5-AACE-9DAF-94F7-7AC05FA27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轉換變數的資料型態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2441F7AA-98A7-E39A-3A0F-3903FCA13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前面提到，</a:t>
            </a:r>
            <a:r>
              <a:rPr lang="en-US" altLang="zh-TW" dirty="0"/>
              <a:t>PHP</a:t>
            </a:r>
            <a:r>
              <a:rPr lang="zh-TW" altLang="en-US" dirty="0"/>
              <a:t>會自動判斷變數的資料型態，但我們也可以用下列的指令來指定變數的資料型態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格式：</a:t>
            </a:r>
          </a:p>
          <a:p>
            <a:pPr marL="0" indent="0">
              <a:buNone/>
            </a:pPr>
            <a:r>
              <a:rPr lang="zh-TW" altLang="en-US" dirty="0"/>
              <a:t> </a:t>
            </a:r>
            <a:r>
              <a:rPr lang="en-US" altLang="zh-TW" dirty="0"/>
              <a:t>$</a:t>
            </a:r>
            <a:r>
              <a:rPr lang="zh-TW" altLang="en-US" dirty="0"/>
              <a:t>變數名稱 </a:t>
            </a:r>
            <a:r>
              <a:rPr lang="en-US" altLang="zh-TW" dirty="0"/>
              <a:t>= (</a:t>
            </a:r>
            <a:r>
              <a:rPr lang="zh-TW" altLang="en-US" dirty="0"/>
              <a:t>資料型態識別字</a:t>
            </a:r>
            <a:r>
              <a:rPr lang="en-US" altLang="zh-TW" dirty="0"/>
              <a:t>)$</a:t>
            </a:r>
            <a:r>
              <a:rPr lang="zh-TW" altLang="en-US" dirty="0"/>
              <a:t>變數名稱</a:t>
            </a:r>
            <a:r>
              <a:rPr lang="en-US" altLang="zh-TW" dirty="0"/>
              <a:t>;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1D0BF916-B4F6-BC4B-5560-C6C616EEA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12" y="2800400"/>
            <a:ext cx="2935211" cy="371758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873530BA-FC73-5277-2503-507374412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457" y="2724051"/>
            <a:ext cx="3277057" cy="140989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BAD5A94E-7743-E0F8-953F-E17852E72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001" y="2800400"/>
            <a:ext cx="4216178" cy="371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95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60A46C8-F3A0-9104-067C-9C0B9B0B3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</a:t>
            </a:r>
            <a:r>
              <a:rPr lang="en-US" altLang="zh-TW" dirty="0"/>
              <a:t>/</a:t>
            </a:r>
            <a:r>
              <a:rPr lang="zh-TW" altLang="en-US" dirty="0"/>
              <a:t>常數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xmlns="" id="{C28964F2-75B3-569F-CD37-B4C48477E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變數不分型態，變數名稱前要加</a:t>
            </a:r>
            <a:r>
              <a:rPr lang="en-US" altLang="zh-TW" dirty="0"/>
              <a:t>$</a:t>
            </a:r>
            <a:r>
              <a:rPr lang="zh-TW" altLang="en-US" dirty="0"/>
              <a:t>號</a:t>
            </a:r>
          </a:p>
          <a:p>
            <a:r>
              <a:rPr lang="zh-TW" altLang="en-US" dirty="0"/>
              <a:t>變數名稱開頭必須是英文字母或底線</a:t>
            </a:r>
          </a:p>
          <a:p>
            <a:r>
              <a:rPr lang="zh-TW" altLang="en-US" dirty="0"/>
              <a:t>字元的大寫小寫所代表的意義不同</a:t>
            </a:r>
          </a:p>
          <a:p>
            <a:r>
              <a:rPr lang="zh-TW" altLang="en-US" dirty="0"/>
              <a:t>使用等號做儲存</a:t>
            </a:r>
            <a:r>
              <a:rPr lang="en-US" altLang="zh-TW" dirty="0"/>
              <a:t>(</a:t>
            </a:r>
            <a:r>
              <a:rPr lang="zh-TW" altLang="en-US" dirty="0"/>
              <a:t>或稱指定</a:t>
            </a:r>
            <a:r>
              <a:rPr lang="en-US" altLang="zh-TW" dirty="0"/>
              <a:t>)</a:t>
            </a:r>
            <a:r>
              <a:rPr lang="zh-TW" altLang="en-US" dirty="0"/>
              <a:t>的動作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define()</a:t>
            </a:r>
            <a:r>
              <a:rPr lang="zh-TW" altLang="en-US" dirty="0"/>
              <a:t>函數宣告和指定其值</a:t>
            </a:r>
            <a:endParaRPr lang="en-US" altLang="zh-TW" dirty="0"/>
          </a:p>
          <a:p>
            <a:r>
              <a:rPr lang="zh-TW" altLang="en-US" dirty="0"/>
              <a:t>通常使用有意義的名稱來取代</a:t>
            </a:r>
            <a:endParaRPr lang="en-US" altLang="zh-TW" dirty="0"/>
          </a:p>
          <a:p>
            <a:pPr lvl="1"/>
            <a:r>
              <a:rPr lang="en-US" altLang="zh-TW" dirty="0"/>
              <a:t>define(“PI”, 3.1416);</a:t>
            </a:r>
          </a:p>
          <a:p>
            <a:pPr lvl="1"/>
            <a:r>
              <a:rPr lang="en-US" altLang="zh-TW" dirty="0"/>
              <a:t>define(“PIN”, “</a:t>
            </a:r>
            <a:r>
              <a:rPr lang="zh-TW" altLang="en-US" dirty="0"/>
              <a:t>圓周率</a:t>
            </a:r>
            <a:r>
              <a:rPr lang="en-US" altLang="zh-TW" dirty="0"/>
              <a:t>”)</a:t>
            </a:r>
          </a:p>
          <a:p>
            <a:pPr marL="0" indent="0">
              <a:buNone/>
            </a:pPr>
            <a:r>
              <a:rPr lang="en-US" altLang="zh-TW" dirty="0">
                <a:hlinkClick r:id="rId2" action="ppaction://hlinkfile"/>
              </a:rPr>
              <a:t>CH02_6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8436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B938513-4640-94B9-C761-A8BE24E59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常數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4BA5037A-2592-9E4B-AC93-87AFF0B37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26" y="1191296"/>
            <a:ext cx="5500031" cy="464578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4D7AB9B6-6EBE-8E50-94B7-15588EDEB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955" y="4944670"/>
            <a:ext cx="2905530" cy="116221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119168C0-CEB8-60B7-2239-037638656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5574" y="1191296"/>
            <a:ext cx="4610743" cy="3753374"/>
          </a:xfrm>
          <a:prstGeom prst="rect">
            <a:avLst/>
          </a:prstGeom>
        </p:spPr>
      </p:pic>
      <p:sp>
        <p:nvSpPr>
          <p:cNvPr id="10" name="箭號: 向右 9">
            <a:extLst>
              <a:ext uri="{FF2B5EF4-FFF2-40B4-BE49-F238E27FC236}">
                <a16:creationId xmlns:a16="http://schemas.microsoft.com/office/drawing/2014/main" xmlns="" id="{275B9CE5-AAFB-EC59-17C4-7491A04D3625}"/>
              </a:ext>
            </a:extLst>
          </p:cNvPr>
          <p:cNvSpPr/>
          <p:nvPr/>
        </p:nvSpPr>
        <p:spPr>
          <a:xfrm>
            <a:off x="6096000" y="3067983"/>
            <a:ext cx="691166" cy="6475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2756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1362D3D-D0A9-5DDD-3ED4-626209C4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582CB692-05D8-9F8D-340B-DF6D466D3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65" y="942680"/>
            <a:ext cx="10701092" cy="5627802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=</a:t>
            </a:r>
            <a:r>
              <a:rPr lang="zh-TW" altLang="en-US" dirty="0"/>
              <a:t>等號右邊是</a:t>
            </a:r>
            <a:r>
              <a:rPr lang="en-US" altLang="zh-TW" dirty="0"/>
              <a:t>[</a:t>
            </a:r>
            <a:r>
              <a:rPr lang="zh-TW" altLang="en-US" dirty="0"/>
              <a:t>運算式</a:t>
            </a:r>
            <a:r>
              <a:rPr lang="en-US" altLang="zh-TW" dirty="0"/>
              <a:t>]</a:t>
            </a:r>
          </a:p>
          <a:p>
            <a:pPr>
              <a:defRPr/>
            </a:pPr>
            <a:r>
              <a:rPr lang="zh-TW" altLang="en-US" dirty="0"/>
              <a:t>算數運算子</a:t>
            </a:r>
            <a:endParaRPr lang="en-US" altLang="zh-TW" dirty="0"/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r>
              <a:rPr lang="zh-TW" altLang="en-US" dirty="0"/>
              <a:t>邏輯運算子</a:t>
            </a:r>
            <a:endParaRPr lang="en-US" altLang="zh-TW" dirty="0"/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r>
              <a:rPr lang="zh-TW" altLang="en-US" dirty="0"/>
              <a:t>比較運算子</a:t>
            </a:r>
            <a:endParaRPr lang="en-US" altLang="zh-TW" dirty="0"/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r>
              <a:rPr lang="zh-TW" altLang="en-US" dirty="0"/>
              <a:t>遞增</a:t>
            </a:r>
            <a:r>
              <a:rPr lang="en-US" altLang="zh-TW" dirty="0"/>
              <a:t>, </a:t>
            </a:r>
            <a:r>
              <a:rPr lang="zh-TW" altLang="en-US" dirty="0"/>
              <a:t>遞減</a:t>
            </a:r>
            <a:r>
              <a:rPr lang="en-US" altLang="zh-TW" dirty="0"/>
              <a:t>, </a:t>
            </a:r>
            <a:r>
              <a:rPr lang="zh-TW" altLang="en-US" dirty="0"/>
              <a:t>累加</a:t>
            </a:r>
            <a:r>
              <a:rPr lang="en-US" altLang="zh-TW" dirty="0"/>
              <a:t>, </a:t>
            </a:r>
            <a:r>
              <a:rPr lang="zh-TW" altLang="en-US" dirty="0"/>
              <a:t>累積</a:t>
            </a:r>
            <a:r>
              <a:rPr lang="en-US" altLang="zh-TW" dirty="0"/>
              <a:t>:   </a:t>
            </a:r>
            <a:r>
              <a:rPr lang="en-US" altLang="zh-TW" dirty="0">
                <a:solidFill>
                  <a:srgbClr val="C00000"/>
                </a:solidFill>
              </a:rPr>
              <a:t>++   --   +=   *=</a:t>
            </a:r>
          </a:p>
          <a:p>
            <a:pPr>
              <a:defRPr/>
            </a:pPr>
            <a:r>
              <a:rPr lang="en-US" altLang="zh-TW" dirty="0">
                <a:solidFill>
                  <a:srgbClr val="313846"/>
                </a:solidFill>
                <a:hlinkClick r:id="rId2" action="ppaction://hlinkfile"/>
              </a:rPr>
              <a:t>CH02_7</a:t>
            </a:r>
            <a:endParaRPr lang="en-US" altLang="zh-TW" dirty="0">
              <a:solidFill>
                <a:srgbClr val="313846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494A1DE4-214C-1265-C34D-81B003F40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656524"/>
              </p:ext>
            </p:extLst>
          </p:nvPr>
        </p:nvGraphicFramePr>
        <p:xfrm>
          <a:off x="2969443" y="1328001"/>
          <a:ext cx="4843169" cy="731838"/>
        </p:xfrm>
        <a:graphic>
          <a:graphicData uri="http://schemas.openxmlformats.org/drawingml/2006/table">
            <a:tbl>
              <a:tblPr/>
              <a:tblGrid>
                <a:gridCol w="30589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841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43946">
                <a:tc>
                  <a:txBody>
                    <a:bodyPr/>
                    <a:lstStyle/>
                    <a:p>
                      <a:pPr algn="ctr"/>
                      <a:r>
                        <a:rPr lang="zh-TW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負號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(-)</a:t>
                      </a:r>
                      <a:endParaRPr lang="zh-TW" sz="16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7780" marR="177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7470" algn="ctr"/>
                      <a:r>
                        <a:rPr lang="en-US" sz="160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Symbol"/>
                        </a:rPr>
                        <a:t>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</a:rPr>
                        <a:t>高優先順序</a:t>
                      </a:r>
                    </a:p>
                  </a:txBody>
                  <a:tcPr marL="17780" marR="177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pPr algn="ctr"/>
                      <a:r>
                        <a:rPr lang="zh-TW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乘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( * )、除 ( / )、</a:t>
                      </a:r>
                      <a:r>
                        <a:rPr lang="zh-TW" altLang="en-US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取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餘數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( % )</a:t>
                      </a:r>
                      <a:endParaRPr lang="zh-TW" sz="16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7780" marR="177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Symbol"/>
                        </a:rPr>
                        <a:t></a:t>
                      </a:r>
                      <a:r>
                        <a:rPr lang="zh-TW" sz="160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</a:rPr>
                        <a:t>中優先順序</a:t>
                      </a:r>
                    </a:p>
                  </a:txBody>
                  <a:tcPr marL="17780" marR="177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pPr indent="304800" algn="ctr"/>
                      <a:r>
                        <a:rPr lang="zh-TW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加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Times New Roman"/>
                        </a:rPr>
                        <a:t>( +)、減 ( - )</a:t>
                      </a:r>
                      <a:endParaRPr lang="zh-TW" sz="16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7780" marR="177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  <a:sym typeface="Symbol"/>
                        </a:rPr>
                        <a:t></a:t>
                      </a:r>
                      <a:r>
                        <a:rPr lang="zh-TW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</a:rPr>
                        <a:t>低優先順序</a:t>
                      </a:r>
                      <a:r>
                        <a:rPr lang="en-US" altLang="zh-TW" sz="16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</a:rPr>
                        <a:t>  </a:t>
                      </a:r>
                      <a:endParaRPr lang="zh-TW" sz="16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17780" marR="177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00AEC60E-398A-181A-C8C4-842F7C15E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460369"/>
              </p:ext>
            </p:extLst>
          </p:nvPr>
        </p:nvGraphicFramePr>
        <p:xfrm>
          <a:off x="2954862" y="2147285"/>
          <a:ext cx="4071937" cy="11620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190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528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071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latin typeface="+mn-ea"/>
                          <a:ea typeface="+mn-ea"/>
                        </a:rPr>
                        <a:t>運算子 </a:t>
                      </a:r>
                      <a:endParaRPr lang="zh-TW" sz="1400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latin typeface="+mn-ea"/>
                          <a:ea typeface="+mn-ea"/>
                        </a:rPr>
                        <a:t>功能敘述 </a:t>
                      </a:r>
                      <a:endParaRPr lang="zh-TW" sz="1400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71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&amp;&amp;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AND(</a:t>
                      </a:r>
                      <a:r>
                        <a:rPr lang="zh-TW" sz="140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及</a:t>
                      </a:r>
                      <a:r>
                        <a:rPr lang="en-US" sz="140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71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||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OR(</a:t>
                      </a:r>
                      <a:r>
                        <a:rPr lang="zh-TW" sz="140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或</a:t>
                      </a:r>
                      <a:r>
                        <a:rPr lang="en-US" sz="1400" kern="1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071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latin typeface="+mn-ea"/>
                          <a:ea typeface="+mn-ea"/>
                        </a:rPr>
                        <a:t> ! </a:t>
                      </a:r>
                      <a:endParaRPr lang="zh-TW" sz="1400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latin typeface="+mn-ea"/>
                          <a:ea typeface="+mn-ea"/>
                        </a:rPr>
                        <a:t> NOT(</a:t>
                      </a:r>
                      <a:r>
                        <a:rPr lang="zh-TW" sz="1400" kern="100" dirty="0">
                          <a:latin typeface="+mn-ea"/>
                          <a:ea typeface="+mn-ea"/>
                        </a:rPr>
                        <a:t>反向</a:t>
                      </a:r>
                      <a:r>
                        <a:rPr lang="en-US" sz="1400" kern="100" dirty="0">
                          <a:latin typeface="+mn-ea"/>
                          <a:ea typeface="+mn-ea"/>
                        </a:rPr>
                        <a:t>) </a:t>
                      </a:r>
                      <a:endParaRPr lang="zh-TW" sz="1400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715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400" kern="1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</a:rPr>
                        <a:t>xor</a:t>
                      </a:r>
                      <a:endParaRPr lang="zh-TW" sz="1400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</a:rPr>
                        <a:t> XOR(</a:t>
                      </a:r>
                      <a:r>
                        <a:rPr lang="zh-TW" altLang="en-US" sz="1400" kern="1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</a:rPr>
                        <a:t>互斥</a:t>
                      </a:r>
                      <a:r>
                        <a:rPr lang="en-US" altLang="zh-TW" sz="1400" kern="1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/>
                        </a:rPr>
                        <a:t>) </a:t>
                      </a:r>
                      <a:endParaRPr lang="zh-TW" sz="1400" kern="1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BE53DAC6-3558-6AFF-9243-3AABB5267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424209"/>
              </p:ext>
            </p:extLst>
          </p:nvPr>
        </p:nvGraphicFramePr>
        <p:xfrm>
          <a:off x="2954861" y="3415636"/>
          <a:ext cx="4071938" cy="201612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3596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596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134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latin typeface="+mj-ea"/>
                          <a:ea typeface="+mj-ea"/>
                        </a:rPr>
                        <a:t>運算子 </a:t>
                      </a:r>
                      <a:endParaRPr lang="zh-TW" sz="1400" kern="100" dirty="0">
                        <a:solidFill>
                          <a:srgbClr val="00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400" kern="100" dirty="0">
                          <a:latin typeface="+mj-ea"/>
                          <a:ea typeface="+mj-ea"/>
                        </a:rPr>
                        <a:t>功能敘述 </a:t>
                      </a:r>
                      <a:endParaRPr lang="zh-TW" sz="1400" kern="100" dirty="0">
                        <a:solidFill>
                          <a:srgbClr val="00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342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&lt;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小於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1342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&lt;=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小於等於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1342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&gt;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大於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324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&gt;=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大於等於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9525" marR="9525" marT="9528" marB="9528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324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==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等於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9525" marR="9525" marT="9528" marB="9528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324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!= 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sz="1400" kern="100" dirty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不等於</a:t>
                      </a:r>
                      <a:endParaRPr lang="zh-TW" sz="1400" kern="100" dirty="0">
                        <a:solidFill>
                          <a:srgbClr val="FF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9525" marR="9525" marT="9528" marB="9528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324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latin typeface="+mj-ea"/>
                          <a:ea typeface="+mj-ea"/>
                        </a:rPr>
                        <a:t> === </a:t>
                      </a:r>
                      <a:endParaRPr lang="zh-TW" sz="1400" kern="100" dirty="0">
                        <a:solidFill>
                          <a:srgbClr val="00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400" kern="100" dirty="0">
                          <a:latin typeface="+mj-ea"/>
                          <a:ea typeface="+mj-ea"/>
                        </a:rPr>
                        <a:t>完全</a:t>
                      </a:r>
                      <a:r>
                        <a:rPr lang="zh-TW" sz="1400" kern="100" dirty="0">
                          <a:latin typeface="+mj-ea"/>
                          <a:ea typeface="+mj-ea"/>
                        </a:rPr>
                        <a:t>等於 </a:t>
                      </a:r>
                      <a:r>
                        <a:rPr lang="en-US" altLang="zh-TW" sz="1400" kern="1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zh-TW" altLang="en-US" sz="1400" kern="100" dirty="0">
                          <a:latin typeface="+mj-ea"/>
                          <a:ea typeface="+mj-ea"/>
                        </a:rPr>
                        <a:t>少用</a:t>
                      </a:r>
                      <a:r>
                        <a:rPr lang="en-US" altLang="zh-TW" sz="1400" kern="100" dirty="0">
                          <a:latin typeface="+mj-ea"/>
                          <a:ea typeface="+mj-ea"/>
                        </a:rPr>
                        <a:t>)</a:t>
                      </a:r>
                      <a:endParaRPr lang="zh-TW" sz="1400" kern="100" dirty="0">
                        <a:solidFill>
                          <a:srgbClr val="00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9525" marR="9525" marT="9528" marB="9528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324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latin typeface="+mj-ea"/>
                          <a:ea typeface="+mj-ea"/>
                        </a:rPr>
                        <a:t> !== </a:t>
                      </a:r>
                      <a:endParaRPr lang="zh-TW" sz="1400" kern="100" dirty="0">
                        <a:solidFill>
                          <a:srgbClr val="00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9525" marR="9525" marT="9528" marB="9528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400" kern="1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zh-TW" altLang="en-US" sz="1400" kern="100" dirty="0">
                          <a:latin typeface="+mj-ea"/>
                          <a:ea typeface="+mj-ea"/>
                        </a:rPr>
                        <a:t>完全</a:t>
                      </a:r>
                      <a:r>
                        <a:rPr lang="zh-TW" sz="1400" kern="100" dirty="0">
                          <a:latin typeface="+mj-ea"/>
                          <a:ea typeface="+mj-ea"/>
                        </a:rPr>
                        <a:t>不等於</a:t>
                      </a:r>
                      <a:r>
                        <a:rPr lang="en-US" altLang="zh-TW" sz="1400" kern="1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zh-TW" sz="1400" kern="1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zh-TW" altLang="en-US" sz="1400" kern="1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少用</a:t>
                      </a:r>
                      <a:r>
                        <a:rPr kumimoji="0" lang="en-US" altLang="zh-TW" sz="1400" kern="1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zh-TW" sz="1400" kern="100" dirty="0">
                        <a:solidFill>
                          <a:srgbClr val="000000"/>
                        </a:solidFill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9525" marR="9525" marT="9528" marB="9528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998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DD858E6-64C7-4581-9272-7C92C396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運算子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D9B8A2AB-C6B1-F6C2-3EB7-56BF09904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6" y="689020"/>
            <a:ext cx="7515119" cy="607238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66C94989-F5AD-40F9-0780-13FA7752F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442" y="635174"/>
            <a:ext cx="8202170" cy="359142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3234EF9F-0E79-3939-6CAB-40875BFF7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458" y="4005618"/>
            <a:ext cx="3057952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25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BDCB5B5-A3BF-BBCD-B60A-A37CBADFA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練習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xmlns="" id="{9C0A337C-02EF-51D8-1911-16F803C042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6183847"/>
              </p:ext>
            </p:extLst>
          </p:nvPr>
        </p:nvGraphicFramePr>
        <p:xfrm>
          <a:off x="960748" y="1833072"/>
          <a:ext cx="4506798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3399">
                  <a:extLst>
                    <a:ext uri="{9D8B030D-6E8A-4147-A177-3AD203B41FA5}">
                      <a16:colId xmlns:a16="http://schemas.microsoft.com/office/drawing/2014/main" xmlns="" val="2924029988"/>
                    </a:ext>
                  </a:extLst>
                </a:gridCol>
                <a:gridCol w="2253399">
                  <a:extLst>
                    <a:ext uri="{9D8B030D-6E8A-4147-A177-3AD203B41FA5}">
                      <a16:colId xmlns:a16="http://schemas.microsoft.com/office/drawing/2014/main" xmlns="" val="2327684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國文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90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85814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英文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80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99249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數學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70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28900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總分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240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65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80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1395428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1A8C87FE-EFDD-A0C6-A95D-734C844B96CC}"/>
              </a:ext>
            </a:extLst>
          </p:cNvPr>
          <p:cNvSpPr txBox="1"/>
          <p:nvPr/>
        </p:nvSpPr>
        <p:spPr>
          <a:xfrm>
            <a:off x="837764" y="1018095"/>
            <a:ext cx="1064906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請使用變數紀錄國文、英文、數學成績，算出總分與平均後，列印出下列格式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2032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練習</a:t>
            </a:r>
            <a:r>
              <a:rPr lang="en-US" altLang="zh-TW" dirty="0" smtClean="0"/>
              <a:t>_</a:t>
            </a:r>
            <a:r>
              <a:rPr lang="zh-TW" altLang="en-US" dirty="0" smtClean="0"/>
              <a:t>級分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6571"/>
            <a:ext cx="3179035" cy="618998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098" y="741674"/>
            <a:ext cx="4071519" cy="611632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681" y="1777525"/>
            <a:ext cx="4049467" cy="292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731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B5FCFBE-78D5-CB09-3EF2-57F1487E0F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Web</a:t>
            </a:r>
            <a:r>
              <a:rPr lang="zh-TW" altLang="en-US" dirty="0"/>
              <a:t>伺服器變數</a:t>
            </a:r>
          </a:p>
        </p:txBody>
      </p:sp>
    </p:spTree>
    <p:extLst>
      <p:ext uri="{BB962C8B-B14F-4D97-AF65-F5344CB8AC3E}">
        <p14:creationId xmlns:p14="http://schemas.microsoft.com/office/powerpoint/2010/main" val="1777296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C74AA04-50B2-E418-0C30-8557D02A9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$_SERVER</a:t>
            </a:r>
            <a:r>
              <a:rPr lang="zh-TW" altLang="en-US" dirty="0"/>
              <a:t> 伺服器的系統資訊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A468669C-87A5-267A-6A01-47AD1FEFB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178" y="904373"/>
            <a:ext cx="11603822" cy="5049254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$_SERVER[‘PHP_SELF‘];</a:t>
            </a:r>
            <a:r>
              <a:rPr lang="zh-TW" altLang="en-US" dirty="0"/>
              <a:t> 取得現在使用</a:t>
            </a:r>
            <a:r>
              <a:rPr lang="en-US" altLang="zh-TW" dirty="0"/>
              <a:t>PHP</a:t>
            </a:r>
            <a:r>
              <a:rPr lang="zh-TW" altLang="en-US" dirty="0"/>
              <a:t>檔的檔案名稱 </a:t>
            </a:r>
            <a:r>
              <a:rPr lang="en-US" altLang="zh-TW" dirty="0"/>
              <a:t>/</a:t>
            </a:r>
            <a:r>
              <a:rPr lang="en-US" altLang="zh-TW" dirty="0" err="1"/>
              <a:t>xxx.php</a:t>
            </a:r>
            <a:endParaRPr lang="en-US" altLang="zh-TW" dirty="0"/>
          </a:p>
          <a:p>
            <a:r>
              <a:rPr lang="en-US" altLang="zh-TW" dirty="0"/>
              <a:t>$_SERVER[‘DOCUMENT_ROOT’]; </a:t>
            </a:r>
            <a:r>
              <a:rPr lang="zh-TW" altLang="en-US" dirty="0"/>
              <a:t>是取得</a:t>
            </a:r>
            <a:r>
              <a:rPr lang="en-US" altLang="zh-TW" dirty="0"/>
              <a:t>PHP</a:t>
            </a:r>
            <a:r>
              <a:rPr lang="zh-TW" altLang="en-US" dirty="0"/>
              <a:t>程式的跟目錄</a:t>
            </a:r>
            <a:endParaRPr lang="en-US" altLang="zh-TW" dirty="0"/>
          </a:p>
          <a:p>
            <a:r>
              <a:rPr lang="en-US" altLang="zh-TW" dirty="0"/>
              <a:t>$_SERVER[‘QUERY_STRING’]; </a:t>
            </a:r>
            <a:r>
              <a:rPr lang="zh-TW" altLang="en-US" dirty="0"/>
              <a:t>是取得使用網址傳資料的參數 </a:t>
            </a:r>
            <a:r>
              <a:rPr lang="en-US" altLang="zh-TW" dirty="0"/>
              <a:t>?</a:t>
            </a:r>
            <a:r>
              <a:rPr lang="en-US" altLang="zh-TW" dirty="0" err="1"/>
              <a:t>st</a:t>
            </a:r>
            <a:r>
              <a:rPr lang="en-US" altLang="zh-TW" dirty="0"/>
              <a:t>=1&amp;st2=2</a:t>
            </a:r>
          </a:p>
          <a:p>
            <a:r>
              <a:rPr lang="en-US" altLang="zh-TW" dirty="0"/>
              <a:t>$_SERVER[‘REQUEST_URI’] </a:t>
            </a:r>
            <a:r>
              <a:rPr lang="zh-TW" altLang="en-US" dirty="0"/>
              <a:t>會給檔名 </a:t>
            </a:r>
            <a:r>
              <a:rPr lang="en-US" altLang="zh-TW" dirty="0"/>
              <a:t>+ </a:t>
            </a:r>
            <a:r>
              <a:rPr lang="zh-TW" altLang="en-US" dirty="0"/>
              <a:t>參數 </a:t>
            </a:r>
            <a:r>
              <a:rPr lang="en-US" altLang="zh-TW" dirty="0"/>
              <a:t>(</a:t>
            </a:r>
            <a:r>
              <a:rPr lang="zh-TW" altLang="en-US" dirty="0"/>
              <a:t>如 </a:t>
            </a:r>
            <a:r>
              <a:rPr lang="en-US" altLang="zh-TW" dirty="0"/>
              <a:t>/CH04_01?usrid=</a:t>
            </a:r>
            <a:r>
              <a:rPr lang="en-US" altLang="zh-TW" dirty="0" err="1"/>
              <a:t>philip</a:t>
            </a:r>
            <a:r>
              <a:rPr lang="en-US" altLang="zh-TW" dirty="0"/>
              <a:t>)</a:t>
            </a:r>
            <a:endParaRPr lang="zh-TW" altLang="en-US" dirty="0"/>
          </a:p>
          <a:p>
            <a:r>
              <a:rPr lang="en-US" altLang="zh-TW" dirty="0"/>
              <a:t>$_SERVER['REMOTE_HOST'] #</a:t>
            </a:r>
            <a:r>
              <a:rPr lang="zh-TW" altLang="en-US" dirty="0"/>
              <a:t>正在瀏覽當前頁面用戶的主機名。</a:t>
            </a:r>
            <a:endParaRPr lang="en-US" altLang="zh-TW" dirty="0"/>
          </a:p>
          <a:p>
            <a:r>
              <a:rPr lang="en-US" altLang="zh-TW" sz="2900" dirty="0"/>
              <a:t>$_SERVER['REMOTE_ADDR'] #</a:t>
            </a:r>
            <a:r>
              <a:rPr lang="zh-TW" altLang="en-US" sz="2900" dirty="0"/>
              <a:t>客戶端的</a:t>
            </a:r>
            <a:r>
              <a:rPr lang="en-US" altLang="zh-TW" sz="2900" dirty="0"/>
              <a:t>IP</a:t>
            </a:r>
            <a:r>
              <a:rPr lang="zh-TW" altLang="en-US" sz="2900" dirty="0"/>
              <a:t>位址</a:t>
            </a:r>
          </a:p>
          <a:p>
            <a:r>
              <a:rPr lang="en-US" altLang="zh-TW" dirty="0"/>
              <a:t>$_SERVER['REMOTE_PORT'] #</a:t>
            </a:r>
            <a:r>
              <a:rPr lang="zh-TW" altLang="en-US" dirty="0"/>
              <a:t>用戶連接到服務器時所使用的端口。</a:t>
            </a:r>
          </a:p>
          <a:p>
            <a:r>
              <a:rPr lang="en-US" altLang="zh-TW" dirty="0"/>
              <a:t>$_SERVER['SCRIPT_FILENAME'] #</a:t>
            </a:r>
            <a:r>
              <a:rPr lang="zh-TW" altLang="en-US" dirty="0"/>
              <a:t>當前執行腳本的絕對路徑名。</a:t>
            </a:r>
            <a:endParaRPr lang="en-US" altLang="zh-TW" dirty="0"/>
          </a:p>
          <a:p>
            <a:r>
              <a:rPr lang="en-US" altLang="zh-TW" sz="2900" dirty="0"/>
              <a:t>$_SERVER[‘SCRIPT_NAME’] #</a:t>
            </a:r>
            <a:r>
              <a:rPr lang="zh-TW" altLang="en-US" sz="2900" dirty="0"/>
              <a:t>當前執行的虛擬路徑名。</a:t>
            </a:r>
          </a:p>
          <a:p>
            <a:r>
              <a:rPr lang="en-US" altLang="zh-TW" sz="2900" dirty="0"/>
              <a:t>$_SERVER[‘SERVER_NAME’] #</a:t>
            </a:r>
            <a:r>
              <a:rPr lang="zh-TW" altLang="en-US" sz="2900" dirty="0"/>
              <a:t>伺服器名稱</a:t>
            </a:r>
          </a:p>
          <a:p>
            <a:r>
              <a:rPr lang="en-US" altLang="zh-TW" sz="2900" dirty="0"/>
              <a:t>$_SERVER['SERVER_PORT‘] #</a:t>
            </a:r>
            <a:r>
              <a:rPr lang="zh-TW" altLang="en-US" sz="2900" dirty="0"/>
              <a:t>伺務器所使用的端口</a:t>
            </a:r>
          </a:p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1A4706FF-5EFC-0AD6-941E-28E631BB1B75}"/>
              </a:ext>
            </a:extLst>
          </p:cNvPr>
          <p:cNvSpPr txBox="1"/>
          <p:nvPr/>
        </p:nvSpPr>
        <p:spPr>
          <a:xfrm>
            <a:off x="7541443" y="6042582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Ch04_01.php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389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F1CCF4-93C2-4AD1-14B2-FEEF3665FC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程式流程控制</a:t>
            </a:r>
          </a:p>
        </p:txBody>
      </p:sp>
    </p:spTree>
    <p:extLst>
      <p:ext uri="{BB962C8B-B14F-4D97-AF65-F5344CB8AC3E}">
        <p14:creationId xmlns:p14="http://schemas.microsoft.com/office/powerpoint/2010/main" val="20770626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1F86CBC-8575-05C8-9262-A914C40EE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條件控制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CE044030-C15D-634D-CD9E-4B5458025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根據關係運算或邏輯運算的條件式來判斷程式執行的流程，依判斷的結果執行不同的程式區塊。條件控制的指令包括：</a:t>
            </a:r>
            <a:endParaRPr lang="en-US" altLang="zh-TW" dirty="0"/>
          </a:p>
          <a:p>
            <a:endParaRPr lang="en-US" altLang="zh-TW" dirty="0"/>
          </a:p>
          <a:p>
            <a:pPr lvl="1"/>
            <a:r>
              <a:rPr lang="en-US" altLang="zh-TW" dirty="0"/>
              <a:t>if</a:t>
            </a:r>
          </a:p>
          <a:p>
            <a:pPr lvl="1"/>
            <a:r>
              <a:rPr lang="en-US" altLang="zh-TW" dirty="0"/>
              <a:t>if…else</a:t>
            </a:r>
          </a:p>
          <a:p>
            <a:pPr lvl="1"/>
            <a:r>
              <a:rPr lang="en-US" altLang="zh-TW" dirty="0"/>
              <a:t>if…elseif…else</a:t>
            </a:r>
          </a:p>
          <a:p>
            <a:pPr lvl="1"/>
            <a:r>
              <a:rPr lang="en-US" altLang="zh-TW" dirty="0"/>
              <a:t>switch</a:t>
            </a:r>
          </a:p>
          <a:p>
            <a:pPr lvl="1"/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990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344D2C8-00D4-3B6D-E841-0646C09B3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2F9F5783-C539-BBE8-2CCA-EB0D7687D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65" y="872155"/>
            <a:ext cx="10701092" cy="5340109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單向選擇 </a:t>
            </a:r>
            <a:r>
              <a:rPr lang="en-US" altLang="zh-TW" dirty="0"/>
              <a:t>if</a:t>
            </a:r>
            <a:r>
              <a:rPr lang="zh-TW" altLang="en-US" dirty="0"/>
              <a:t>：如果</a:t>
            </a:r>
            <a:r>
              <a:rPr lang="en-US" altLang="zh-TW" dirty="0"/>
              <a:t>…</a:t>
            </a:r>
            <a:r>
              <a:rPr lang="zh-TW" altLang="en-US" dirty="0"/>
              <a:t>就</a:t>
            </a:r>
            <a:r>
              <a:rPr lang="en-US" altLang="zh-TW" dirty="0"/>
              <a:t>…</a:t>
            </a:r>
          </a:p>
          <a:p>
            <a:r>
              <a:rPr lang="zh-TW" altLang="en-US" dirty="0"/>
              <a:t>這是一個單向選擇的條件控制結構，這個條件控制是最為單純的，也就是當判斷式成立時即執行區塊中的程式碼。</a:t>
            </a:r>
          </a:p>
          <a:p>
            <a:r>
              <a:rPr lang="zh-TW" altLang="en-US" dirty="0"/>
              <a:t>以下是單向選擇流程控制的流程圖：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hlinkClick r:id="rId2" action="ppaction://hlinkfile"/>
              </a:rPr>
              <a:t>CH02_08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xmlns="" id="{782CD52F-123C-68EE-CE96-2CDE927EE0AE}"/>
              </a:ext>
            </a:extLst>
          </p:cNvPr>
          <p:cNvSpPr/>
          <p:nvPr/>
        </p:nvSpPr>
        <p:spPr>
          <a:xfrm>
            <a:off x="7692270" y="2269327"/>
            <a:ext cx="989815" cy="9403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xmlns="" id="{7B13DD1B-11A9-3EDB-011C-4B28CC0CD95F}"/>
              </a:ext>
            </a:extLst>
          </p:cNvPr>
          <p:cNvSpPr/>
          <p:nvPr/>
        </p:nvSpPr>
        <p:spPr>
          <a:xfrm>
            <a:off x="7305772" y="3709449"/>
            <a:ext cx="1762813" cy="72097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條件式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xmlns="" id="{7B55D2BA-E795-07F2-E9A6-4ED247E2B8FE}"/>
              </a:ext>
            </a:extLst>
          </p:cNvPr>
          <p:cNvSpPr/>
          <p:nvPr/>
        </p:nvSpPr>
        <p:spPr>
          <a:xfrm>
            <a:off x="7692270" y="4930222"/>
            <a:ext cx="989815" cy="9403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70FD6071-B7D0-F979-776A-951467F4778A}"/>
              </a:ext>
            </a:extLst>
          </p:cNvPr>
          <p:cNvSpPr/>
          <p:nvPr/>
        </p:nvSpPr>
        <p:spPr>
          <a:xfrm>
            <a:off x="9662474" y="3709449"/>
            <a:ext cx="1687398" cy="720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程式敘述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xmlns="" id="{20685347-AFAC-D626-BD16-4B4610EC951E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8187178" y="3209651"/>
            <a:ext cx="1" cy="4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xmlns="" id="{CAFF1A3F-932E-8819-FD2B-082075F62265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9068585" y="4069937"/>
            <a:ext cx="5938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xmlns="" id="{27267927-47DB-E3DC-BF07-CC23DABF5D83}"/>
              </a:ext>
            </a:extLst>
          </p:cNvPr>
          <p:cNvCxnSpPr>
            <a:stCxn id="8" idx="2"/>
            <a:endCxn id="7" idx="6"/>
          </p:cNvCxnSpPr>
          <p:nvPr/>
        </p:nvCxnSpPr>
        <p:spPr>
          <a:xfrm rot="5400000">
            <a:off x="9109149" y="4003360"/>
            <a:ext cx="969960" cy="18240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xmlns="" id="{A9D195B1-918C-6434-021B-0BD4C65929B4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8187178" y="4430424"/>
            <a:ext cx="1" cy="4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xmlns="" id="{297A7474-5025-0EE5-B851-FE2E1F15FA15}"/>
              </a:ext>
            </a:extLst>
          </p:cNvPr>
          <p:cNvSpPr txBox="1"/>
          <p:nvPr/>
        </p:nvSpPr>
        <p:spPr>
          <a:xfrm>
            <a:off x="8697924" y="34595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符合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xmlns="" id="{EB67E15A-1EA6-35F6-8407-FB668D328051}"/>
              </a:ext>
            </a:extLst>
          </p:cNvPr>
          <p:cNvSpPr txBox="1"/>
          <p:nvPr/>
        </p:nvSpPr>
        <p:spPr>
          <a:xfrm>
            <a:off x="8249433" y="449565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假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xmlns="" id="{BEAC6819-E190-4678-B37F-33542B3E7967}"/>
              </a:ext>
            </a:extLst>
          </p:cNvPr>
          <p:cNvSpPr txBox="1"/>
          <p:nvPr/>
        </p:nvSpPr>
        <p:spPr>
          <a:xfrm>
            <a:off x="520172" y="3284300"/>
            <a:ext cx="6474515" cy="1934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2500" b="1" u="sng" dirty="0"/>
              <a:t>程式範例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$A = 200 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$B = 300 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if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dirty="0">
                <a:latin typeface="Times New Roman" panose="02020603050405020304" pitchFamily="18" charset="0"/>
              </a:rPr>
              <a:t>$A &gt; $B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) {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echo “A </a:t>
            </a:r>
            <a:r>
              <a:rPr lang="zh-TW" altLang="en-US" dirty="0">
                <a:latin typeface="Times New Roman" panose="02020603050405020304" pitchFamily="18" charset="0"/>
              </a:rPr>
              <a:t>大於</a:t>
            </a:r>
            <a:r>
              <a:rPr lang="en-US" altLang="zh-TW" dirty="0">
                <a:latin typeface="Times New Roman" panose="02020603050405020304" pitchFamily="18" charset="0"/>
              </a:rPr>
              <a:t> B “;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echo "</a:t>
            </a:r>
            <a:r>
              <a:rPr lang="zh-TW" altLang="en-US" dirty="0">
                <a:latin typeface="Times New Roman" panose="02020603050405020304" pitchFamily="18" charset="0"/>
              </a:rPr>
              <a:t>結束</a:t>
            </a:r>
            <a:r>
              <a:rPr lang="en-US" altLang="zh-TW" dirty="0">
                <a:latin typeface="Times New Roman" panose="02020603050405020304" pitchFamily="18" charset="0"/>
              </a:rPr>
              <a:t>" 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7501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344D2C8-00D4-3B6D-E841-0646C09B3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if … else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2F9F5783-C539-BBE8-2CCA-EB0D7687D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65" y="872154"/>
            <a:ext cx="10701092" cy="5717182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雙向選擇 </a:t>
            </a:r>
            <a:r>
              <a:rPr lang="en-US" altLang="zh-TW" dirty="0"/>
              <a:t>if…else</a:t>
            </a:r>
            <a:r>
              <a:rPr lang="zh-TW" altLang="en-US" dirty="0"/>
              <a:t>：如果</a:t>
            </a:r>
            <a:r>
              <a:rPr lang="en-US" altLang="zh-TW" dirty="0"/>
              <a:t>…</a:t>
            </a:r>
            <a:r>
              <a:rPr lang="zh-TW" altLang="en-US" dirty="0"/>
              <a:t>就</a:t>
            </a:r>
            <a:r>
              <a:rPr lang="en-US" altLang="zh-TW" dirty="0"/>
              <a:t>…</a:t>
            </a:r>
            <a:r>
              <a:rPr lang="zh-TW" altLang="en-US" dirty="0"/>
              <a:t>否則就</a:t>
            </a:r>
            <a:r>
              <a:rPr lang="en-US" altLang="zh-TW" dirty="0"/>
              <a:t>…</a:t>
            </a:r>
          </a:p>
          <a:p>
            <a:r>
              <a:rPr lang="zh-TW" altLang="en-US" dirty="0"/>
              <a:t>這是一個雙向選擇的條件控制結構。條件判斷時，當條件成立時可以執行某個程式區塊，不成立時就執行另一個區塊時，即可使用這個條件控制結構</a:t>
            </a:r>
          </a:p>
          <a:p>
            <a:r>
              <a:rPr lang="zh-TW" altLang="en-US" dirty="0"/>
              <a:t>以下是雙向選擇流程控制的流程圖：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hlinkClick r:id="rId2" action="ppaction://hlinkfile"/>
              </a:rPr>
              <a:t>CH02_09</a:t>
            </a:r>
            <a:endParaRPr lang="en-US" altLang="zh-TW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xmlns="" id="{782CD52F-123C-68EE-CE96-2CDE927EE0AE}"/>
              </a:ext>
            </a:extLst>
          </p:cNvPr>
          <p:cNvSpPr/>
          <p:nvPr/>
        </p:nvSpPr>
        <p:spPr>
          <a:xfrm>
            <a:off x="6495070" y="2655832"/>
            <a:ext cx="989815" cy="9403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xmlns="" id="{7B13DD1B-11A9-3EDB-011C-4B28CC0CD95F}"/>
              </a:ext>
            </a:extLst>
          </p:cNvPr>
          <p:cNvSpPr/>
          <p:nvPr/>
        </p:nvSpPr>
        <p:spPr>
          <a:xfrm>
            <a:off x="6108572" y="4095954"/>
            <a:ext cx="1762813" cy="72097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條件式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xmlns="" id="{7B55D2BA-E795-07F2-E9A6-4ED247E2B8FE}"/>
              </a:ext>
            </a:extLst>
          </p:cNvPr>
          <p:cNvSpPr/>
          <p:nvPr/>
        </p:nvSpPr>
        <p:spPr>
          <a:xfrm>
            <a:off x="6495070" y="5316727"/>
            <a:ext cx="989815" cy="9403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70FD6071-B7D0-F979-776A-951467F4778A}"/>
              </a:ext>
            </a:extLst>
          </p:cNvPr>
          <p:cNvSpPr/>
          <p:nvPr/>
        </p:nvSpPr>
        <p:spPr>
          <a:xfrm>
            <a:off x="8465274" y="4095954"/>
            <a:ext cx="1687398" cy="720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程式敘述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xmlns="" id="{20685347-AFAC-D626-BD16-4B4610EC951E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6989978" y="3596156"/>
            <a:ext cx="1" cy="4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xmlns="" id="{CAFF1A3F-932E-8819-FD2B-082075F62265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871385" y="4456442"/>
            <a:ext cx="5938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xmlns="" id="{27267927-47DB-E3DC-BF07-CC23DABF5D83}"/>
              </a:ext>
            </a:extLst>
          </p:cNvPr>
          <p:cNvCxnSpPr>
            <a:stCxn id="8" idx="2"/>
            <a:endCxn id="7" idx="6"/>
          </p:cNvCxnSpPr>
          <p:nvPr/>
        </p:nvCxnSpPr>
        <p:spPr>
          <a:xfrm rot="5400000">
            <a:off x="7911949" y="4389865"/>
            <a:ext cx="969960" cy="18240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xmlns="" id="{A9D195B1-918C-6434-021B-0BD4C65929B4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6989978" y="4816929"/>
            <a:ext cx="1" cy="4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xmlns="" id="{297A7474-5025-0EE5-B851-FE2E1F15FA15}"/>
              </a:ext>
            </a:extLst>
          </p:cNvPr>
          <p:cNvSpPr txBox="1"/>
          <p:nvPr/>
        </p:nvSpPr>
        <p:spPr>
          <a:xfrm>
            <a:off x="7500724" y="384605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符合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xmlns="" id="{EB67E15A-1EA6-35F6-8407-FB668D328051}"/>
              </a:ext>
            </a:extLst>
          </p:cNvPr>
          <p:cNvSpPr txBox="1"/>
          <p:nvPr/>
        </p:nvSpPr>
        <p:spPr>
          <a:xfrm flipH="1">
            <a:off x="5797487" y="3846055"/>
            <a:ext cx="1254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假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xmlns="" id="{BEAC6819-E190-4678-B37F-33542B3E7967}"/>
              </a:ext>
            </a:extLst>
          </p:cNvPr>
          <p:cNvSpPr txBox="1"/>
          <p:nvPr/>
        </p:nvSpPr>
        <p:spPr>
          <a:xfrm>
            <a:off x="729264" y="2855317"/>
            <a:ext cx="6474515" cy="293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2500" b="1" u="sng" dirty="0"/>
              <a:t>程式範例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$A = 200 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$B = 300 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if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dirty="0">
                <a:latin typeface="Times New Roman" panose="02020603050405020304" pitchFamily="18" charset="0"/>
              </a:rPr>
              <a:t>$A &gt; $B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) {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    echo “A </a:t>
            </a:r>
            <a:r>
              <a:rPr lang="zh-TW" altLang="en-US" dirty="0">
                <a:latin typeface="Times New Roman" panose="02020603050405020304" pitchFamily="18" charset="0"/>
              </a:rPr>
              <a:t>大於</a:t>
            </a:r>
            <a:r>
              <a:rPr lang="en-US" altLang="zh-TW" dirty="0">
                <a:latin typeface="Times New Roman" panose="02020603050405020304" pitchFamily="18" charset="0"/>
              </a:rPr>
              <a:t> B “;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else {</a:t>
            </a:r>
          </a:p>
          <a:p>
            <a:pPr lvl="2">
              <a:lnSpc>
                <a:spcPct val="90000"/>
              </a:lnSpc>
            </a:pPr>
            <a:r>
              <a:rPr lang="en-US" altLang="zh-TW" dirty="0">
                <a:latin typeface="Times New Roman" panose="02020603050405020304" pitchFamily="18" charset="0"/>
              </a:rPr>
              <a:t>    echo “A </a:t>
            </a:r>
            <a:r>
              <a:rPr lang="zh-TW" altLang="en-US" dirty="0">
                <a:latin typeface="Times New Roman" panose="02020603050405020304" pitchFamily="18" charset="0"/>
              </a:rPr>
              <a:t>沒有大於</a:t>
            </a:r>
            <a:r>
              <a:rPr lang="en-US" altLang="zh-TW" dirty="0">
                <a:latin typeface="Times New Roman" panose="02020603050405020304" pitchFamily="18" charset="0"/>
              </a:rPr>
              <a:t> B “;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}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echo "</a:t>
            </a:r>
            <a:r>
              <a:rPr lang="zh-TW" altLang="en-US" dirty="0">
                <a:latin typeface="Times New Roman" panose="02020603050405020304" pitchFamily="18" charset="0"/>
              </a:rPr>
              <a:t>結束</a:t>
            </a:r>
            <a:r>
              <a:rPr lang="en-US" altLang="zh-TW" dirty="0">
                <a:latin typeface="Times New Roman" panose="02020603050405020304" pitchFamily="18" charset="0"/>
              </a:rPr>
              <a:t>" ;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19C742D0-ED6D-4A77-9275-049A79054BB0}"/>
              </a:ext>
            </a:extLst>
          </p:cNvPr>
          <p:cNvSpPr/>
          <p:nvPr/>
        </p:nvSpPr>
        <p:spPr>
          <a:xfrm>
            <a:off x="4018178" y="4095954"/>
            <a:ext cx="1687398" cy="720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程式敘述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xmlns="" id="{F2FB2A90-29B8-8C5F-C35F-CB30A41EDA93}"/>
              </a:ext>
            </a:extLst>
          </p:cNvPr>
          <p:cNvCxnSpPr>
            <a:endCxn id="4" idx="3"/>
          </p:cNvCxnSpPr>
          <p:nvPr/>
        </p:nvCxnSpPr>
        <p:spPr>
          <a:xfrm flipH="1">
            <a:off x="5705576" y="4456442"/>
            <a:ext cx="4029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xmlns="" id="{9EBA7F05-B163-5338-87D4-0E5A29B0B9DA}"/>
              </a:ext>
            </a:extLst>
          </p:cNvPr>
          <p:cNvCxnSpPr>
            <a:stCxn id="4" idx="2"/>
            <a:endCxn id="7" idx="2"/>
          </p:cNvCxnSpPr>
          <p:nvPr/>
        </p:nvCxnSpPr>
        <p:spPr>
          <a:xfrm rot="16200000" flipH="1">
            <a:off x="5193493" y="4485312"/>
            <a:ext cx="969960" cy="16331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0735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344D2C8-00D4-3B6D-E841-0646C09B3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if… elseif…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2F9F5783-C539-BBE8-2CCA-EB0D7687D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65" y="872156"/>
            <a:ext cx="10701092" cy="1040216"/>
          </a:xfrm>
        </p:spPr>
        <p:txBody>
          <a:bodyPr>
            <a:normAutofit/>
          </a:bodyPr>
          <a:lstStyle/>
          <a:p>
            <a:r>
              <a:rPr lang="zh-TW" altLang="en-US" dirty="0"/>
              <a:t>多向選擇 </a:t>
            </a:r>
            <a:r>
              <a:rPr lang="en-US" altLang="zh-TW" dirty="0"/>
              <a:t>if…elseif…else</a:t>
            </a:r>
            <a:r>
              <a:rPr lang="zh-TW" altLang="en-US" dirty="0"/>
              <a:t>：如果</a:t>
            </a:r>
            <a:r>
              <a:rPr lang="en-US" altLang="zh-TW" dirty="0"/>
              <a:t>…</a:t>
            </a:r>
            <a:r>
              <a:rPr lang="zh-TW" altLang="en-US" dirty="0"/>
              <a:t>就</a:t>
            </a:r>
            <a:r>
              <a:rPr lang="en-US" altLang="zh-TW" dirty="0"/>
              <a:t>…</a:t>
            </a:r>
            <a:r>
              <a:rPr lang="zh-TW" altLang="en-US" dirty="0"/>
              <a:t>如果</a:t>
            </a:r>
            <a:r>
              <a:rPr lang="en-US" altLang="zh-TW" dirty="0"/>
              <a:t>…</a:t>
            </a:r>
            <a:r>
              <a:rPr lang="zh-TW" altLang="en-US" dirty="0"/>
              <a:t>就</a:t>
            </a:r>
            <a:r>
              <a:rPr lang="en-US" altLang="zh-TW" dirty="0"/>
              <a:t>…</a:t>
            </a:r>
            <a:r>
              <a:rPr lang="zh-TW" altLang="en-US" dirty="0"/>
              <a:t>否則</a:t>
            </a:r>
            <a:r>
              <a:rPr lang="en-US" altLang="zh-TW" dirty="0"/>
              <a:t>…</a:t>
            </a:r>
          </a:p>
          <a:p>
            <a:r>
              <a:rPr lang="zh-TW" altLang="en-US" dirty="0"/>
              <a:t>以下是多向選擇流程控制的流程圖 </a:t>
            </a:r>
            <a:r>
              <a:rPr lang="en-US" altLang="zh-TW" dirty="0"/>
              <a:t>(</a:t>
            </a:r>
            <a:r>
              <a:rPr lang="zh-TW" altLang="en-US" dirty="0"/>
              <a:t>以設定 </a:t>
            </a:r>
            <a:r>
              <a:rPr lang="en-US" altLang="zh-TW" dirty="0"/>
              <a:t>3 </a:t>
            </a:r>
            <a:r>
              <a:rPr lang="zh-TW" altLang="en-US" dirty="0"/>
              <a:t>個條件式為例</a:t>
            </a:r>
            <a:r>
              <a:rPr lang="en-US" altLang="zh-TW" dirty="0"/>
              <a:t>)</a:t>
            </a:r>
            <a:r>
              <a:rPr lang="zh-TW" altLang="en-US" dirty="0"/>
              <a:t>：</a:t>
            </a: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xmlns="" id="{782CD52F-123C-68EE-CE96-2CDE927EE0AE}"/>
              </a:ext>
            </a:extLst>
          </p:cNvPr>
          <p:cNvSpPr/>
          <p:nvPr/>
        </p:nvSpPr>
        <p:spPr>
          <a:xfrm>
            <a:off x="4854802" y="1986528"/>
            <a:ext cx="989815" cy="9403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xmlns="" id="{7B13DD1B-11A9-3EDB-011C-4B28CC0CD95F}"/>
              </a:ext>
            </a:extLst>
          </p:cNvPr>
          <p:cNvSpPr/>
          <p:nvPr/>
        </p:nvSpPr>
        <p:spPr>
          <a:xfrm>
            <a:off x="4468304" y="3426650"/>
            <a:ext cx="1762813" cy="72097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條件式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xmlns="" id="{7B55D2BA-E795-07F2-E9A6-4ED247E2B8FE}"/>
              </a:ext>
            </a:extLst>
          </p:cNvPr>
          <p:cNvSpPr/>
          <p:nvPr/>
        </p:nvSpPr>
        <p:spPr>
          <a:xfrm>
            <a:off x="6972980" y="5746499"/>
            <a:ext cx="989815" cy="94032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xmlns="" id="{20685347-AFAC-D626-BD16-4B4610EC951E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349710" y="2926852"/>
            <a:ext cx="1" cy="4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xmlns="" id="{CAFF1A3F-932E-8819-FD2B-082075F6226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231117" y="3787138"/>
            <a:ext cx="3558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xmlns="" id="{A9D195B1-918C-6434-021B-0BD4C65929B4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49708" y="4147625"/>
            <a:ext cx="3" cy="4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xmlns="" id="{297A7474-5025-0EE5-B851-FE2E1F15FA15}"/>
              </a:ext>
            </a:extLst>
          </p:cNvPr>
          <p:cNvSpPr txBox="1"/>
          <p:nvPr/>
        </p:nvSpPr>
        <p:spPr>
          <a:xfrm>
            <a:off x="4160582" y="41823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符合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xmlns="" id="{EB67E15A-1EA6-35F6-8407-FB668D328051}"/>
              </a:ext>
            </a:extLst>
          </p:cNvPr>
          <p:cNvSpPr txBox="1"/>
          <p:nvPr/>
        </p:nvSpPr>
        <p:spPr>
          <a:xfrm flipH="1">
            <a:off x="6129288" y="3307183"/>
            <a:ext cx="1254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假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xmlns="" id="{BEAC6819-E190-4678-B37F-33542B3E7967}"/>
              </a:ext>
            </a:extLst>
          </p:cNvPr>
          <p:cNvSpPr txBox="1"/>
          <p:nvPr/>
        </p:nvSpPr>
        <p:spPr>
          <a:xfrm>
            <a:off x="565509" y="1807777"/>
            <a:ext cx="3788234" cy="4178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2500" b="1" u="sng" dirty="0"/>
              <a:t>程式範例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$A = 60 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if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dirty="0">
                <a:latin typeface="Times New Roman" panose="02020603050405020304" pitchFamily="18" charset="0"/>
              </a:rPr>
              <a:t>$A &gt;=  80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) {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    echo “A</a:t>
            </a:r>
            <a:r>
              <a:rPr lang="zh-TW" altLang="en-US" dirty="0">
                <a:latin typeface="Times New Roman" panose="02020603050405020304" pitchFamily="18" charset="0"/>
              </a:rPr>
              <a:t>級分</a:t>
            </a:r>
            <a:r>
              <a:rPr lang="en-US" altLang="zh-TW" dirty="0">
                <a:latin typeface="Times New Roman" panose="02020603050405020304" pitchFamily="18" charset="0"/>
              </a:rPr>
              <a:t>”;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elseif 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dirty="0">
                <a:latin typeface="Times New Roman" panose="02020603050405020304" pitchFamily="18" charset="0"/>
              </a:rPr>
              <a:t>$A&gt;=70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) {</a:t>
            </a:r>
          </a:p>
          <a:p>
            <a:pPr lvl="2">
              <a:lnSpc>
                <a:spcPct val="90000"/>
              </a:lnSpc>
            </a:pPr>
            <a:r>
              <a:rPr lang="en-US" altLang="zh-TW" dirty="0">
                <a:latin typeface="Times New Roman" panose="02020603050405020304" pitchFamily="18" charset="0"/>
              </a:rPr>
              <a:t>    echo “B</a:t>
            </a:r>
            <a:r>
              <a:rPr lang="zh-TW" altLang="en-US" dirty="0">
                <a:latin typeface="Times New Roman" panose="02020603050405020304" pitchFamily="18" charset="0"/>
              </a:rPr>
              <a:t>級分</a:t>
            </a:r>
            <a:r>
              <a:rPr lang="en-US" altLang="zh-TW" dirty="0">
                <a:latin typeface="Times New Roman" panose="02020603050405020304" pitchFamily="18" charset="0"/>
              </a:rPr>
              <a:t>“;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elseif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TW" dirty="0">
                <a:latin typeface="Times New Roman" panose="02020603050405020304" pitchFamily="18" charset="0"/>
              </a:rPr>
              <a:t>$A&gt;=60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TW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{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    echo “C</a:t>
            </a:r>
            <a:r>
              <a:rPr lang="zh-TW" altLang="en-US" dirty="0">
                <a:latin typeface="Times New Roman" panose="02020603050405020304" pitchFamily="18" charset="0"/>
              </a:rPr>
              <a:t>級分</a:t>
            </a:r>
            <a:r>
              <a:rPr lang="en-US" altLang="zh-TW" dirty="0">
                <a:latin typeface="Times New Roman" panose="02020603050405020304" pitchFamily="18" charset="0"/>
              </a:rPr>
              <a:t>”;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}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else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{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    echo “D</a:t>
            </a:r>
            <a:r>
              <a:rPr lang="zh-TW" altLang="en-US" dirty="0">
                <a:latin typeface="Times New Roman" panose="02020603050405020304" pitchFamily="18" charset="0"/>
              </a:rPr>
              <a:t>級分</a:t>
            </a:r>
            <a:r>
              <a:rPr lang="en-US" altLang="zh-TW" dirty="0">
                <a:latin typeface="Times New Roman" panose="02020603050405020304" pitchFamily="18" charset="0"/>
              </a:rPr>
              <a:t>”;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echo “&lt;</a:t>
            </a:r>
            <a:r>
              <a:rPr lang="en-US" altLang="zh-TW" dirty="0" err="1">
                <a:latin typeface="Times New Roman" panose="02020603050405020304" pitchFamily="18" charset="0"/>
              </a:rPr>
              <a:t>br</a:t>
            </a:r>
            <a:r>
              <a:rPr lang="en-US" altLang="zh-TW" dirty="0">
                <a:latin typeface="Times New Roman" panose="02020603050405020304" pitchFamily="18" charset="0"/>
              </a:rPr>
              <a:t>&gt;</a:t>
            </a:r>
            <a:r>
              <a:rPr lang="zh-TW" altLang="en-US" dirty="0">
                <a:latin typeface="Times New Roman" panose="02020603050405020304" pitchFamily="18" charset="0"/>
              </a:rPr>
              <a:t>結束</a:t>
            </a:r>
            <a:r>
              <a:rPr lang="en-US" altLang="zh-TW" dirty="0">
                <a:latin typeface="Times New Roman" panose="02020603050405020304" pitchFamily="18" charset="0"/>
              </a:rPr>
              <a:t>" ;</a:t>
            </a:r>
            <a:endParaRPr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98C2B0B6-14F6-3E6A-E6FB-CF2005410EE1}"/>
              </a:ext>
            </a:extLst>
          </p:cNvPr>
          <p:cNvSpPr/>
          <p:nvPr/>
        </p:nvSpPr>
        <p:spPr>
          <a:xfrm>
            <a:off x="4537647" y="4646623"/>
            <a:ext cx="1687398" cy="720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程式敘述</a:t>
            </a:r>
          </a:p>
        </p:txBody>
      </p:sp>
      <p:sp>
        <p:nvSpPr>
          <p:cNvPr id="26" name="菱形 25">
            <a:extLst>
              <a:ext uri="{FF2B5EF4-FFF2-40B4-BE49-F238E27FC236}">
                <a16:creationId xmlns:a16="http://schemas.microsoft.com/office/drawing/2014/main" xmlns="" id="{931BD8BE-86E8-D4B0-A2CC-09E5B9AA30D9}"/>
              </a:ext>
            </a:extLst>
          </p:cNvPr>
          <p:cNvSpPr/>
          <p:nvPr/>
        </p:nvSpPr>
        <p:spPr>
          <a:xfrm>
            <a:off x="6586978" y="3426649"/>
            <a:ext cx="1762813" cy="72097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條件式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菱形 26">
            <a:extLst>
              <a:ext uri="{FF2B5EF4-FFF2-40B4-BE49-F238E27FC236}">
                <a16:creationId xmlns:a16="http://schemas.microsoft.com/office/drawing/2014/main" xmlns="" id="{4C494DB7-2A32-A189-673F-805D3D0685C8}"/>
              </a:ext>
            </a:extLst>
          </p:cNvPr>
          <p:cNvSpPr/>
          <p:nvPr/>
        </p:nvSpPr>
        <p:spPr>
          <a:xfrm>
            <a:off x="8507202" y="3426649"/>
            <a:ext cx="1762813" cy="72097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條件式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C5C73FA6-6306-A11E-81CA-4579D82F36E9}"/>
              </a:ext>
            </a:extLst>
          </p:cNvPr>
          <p:cNvSpPr/>
          <p:nvPr/>
        </p:nvSpPr>
        <p:spPr>
          <a:xfrm>
            <a:off x="6586978" y="4632488"/>
            <a:ext cx="1687398" cy="720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程式敘述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17284212-21F1-A8A0-2CDC-99939B872A3C}"/>
              </a:ext>
            </a:extLst>
          </p:cNvPr>
          <p:cNvSpPr/>
          <p:nvPr/>
        </p:nvSpPr>
        <p:spPr>
          <a:xfrm>
            <a:off x="8582617" y="4598792"/>
            <a:ext cx="1687398" cy="720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程式敘述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3DC73B21-6CBC-4EC4-B24A-1F92EAAA4CE5}"/>
              </a:ext>
            </a:extLst>
          </p:cNvPr>
          <p:cNvSpPr/>
          <p:nvPr/>
        </p:nvSpPr>
        <p:spPr>
          <a:xfrm>
            <a:off x="10479275" y="4598792"/>
            <a:ext cx="1687398" cy="720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程式敘述</a:t>
            </a: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xmlns="" id="{255A03E7-5B02-37BD-9539-00B222F46EDA}"/>
              </a:ext>
            </a:extLst>
          </p:cNvPr>
          <p:cNvCxnSpPr>
            <a:cxnSpLocks/>
          </p:cNvCxnSpPr>
          <p:nvPr/>
        </p:nvCxnSpPr>
        <p:spPr>
          <a:xfrm flipH="1">
            <a:off x="7467888" y="4154048"/>
            <a:ext cx="3" cy="4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xmlns="" id="{A6233D4B-F08A-E577-E75A-67B2CFE048AA}"/>
              </a:ext>
            </a:extLst>
          </p:cNvPr>
          <p:cNvCxnSpPr>
            <a:cxnSpLocks/>
          </p:cNvCxnSpPr>
          <p:nvPr/>
        </p:nvCxnSpPr>
        <p:spPr>
          <a:xfrm flipH="1">
            <a:off x="9388605" y="4150037"/>
            <a:ext cx="3" cy="499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xmlns="" id="{106BF4CE-A0D6-E63D-DDC0-8EF5AA5EBAC3}"/>
              </a:ext>
            </a:extLst>
          </p:cNvPr>
          <p:cNvSpPr txBox="1"/>
          <p:nvPr/>
        </p:nvSpPr>
        <p:spPr>
          <a:xfrm>
            <a:off x="6278759" y="41712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符合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xmlns="" id="{08AA0A89-5BC1-2552-2545-51F39530D653}"/>
              </a:ext>
            </a:extLst>
          </p:cNvPr>
          <p:cNvSpPr txBox="1"/>
          <p:nvPr/>
        </p:nvSpPr>
        <p:spPr>
          <a:xfrm>
            <a:off x="8132552" y="41712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符合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xmlns="" id="{A7F46407-47A5-A251-5B10-CB6EAB093065}"/>
              </a:ext>
            </a:extLst>
          </p:cNvPr>
          <p:cNvCxnSpPr>
            <a:cxnSpLocks/>
          </p:cNvCxnSpPr>
          <p:nvPr/>
        </p:nvCxnSpPr>
        <p:spPr>
          <a:xfrm>
            <a:off x="8274376" y="3787135"/>
            <a:ext cx="3082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xmlns="" id="{DCCA93AC-9A35-09CF-C89F-D154A8FB2A10}"/>
              </a:ext>
            </a:extLst>
          </p:cNvPr>
          <p:cNvSpPr txBox="1"/>
          <p:nvPr/>
        </p:nvSpPr>
        <p:spPr>
          <a:xfrm flipH="1">
            <a:off x="8222530" y="3334759"/>
            <a:ext cx="1254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假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xmlns="" id="{EE6A3A27-4476-BD58-C399-FED40BFC40E5}"/>
              </a:ext>
            </a:extLst>
          </p:cNvPr>
          <p:cNvSpPr txBox="1"/>
          <p:nvPr/>
        </p:nvSpPr>
        <p:spPr>
          <a:xfrm flipH="1">
            <a:off x="10068228" y="3307183"/>
            <a:ext cx="1254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假</a:t>
            </a:r>
          </a:p>
        </p:txBody>
      </p:sp>
      <p:cxnSp>
        <p:nvCxnSpPr>
          <p:cNvPr id="42" name="接點: 肘形 41">
            <a:extLst>
              <a:ext uri="{FF2B5EF4-FFF2-40B4-BE49-F238E27FC236}">
                <a16:creationId xmlns:a16="http://schemas.microsoft.com/office/drawing/2014/main" xmlns="" id="{09C98974-0B3B-5BB7-EBBA-CFA6D2394BB6}"/>
              </a:ext>
            </a:extLst>
          </p:cNvPr>
          <p:cNvCxnSpPr>
            <a:stCxn id="24" idx="2"/>
            <a:endCxn id="7" idx="2"/>
          </p:cNvCxnSpPr>
          <p:nvPr/>
        </p:nvCxnSpPr>
        <p:spPr>
          <a:xfrm rot="16200000" flipH="1">
            <a:off x="5752632" y="4996312"/>
            <a:ext cx="849063" cy="15916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xmlns="" id="{1749C21F-932D-1FCB-C9DE-03D9C12B2EBF}"/>
              </a:ext>
            </a:extLst>
          </p:cNvPr>
          <p:cNvCxnSpPr>
            <a:stCxn id="28" idx="2"/>
            <a:endCxn id="7" idx="0"/>
          </p:cNvCxnSpPr>
          <p:nvPr/>
        </p:nvCxnSpPr>
        <p:spPr>
          <a:xfrm rot="16200000" flipH="1">
            <a:off x="7252764" y="5531375"/>
            <a:ext cx="393036" cy="372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接點: 肘形 45">
            <a:extLst>
              <a:ext uri="{FF2B5EF4-FFF2-40B4-BE49-F238E27FC236}">
                <a16:creationId xmlns:a16="http://schemas.microsoft.com/office/drawing/2014/main" xmlns="" id="{98E53992-0310-6247-B044-47147962F9B9}"/>
              </a:ext>
            </a:extLst>
          </p:cNvPr>
          <p:cNvCxnSpPr>
            <a:stCxn id="29" idx="2"/>
            <a:endCxn id="7" idx="6"/>
          </p:cNvCxnSpPr>
          <p:nvPr/>
        </p:nvCxnSpPr>
        <p:spPr>
          <a:xfrm rot="5400000">
            <a:off x="8246109" y="5036454"/>
            <a:ext cx="896894" cy="14635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接點: 肘形 47">
            <a:extLst>
              <a:ext uri="{FF2B5EF4-FFF2-40B4-BE49-F238E27FC236}">
                <a16:creationId xmlns:a16="http://schemas.microsoft.com/office/drawing/2014/main" xmlns="" id="{F8DE306C-8D94-1D51-4AB2-E33314FD1469}"/>
              </a:ext>
            </a:extLst>
          </p:cNvPr>
          <p:cNvCxnSpPr>
            <a:stCxn id="30" idx="2"/>
            <a:endCxn id="7" idx="6"/>
          </p:cNvCxnSpPr>
          <p:nvPr/>
        </p:nvCxnSpPr>
        <p:spPr>
          <a:xfrm rot="5400000">
            <a:off x="9194438" y="4088125"/>
            <a:ext cx="896894" cy="33601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接點: 肘形 50">
            <a:extLst>
              <a:ext uri="{FF2B5EF4-FFF2-40B4-BE49-F238E27FC236}">
                <a16:creationId xmlns:a16="http://schemas.microsoft.com/office/drawing/2014/main" xmlns="" id="{7FADBA29-ACE7-4881-3086-86247748E453}"/>
              </a:ext>
            </a:extLst>
          </p:cNvPr>
          <p:cNvCxnSpPr>
            <a:stCxn id="27" idx="3"/>
            <a:endCxn id="30" idx="0"/>
          </p:cNvCxnSpPr>
          <p:nvPr/>
        </p:nvCxnSpPr>
        <p:spPr>
          <a:xfrm>
            <a:off x="10270015" y="3787137"/>
            <a:ext cx="1052959" cy="8116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>
            <a:hlinkClick r:id="rId2" action="ppaction://hlinkfile"/>
            <a:extLst>
              <a:ext uri="{FF2B5EF4-FFF2-40B4-BE49-F238E27FC236}">
                <a16:creationId xmlns:a16="http://schemas.microsoft.com/office/drawing/2014/main" xmlns="" id="{48507875-73FA-4829-147D-E78A0957ADE2}"/>
              </a:ext>
            </a:extLst>
          </p:cNvPr>
          <p:cNvSpPr txBox="1"/>
          <p:nvPr/>
        </p:nvSpPr>
        <p:spPr>
          <a:xfrm>
            <a:off x="333461" y="598584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CH02_10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29381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167E9A8-FA37-0AC5-3920-57FF7457E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switch </a:t>
            </a:r>
            <a:r>
              <a:rPr lang="zh-TW" altLang="en-US" dirty="0"/>
              <a:t>條件控制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AF40E5FA-779C-5255-100C-A5A47765A9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24643" y="651316"/>
            <a:ext cx="9012810" cy="5896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2500" b="1" u="sng" dirty="0"/>
              <a:t>程式範例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$A = 4 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Switch ($A) {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Case 1: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	echo "A</a:t>
            </a:r>
            <a:r>
              <a:rPr lang="zh-TW" altLang="en-US" dirty="0">
                <a:latin typeface="Times New Roman" panose="02020603050405020304" pitchFamily="18" charset="0"/>
              </a:rPr>
              <a:t>級分</a:t>
            </a:r>
            <a:r>
              <a:rPr lang="en-US" altLang="zh-TW" dirty="0">
                <a:latin typeface="Times New Roman" panose="02020603050405020304" pitchFamily="18" charset="0"/>
              </a:rPr>
              <a:t>";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	break;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Case 2: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	echo "</a:t>
            </a:r>
            <a:r>
              <a:rPr lang="zh-TW" altLang="en-US" dirty="0">
                <a:latin typeface="Times New Roman" panose="02020603050405020304" pitchFamily="18" charset="0"/>
              </a:rPr>
              <a:t>級分</a:t>
            </a:r>
            <a:r>
              <a:rPr lang="en-US" altLang="zh-TW" dirty="0">
                <a:latin typeface="Times New Roman" panose="02020603050405020304" pitchFamily="18" charset="0"/>
              </a:rPr>
              <a:t>";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	break;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Case 3: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	echo "C</a:t>
            </a:r>
            <a:r>
              <a:rPr lang="zh-TW" altLang="en-US" dirty="0">
                <a:latin typeface="Times New Roman" panose="02020603050405020304" pitchFamily="18" charset="0"/>
              </a:rPr>
              <a:t>級分</a:t>
            </a:r>
            <a:r>
              <a:rPr lang="en-US" altLang="zh-TW" dirty="0">
                <a:latin typeface="Times New Roman" panose="02020603050405020304" pitchFamily="18" charset="0"/>
              </a:rPr>
              <a:t>";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	break;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Default: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   echo "D</a:t>
            </a:r>
            <a:r>
              <a:rPr lang="zh-TW" altLang="en-US" dirty="0">
                <a:latin typeface="Times New Roman" panose="02020603050405020304" pitchFamily="18" charset="0"/>
              </a:rPr>
              <a:t>級分</a:t>
            </a:r>
            <a:r>
              <a:rPr lang="en-US" altLang="zh-TW" dirty="0">
                <a:latin typeface="Times New Roman" panose="02020603050405020304" pitchFamily="18" charset="0"/>
              </a:rPr>
              <a:t>";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}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hlinkClick r:id="rId2" action="ppaction://hlinkfile"/>
              </a:rPr>
              <a:t>CH02_11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6598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C486376-0B23-66EF-FFD1-D236241BE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迴圈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192E5FC3-DC7F-E2FC-C280-46C7094F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在程式流程控制中，另一個相當重要的結構就是迴圈。</a:t>
            </a:r>
            <a:endParaRPr lang="en-US" altLang="zh-TW" dirty="0"/>
          </a:p>
          <a:p>
            <a:r>
              <a:rPr lang="zh-TW" altLang="en-US" dirty="0"/>
              <a:t>迴圈如同播放音樂時重複撥放的功能相同，有時我們需要單曲撥放，有時需要同一目錄循環撥放。</a:t>
            </a:r>
            <a:endParaRPr lang="en-US" altLang="zh-TW" dirty="0"/>
          </a:p>
          <a:p>
            <a:r>
              <a:rPr lang="zh-TW" altLang="en-US" dirty="0"/>
              <a:t>所以如果某一程式段落或單一指令必須重複執行，我們就要用到迴圈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while </a:t>
            </a:r>
            <a:r>
              <a:rPr lang="zh-TW" altLang="en-US" dirty="0">
                <a:solidFill>
                  <a:srgbClr val="FF0000"/>
                </a:solidFill>
              </a:rPr>
              <a:t>迴圈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en-US" altLang="zh-TW" u="sng" dirty="0"/>
              <a:t>do…while</a:t>
            </a:r>
            <a:r>
              <a:rPr lang="zh-TW" altLang="en-US" u="sng" dirty="0"/>
              <a:t>迴圈</a:t>
            </a:r>
            <a:endParaRPr lang="en-US" altLang="zh-TW" u="sng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for </a:t>
            </a:r>
            <a:r>
              <a:rPr lang="zh-TW" altLang="en-US" dirty="0">
                <a:solidFill>
                  <a:srgbClr val="FF0000"/>
                </a:solidFill>
              </a:rPr>
              <a:t>計次迴圈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en-US" altLang="zh-TW" dirty="0"/>
              <a:t>FOREACH</a:t>
            </a:r>
            <a:r>
              <a:rPr lang="zh-TW" altLang="en-US" dirty="0"/>
              <a:t>迴圈</a:t>
            </a:r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3719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16A551E-03ED-B700-DD0F-201CB65EC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while </a:t>
            </a:r>
            <a:r>
              <a:rPr lang="zh-TW" altLang="en-US" dirty="0"/>
              <a:t>迴圈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56BB166-D0D2-562A-8C40-E880260C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範例利用 </a:t>
            </a:r>
            <a:r>
              <a:rPr lang="en-US" altLang="zh-TW" dirty="0"/>
              <a:t>while </a:t>
            </a:r>
            <a:r>
              <a:rPr lang="zh-TW" altLang="en-US" dirty="0"/>
              <a:t>迴圈顯示由 </a:t>
            </a:r>
            <a:r>
              <a:rPr lang="en-US" altLang="zh-TW" dirty="0"/>
              <a:t>1 </a:t>
            </a:r>
            <a:r>
              <a:rPr lang="zh-TW" altLang="en-US" dirty="0"/>
              <a:t>到 </a:t>
            </a:r>
            <a:r>
              <a:rPr lang="en-US" altLang="zh-TW" dirty="0"/>
              <a:t>100 </a:t>
            </a:r>
            <a:r>
              <a:rPr lang="zh-TW" altLang="en-US" dirty="0"/>
              <a:t>的數字。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	  $</a:t>
            </a:r>
            <a:r>
              <a:rPr lang="en-US" altLang="zh-TW" dirty="0" err="1"/>
              <a:t>i</a:t>
            </a:r>
            <a:r>
              <a:rPr lang="en-US" altLang="zh-TW" dirty="0"/>
              <a:t>=0;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       </a:t>
            </a:r>
            <a:r>
              <a:rPr lang="en-US" altLang="zh-TW" dirty="0"/>
              <a:t>While 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dirty="0"/>
              <a:t>$</a:t>
            </a:r>
            <a:r>
              <a:rPr lang="en-US" altLang="zh-TW" dirty="0" err="1"/>
              <a:t>i</a:t>
            </a:r>
            <a:r>
              <a:rPr lang="en-US" altLang="zh-TW" dirty="0"/>
              <a:t>&lt;100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US" altLang="zh-TW" dirty="0"/>
              <a:t>        $</a:t>
            </a:r>
            <a:r>
              <a:rPr lang="en-US" altLang="zh-TW" dirty="0" err="1"/>
              <a:t>i</a:t>
            </a:r>
            <a:r>
              <a:rPr lang="en-US" altLang="zh-TW" dirty="0"/>
              <a:t>=$i+1; //$</a:t>
            </a:r>
            <a:r>
              <a:rPr lang="en-US" altLang="zh-TW" dirty="0" err="1"/>
              <a:t>i</a:t>
            </a:r>
            <a:r>
              <a:rPr lang="en-US" altLang="zh-TW" dirty="0"/>
              <a:t>++ </a:t>
            </a:r>
            <a:r>
              <a:rPr lang="zh-TW" altLang="en-US" dirty="0"/>
              <a:t>也可</a:t>
            </a:r>
          </a:p>
          <a:p>
            <a:pPr marL="0" indent="0">
              <a:buNone/>
            </a:pPr>
            <a:r>
              <a:rPr lang="en-US" altLang="zh-TW" dirty="0" smtClean="0"/>
              <a:t>         print "\$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=$</a:t>
            </a:r>
            <a:r>
              <a:rPr lang="en-US" altLang="zh-TW" dirty="0"/>
              <a:t>i</a:t>
            </a:r>
            <a:r>
              <a:rPr lang="en-US" altLang="zh-TW" dirty="0" smtClean="0"/>
              <a:t>&lt;</a:t>
            </a:r>
            <a:r>
              <a:rPr lang="en-US" altLang="zh-TW" dirty="0" err="1" smtClean="0"/>
              <a:t>br</a:t>
            </a:r>
            <a:r>
              <a:rPr lang="en-US" altLang="zh-TW" dirty="0"/>
              <a:t>&gt;";</a:t>
            </a:r>
          </a:p>
          <a:p>
            <a:pPr marL="0" indent="0">
              <a:buNone/>
            </a:pPr>
            <a:r>
              <a:rPr lang="en-US" altLang="zh-TW" dirty="0"/>
              <a:t>       </a:t>
            </a:r>
            <a:r>
              <a:rPr lang="en-US" altLang="zh-TW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hlinkClick r:id="rId2" action="ppaction://hlinkfile"/>
              </a:rPr>
              <a:t>CH02_12</a:t>
            </a:r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32340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2F0D207-7937-008E-3210-F19259C49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While </a:t>
            </a:r>
            <a:r>
              <a:rPr lang="zh-TW" altLang="en-US" dirty="0"/>
              <a:t>迴圈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9CAFF60D-36D6-6FA3-6A16-AA275A823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51" y="830686"/>
            <a:ext cx="5041146" cy="551859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xmlns="" id="{E29E1FE6-7DA9-725F-9965-9BC765503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098" y="3244707"/>
            <a:ext cx="3679712" cy="314576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xmlns="" id="{EA2EFF97-7D1E-65CC-9705-8E88C79D1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094" y="830686"/>
            <a:ext cx="6638753" cy="232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474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F396916-6CFF-86BA-1DFF-166A6A5AC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計算</a:t>
            </a:r>
            <a:r>
              <a:rPr lang="en-US" altLang="zh-TW" dirty="0"/>
              <a:t>1~100</a:t>
            </a:r>
            <a:r>
              <a:rPr lang="zh-TW" altLang="en-US" dirty="0"/>
              <a:t>總和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36A92E88-C7CD-7CCF-1B21-E55E876D7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97" y="862883"/>
            <a:ext cx="3444222" cy="587276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F3C01048-8924-9E65-4D1A-6CB306F32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452" y="5295902"/>
            <a:ext cx="4801270" cy="106694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7F340B20-57F7-0C39-DED1-4E80D1738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373" y="318615"/>
            <a:ext cx="439163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484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151ED9C-C686-09FA-6B8F-92DA1EB9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 </a:t>
            </a:r>
            <a:r>
              <a:rPr lang="en-US" altLang="zh-TW" dirty="0"/>
              <a:t>while </a:t>
            </a:r>
            <a:r>
              <a:rPr lang="zh-TW" altLang="en-US" dirty="0"/>
              <a:t>輸出 </a:t>
            </a:r>
            <a:r>
              <a:rPr lang="en-US" altLang="zh-TW" dirty="0"/>
              <a:t>HTML 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C93F54FF-E157-C539-39A4-CB22C745C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80" y="740229"/>
            <a:ext cx="3804990" cy="586019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B0115985-D155-2FF3-1588-B10B67C6C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326" y="4347642"/>
            <a:ext cx="2751611" cy="225278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FC133367-4A4B-D441-BD31-3A5CF46B9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470" y="1274701"/>
            <a:ext cx="7525650" cy="264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425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16A551E-03ED-B700-DD0F-201CB65EC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do … while </a:t>
            </a:r>
            <a:r>
              <a:rPr lang="zh-TW" altLang="en-US" dirty="0"/>
              <a:t>迴圈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56BB166-D0D2-562A-8C40-E880260C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範例利用 </a:t>
            </a:r>
            <a:r>
              <a:rPr lang="en-US" altLang="zh-TW" dirty="0"/>
              <a:t>while </a:t>
            </a:r>
            <a:r>
              <a:rPr lang="zh-TW" altLang="en-US" dirty="0"/>
              <a:t>迴圈顯示由 </a:t>
            </a:r>
            <a:r>
              <a:rPr lang="en-US" altLang="zh-TW" dirty="0"/>
              <a:t>1 </a:t>
            </a:r>
            <a:r>
              <a:rPr lang="zh-TW" altLang="en-US" dirty="0"/>
              <a:t>到 </a:t>
            </a:r>
            <a:r>
              <a:rPr lang="en-US" altLang="zh-TW" dirty="0"/>
              <a:t>100 </a:t>
            </a:r>
            <a:r>
              <a:rPr lang="zh-TW" altLang="en-US" dirty="0"/>
              <a:t>的數字。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	  $</a:t>
            </a:r>
            <a:r>
              <a:rPr lang="en-US" altLang="zh-TW" dirty="0" err="1"/>
              <a:t>i</a:t>
            </a:r>
            <a:r>
              <a:rPr lang="en-US" altLang="zh-TW" dirty="0"/>
              <a:t>=0;</a:t>
            </a:r>
          </a:p>
          <a:p>
            <a:pPr marL="0" indent="0">
              <a:buNone/>
            </a:pPr>
            <a:r>
              <a:rPr lang="en-US" altLang="zh-TW" dirty="0"/>
              <a:t>	  $A=0;</a:t>
            </a:r>
          </a:p>
          <a:p>
            <a:pPr marL="0" indent="0">
              <a:buNone/>
            </a:pPr>
            <a:r>
              <a:rPr lang="en-US" altLang="zh-TW" dirty="0"/>
              <a:t>       do {</a:t>
            </a:r>
          </a:p>
          <a:p>
            <a:pPr marL="0" indent="0">
              <a:buNone/>
            </a:pPr>
            <a:r>
              <a:rPr lang="en-US" altLang="zh-TW" dirty="0"/>
              <a:t>        $</a:t>
            </a:r>
            <a:r>
              <a:rPr lang="en-US" altLang="zh-TW" dirty="0" err="1"/>
              <a:t>i</a:t>
            </a:r>
            <a:r>
              <a:rPr lang="en-US" altLang="zh-TW" dirty="0"/>
              <a:t>=$i+1; //$</a:t>
            </a:r>
            <a:r>
              <a:rPr lang="en-US" altLang="zh-TW" dirty="0" err="1"/>
              <a:t>i</a:t>
            </a:r>
            <a:r>
              <a:rPr lang="en-US" altLang="zh-TW" dirty="0"/>
              <a:t>++ </a:t>
            </a:r>
            <a:r>
              <a:rPr lang="zh-TW" altLang="en-US" dirty="0"/>
              <a:t>也可</a:t>
            </a:r>
          </a:p>
          <a:p>
            <a:pPr marL="0" indent="0">
              <a:buNone/>
            </a:pPr>
            <a:r>
              <a:rPr lang="zh-TW" altLang="en-US" dirty="0"/>
              <a:t>        </a:t>
            </a:r>
            <a:r>
              <a:rPr lang="en-US" altLang="zh-TW" dirty="0"/>
              <a:t>$A=$A+$</a:t>
            </a:r>
            <a:r>
              <a:rPr lang="en-US" altLang="zh-TW" dirty="0" err="1"/>
              <a:t>i</a:t>
            </a:r>
            <a:r>
              <a:rPr lang="en-US" altLang="zh-TW" dirty="0"/>
              <a:t>;</a:t>
            </a:r>
          </a:p>
          <a:p>
            <a:pPr marL="0" indent="0">
              <a:buNone/>
            </a:pPr>
            <a:r>
              <a:rPr lang="en-US" altLang="zh-TW" dirty="0"/>
              <a:t>        print "\$A=$A&lt;</a:t>
            </a:r>
            <a:r>
              <a:rPr lang="en-US" altLang="zh-TW" dirty="0" err="1"/>
              <a:t>br</a:t>
            </a:r>
            <a:r>
              <a:rPr lang="en-US" altLang="zh-TW" dirty="0"/>
              <a:t>&gt;";</a:t>
            </a:r>
          </a:p>
          <a:p>
            <a:pPr marL="0" indent="0">
              <a:buNone/>
            </a:pPr>
            <a:r>
              <a:rPr lang="en-US" altLang="zh-TW" dirty="0"/>
              <a:t>       }while ($</a:t>
            </a:r>
            <a:r>
              <a:rPr lang="en-US" altLang="zh-TW" dirty="0" err="1"/>
              <a:t>i</a:t>
            </a:r>
            <a:r>
              <a:rPr lang="en-US" altLang="zh-TW" dirty="0"/>
              <a:t>&lt;100) 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hlinkClick r:id="rId2" action="ppaction://hlinkfile"/>
              </a:rPr>
              <a:t>CH02_13</a:t>
            </a:r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0518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16A551E-03ED-B700-DD0F-201CB65EC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for </a:t>
            </a:r>
            <a:r>
              <a:rPr lang="zh-TW" altLang="en-US" dirty="0"/>
              <a:t>迴圈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56BB166-D0D2-562A-8C40-E880260C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範例利用 </a:t>
            </a:r>
            <a:r>
              <a:rPr lang="en-US" altLang="zh-TW" dirty="0"/>
              <a:t>for </a:t>
            </a:r>
            <a:r>
              <a:rPr lang="zh-TW" altLang="en-US" dirty="0"/>
              <a:t>迴圈顯示由 </a:t>
            </a:r>
            <a:r>
              <a:rPr lang="en-US" altLang="zh-TW" dirty="0"/>
              <a:t>1 </a:t>
            </a:r>
            <a:r>
              <a:rPr lang="zh-TW" altLang="en-US" dirty="0"/>
              <a:t>到 </a:t>
            </a:r>
            <a:r>
              <a:rPr lang="en-US" altLang="zh-TW" dirty="0"/>
              <a:t>100 </a:t>
            </a:r>
            <a:r>
              <a:rPr lang="zh-TW" altLang="en-US" dirty="0"/>
              <a:t>的數字。</a:t>
            </a: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	  $A=0;</a:t>
            </a:r>
          </a:p>
          <a:p>
            <a:pPr marL="0" indent="0">
              <a:buNone/>
            </a:pPr>
            <a:r>
              <a:rPr lang="en-US" altLang="zh-TW" dirty="0"/>
              <a:t>       for ($</a:t>
            </a:r>
            <a:r>
              <a:rPr lang="en-US" altLang="zh-TW" dirty="0" err="1"/>
              <a:t>i</a:t>
            </a:r>
            <a:r>
              <a:rPr lang="en-US" altLang="zh-TW" dirty="0"/>
              <a:t>=1;$</a:t>
            </a:r>
            <a:r>
              <a:rPr lang="en-US" altLang="zh-TW" dirty="0" err="1"/>
              <a:t>i</a:t>
            </a:r>
            <a:r>
              <a:rPr lang="en-US" altLang="zh-TW" dirty="0"/>
              <a:t>&lt;=100;$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=$i+1</a:t>
            </a:r>
            <a:r>
              <a:rPr lang="en-US" altLang="zh-TW" dirty="0" smtClean="0"/>
              <a:t>) </a:t>
            </a:r>
            <a:r>
              <a:rPr lang="en-US" altLang="zh-TW" dirty="0"/>
              <a:t>{</a:t>
            </a:r>
          </a:p>
          <a:p>
            <a:pPr marL="0" indent="0">
              <a:buNone/>
            </a:pPr>
            <a:r>
              <a:rPr lang="en-US" altLang="zh-TW" dirty="0"/>
              <a:t>         $A=$A+$</a:t>
            </a:r>
            <a:r>
              <a:rPr lang="en-US" altLang="zh-TW" dirty="0" err="1"/>
              <a:t>i</a:t>
            </a:r>
            <a:r>
              <a:rPr lang="en-US" altLang="zh-TW" dirty="0"/>
              <a:t>;</a:t>
            </a:r>
          </a:p>
          <a:p>
            <a:pPr marL="0" indent="0">
              <a:buNone/>
            </a:pPr>
            <a:r>
              <a:rPr lang="en-US" altLang="zh-TW" dirty="0"/>
              <a:t>         print "\$A=$A&lt;</a:t>
            </a:r>
            <a:r>
              <a:rPr lang="en-US" altLang="zh-TW" dirty="0" err="1"/>
              <a:t>br</a:t>
            </a:r>
            <a:r>
              <a:rPr lang="en-US" altLang="zh-TW" dirty="0"/>
              <a:t>&gt;";</a:t>
            </a:r>
          </a:p>
          <a:p>
            <a:pPr marL="0" indent="0">
              <a:buNone/>
            </a:pPr>
            <a:r>
              <a:rPr lang="en-US" altLang="zh-TW" dirty="0"/>
              <a:t>        }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hlinkClick r:id="rId2" action="ppaction://hlinkfile"/>
              </a:rPr>
              <a:t>CH02_14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594990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8B9AB57-642C-9564-4853-BF534594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 </a:t>
            </a:r>
            <a:r>
              <a:rPr lang="zh-TW" altLang="en-US" dirty="0"/>
              <a:t>迴圈 九九乘法表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15CE1A63-AC0B-9448-DC3F-E251C3EF0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64" y="796107"/>
            <a:ext cx="4687273" cy="567048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513677BF-D3A8-B295-ABCC-B9956681A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266" y="740229"/>
            <a:ext cx="5765769" cy="376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516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9CD2EDD-0761-D081-7C36-38DF4FBC8A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網頁傳值</a:t>
            </a:r>
          </a:p>
        </p:txBody>
      </p:sp>
    </p:spTree>
    <p:extLst>
      <p:ext uri="{BB962C8B-B14F-4D97-AF65-F5344CB8AC3E}">
        <p14:creationId xmlns:p14="http://schemas.microsoft.com/office/powerpoint/2010/main" val="36796835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B02BD53-3688-2405-89FB-0DAD8FFC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 &lt;form&gt;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9198C37-CE29-E310-F225-371259BE3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在網頁中用來取得使用者輸入的資訊，主要透過表單</a:t>
            </a:r>
            <a:endParaRPr lang="en-US" altLang="zh-TW" dirty="0"/>
          </a:p>
          <a:p>
            <a:r>
              <a:rPr lang="zh-TW" altLang="en-US" dirty="0"/>
              <a:t>使用者填寫完表單後，按下送出按鈕，將資訊傳輸給</a:t>
            </a:r>
            <a:r>
              <a:rPr lang="en-US" altLang="zh-TW" dirty="0"/>
              <a:t>.</a:t>
            </a:r>
            <a:r>
              <a:rPr lang="en-US" altLang="zh-TW" dirty="0" err="1"/>
              <a:t>php</a:t>
            </a:r>
            <a:r>
              <a:rPr lang="zh-TW" altLang="en-US" dirty="0"/>
              <a:t>加以處理。</a:t>
            </a:r>
          </a:p>
          <a:p>
            <a:r>
              <a:rPr lang="en-US" altLang="zh-TW" dirty="0"/>
              <a:t>HTML</a:t>
            </a:r>
            <a:r>
              <a:rPr lang="zh-TW" altLang="en-US" dirty="0"/>
              <a:t>語法：</a:t>
            </a:r>
          </a:p>
          <a:p>
            <a:pPr marL="0" indent="0">
              <a:buNone/>
            </a:pPr>
            <a:r>
              <a:rPr lang="en-US" altLang="zh-TW" dirty="0"/>
              <a:t>	&lt;form method="</a:t>
            </a:r>
            <a:r>
              <a:rPr lang="zh-TW" altLang="en-US" dirty="0"/>
              <a:t>傳輸方法</a:t>
            </a:r>
            <a:r>
              <a:rPr lang="en-US" altLang="zh-TW" dirty="0"/>
              <a:t>" action="</a:t>
            </a:r>
            <a:r>
              <a:rPr lang="zh-TW" altLang="en-US" dirty="0"/>
              <a:t>目標頁面</a:t>
            </a:r>
            <a:r>
              <a:rPr lang="en-US" altLang="zh-TW" dirty="0" err="1"/>
              <a:t>xxx.php</a:t>
            </a:r>
            <a:r>
              <a:rPr lang="en-US" altLang="zh-TW" dirty="0"/>
              <a:t>" &gt;</a:t>
            </a:r>
          </a:p>
          <a:p>
            <a:pPr marL="0" indent="0">
              <a:buNone/>
            </a:pPr>
            <a:r>
              <a:rPr lang="en-US" altLang="zh-TW" dirty="0"/>
              <a:t>    		&lt;input…&gt;</a:t>
            </a:r>
          </a:p>
          <a:p>
            <a:pPr marL="0" indent="0">
              <a:buNone/>
            </a:pPr>
            <a:r>
              <a:rPr lang="en-US" altLang="zh-TW" dirty="0"/>
              <a:t>       	     …</a:t>
            </a:r>
          </a:p>
          <a:p>
            <a:pPr marL="0" indent="0">
              <a:buNone/>
            </a:pPr>
            <a:r>
              <a:rPr lang="en-US" altLang="zh-TW" dirty="0"/>
              <a:t>	&lt;/form&gt;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23923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9413EBF-42FA-2C78-58BB-197A1127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GET</a:t>
            </a:r>
            <a:r>
              <a:rPr lang="zh-TW" altLang="en-US" dirty="0"/>
              <a:t>與</a:t>
            </a:r>
            <a:r>
              <a:rPr lang="en-US" altLang="zh-TW" dirty="0"/>
              <a:t>POST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ABD0C5B-D019-9057-D8A0-0C817EDC5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一般網站伺服器要透過網頁取得使用者所輸入的資料都是透過</a:t>
            </a:r>
            <a:r>
              <a:rPr lang="en-US" altLang="zh-TW" dirty="0"/>
              <a:t>HTML</a:t>
            </a:r>
            <a:r>
              <a:rPr lang="zh-TW" altLang="en-US" dirty="0">
                <a:solidFill>
                  <a:srgbClr val="FF0000"/>
                </a:solidFill>
              </a:rPr>
              <a:t>表單</a:t>
            </a:r>
            <a:r>
              <a:rPr lang="zh-TW" altLang="en-US" dirty="0"/>
              <a:t>來傳送，而傳送的方式有</a:t>
            </a:r>
            <a:r>
              <a:rPr lang="en-US" altLang="zh-TW" dirty="0"/>
              <a:t>Get</a:t>
            </a:r>
            <a:r>
              <a:rPr lang="zh-TW" altLang="en-US" dirty="0"/>
              <a:t>與</a:t>
            </a:r>
            <a:r>
              <a:rPr lang="en-US" altLang="zh-TW" dirty="0"/>
              <a:t>Post</a:t>
            </a:r>
            <a:r>
              <a:rPr lang="zh-TW" altLang="en-US" dirty="0"/>
              <a:t>二種。</a:t>
            </a:r>
          </a:p>
          <a:p>
            <a:r>
              <a:rPr lang="en-US" altLang="zh-TW" dirty="0"/>
              <a:t>GET</a:t>
            </a:r>
            <a:r>
              <a:rPr lang="zh-TW" altLang="en-US" dirty="0"/>
              <a:t>：傳送資料時，是將資料直接加在</a:t>
            </a:r>
            <a:r>
              <a:rPr lang="en-US" altLang="zh-TW" dirty="0"/>
              <a:t>URL(</a:t>
            </a:r>
            <a:r>
              <a:rPr lang="zh-TW" altLang="en-US" dirty="0"/>
              <a:t>網址</a:t>
            </a:r>
            <a:r>
              <a:rPr lang="en-US" altLang="zh-TW" dirty="0"/>
              <a:t>)</a:t>
            </a:r>
            <a:r>
              <a:rPr lang="zh-TW" altLang="en-US" dirty="0"/>
              <a:t>後面。</a:t>
            </a:r>
          </a:p>
          <a:p>
            <a:r>
              <a:rPr lang="en-US" altLang="zh-TW" dirty="0"/>
              <a:t>POST</a:t>
            </a:r>
            <a:r>
              <a:rPr lang="zh-TW" altLang="en-US" dirty="0"/>
              <a:t>：先將資料轉成標準輸入</a:t>
            </a:r>
            <a:r>
              <a:rPr lang="en-US" altLang="zh-TW" dirty="0"/>
              <a:t>(</a:t>
            </a:r>
            <a:r>
              <a:rPr lang="zh-TW" altLang="en-US" dirty="0"/>
              <a:t>如</a:t>
            </a:r>
            <a:r>
              <a:rPr lang="en-US" altLang="zh-TW" dirty="0"/>
              <a:t>C</a:t>
            </a:r>
            <a:r>
              <a:rPr lang="zh-TW" altLang="en-US" dirty="0"/>
              <a:t>語言的</a:t>
            </a:r>
            <a:r>
              <a:rPr lang="en-US" altLang="zh-TW" dirty="0"/>
              <a:t>stdin)</a:t>
            </a:r>
            <a:r>
              <a:rPr lang="zh-TW" altLang="en-US" dirty="0"/>
              <a:t>，然後再傳送。</a:t>
            </a:r>
          </a:p>
          <a:p>
            <a:r>
              <a:rPr lang="zh-TW" altLang="en-US" dirty="0"/>
              <a:t>安全性：</a:t>
            </a:r>
          </a:p>
          <a:p>
            <a:r>
              <a:rPr lang="en-US" altLang="zh-TW" dirty="0"/>
              <a:t>GET</a:t>
            </a:r>
            <a:r>
              <a:rPr lang="zh-TW" altLang="en-US" dirty="0"/>
              <a:t>透過</a:t>
            </a:r>
            <a:r>
              <a:rPr lang="zh-TW" altLang="en-US" dirty="0">
                <a:solidFill>
                  <a:srgbClr val="FF0000"/>
                </a:solidFill>
              </a:rPr>
              <a:t>網址</a:t>
            </a:r>
            <a:r>
              <a:rPr lang="zh-TW" altLang="en-US" dirty="0"/>
              <a:t>傳遞資料，資料不具隱密性</a:t>
            </a:r>
          </a:p>
          <a:p>
            <a:r>
              <a:rPr lang="en-US" altLang="zh-TW" dirty="0"/>
              <a:t>POST</a:t>
            </a:r>
            <a:r>
              <a:rPr lang="zh-TW" altLang="en-US" dirty="0"/>
              <a:t>傳遞資料對用戶來說都是不可見的</a:t>
            </a:r>
          </a:p>
          <a:p>
            <a:r>
              <a:rPr lang="zh-TW" altLang="en-US" dirty="0"/>
              <a:t>傳輸資料量：</a:t>
            </a:r>
          </a:p>
          <a:p>
            <a:r>
              <a:rPr lang="en-US" altLang="zh-TW" dirty="0"/>
              <a:t>GET</a:t>
            </a:r>
            <a:r>
              <a:rPr lang="zh-TW" altLang="en-US" dirty="0"/>
              <a:t>傳輸的數據量小，主要是因為受</a:t>
            </a:r>
            <a:r>
              <a:rPr lang="en-US" altLang="zh-TW" dirty="0"/>
              <a:t>URL</a:t>
            </a:r>
            <a:r>
              <a:rPr lang="zh-TW" altLang="en-US" dirty="0"/>
              <a:t>長度限制</a:t>
            </a:r>
          </a:p>
          <a:p>
            <a:r>
              <a:rPr lang="en-US" altLang="zh-TW" dirty="0"/>
              <a:t>POST</a:t>
            </a:r>
            <a:r>
              <a:rPr lang="zh-TW" altLang="en-US" dirty="0"/>
              <a:t>可以傳輸大量的數據，所以在上傳文件只能使用</a:t>
            </a:r>
            <a:r>
              <a:rPr lang="en-US" altLang="zh-TW" dirty="0"/>
              <a:t>POST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68675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E1B7CF8-D8E6-3151-F3D9-184F52201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 </a:t>
            </a:r>
            <a:r>
              <a:rPr lang="zh-TW" altLang="en-US" dirty="0"/>
              <a:t>表單元件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9BBA5FB9-0906-BCFE-4D67-944E7A6D1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在網頁中用來取得使用者輸入的資訊，主要透過表單。使用者填寫完表單後，按下送出按鈕，將資訊傳輸給另一個網頁加以處理。</a:t>
            </a:r>
          </a:p>
          <a:p>
            <a:r>
              <a:rPr lang="zh-TW" altLang="en-US" dirty="0"/>
              <a:t>表單中的主要元件如下：</a:t>
            </a:r>
            <a:endParaRPr lang="en-US" altLang="zh-TW" dirty="0"/>
          </a:p>
          <a:p>
            <a:endParaRPr lang="zh-TW" altLang="en-US" dirty="0"/>
          </a:p>
          <a:p>
            <a:pPr lvl="1"/>
            <a:r>
              <a:rPr lang="zh-TW" altLang="en-US" sz="2800" dirty="0"/>
              <a:t>按鈕</a:t>
            </a:r>
          </a:p>
          <a:p>
            <a:pPr lvl="1"/>
            <a:r>
              <a:rPr lang="zh-TW" altLang="en-US" sz="2800" dirty="0"/>
              <a:t>文字方塊</a:t>
            </a:r>
          </a:p>
          <a:p>
            <a:pPr lvl="1"/>
            <a:r>
              <a:rPr lang="zh-TW" altLang="en-US" sz="2800" dirty="0"/>
              <a:t>核取方塊</a:t>
            </a:r>
          </a:p>
          <a:p>
            <a:pPr lvl="1"/>
            <a:r>
              <a:rPr lang="zh-TW" altLang="en-US" sz="2800" dirty="0"/>
              <a:t>選項按鈕</a:t>
            </a:r>
          </a:p>
          <a:p>
            <a:pPr lvl="1"/>
            <a:r>
              <a:rPr lang="zh-TW" altLang="en-US" sz="2800" dirty="0"/>
              <a:t>下拉式清單方塊</a:t>
            </a:r>
          </a:p>
          <a:p>
            <a:pPr lvl="1"/>
            <a:r>
              <a:rPr lang="zh-TW" altLang="en-US" sz="2800" dirty="0"/>
              <a:t>文字區域</a:t>
            </a:r>
          </a:p>
          <a:p>
            <a:endParaRPr lang="zh-TW" altLang="en-US" dirty="0"/>
          </a:p>
        </p:txBody>
      </p:sp>
      <p:pic>
        <p:nvPicPr>
          <p:cNvPr id="5" name="圖片 4">
            <a:hlinkClick r:id="rId2" action="ppaction://hlinkfile"/>
            <a:extLst>
              <a:ext uri="{FF2B5EF4-FFF2-40B4-BE49-F238E27FC236}">
                <a16:creationId xmlns:a16="http://schemas.microsoft.com/office/drawing/2014/main" xmlns="" id="{73B6F384-E082-F65C-E545-02F38ED14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128" y="2530036"/>
            <a:ext cx="6525536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005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D08D3DA-97AD-C6CE-FCD1-0B35CC01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</a:p>
        </p:txBody>
      </p:sp>
      <p:pic>
        <p:nvPicPr>
          <p:cNvPr id="9" name="圖片 8">
            <a:hlinkClick r:id="rId2" action="ppaction://hlinkfile"/>
            <a:extLst>
              <a:ext uri="{FF2B5EF4-FFF2-40B4-BE49-F238E27FC236}">
                <a16:creationId xmlns:a16="http://schemas.microsoft.com/office/drawing/2014/main" xmlns="" id="{8C3AC563-C29A-C35C-793E-9301C320E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5" y="1134291"/>
            <a:ext cx="3505689" cy="1667108"/>
          </a:xfrm>
          <a:prstGeom prst="rect">
            <a:avLst/>
          </a:prstGeom>
        </p:spPr>
      </p:pic>
      <p:pic>
        <p:nvPicPr>
          <p:cNvPr id="11" name="圖片 10">
            <a:hlinkClick r:id="rId4" action="ppaction://hlinkfile"/>
            <a:extLst>
              <a:ext uri="{FF2B5EF4-FFF2-40B4-BE49-F238E27FC236}">
                <a16:creationId xmlns:a16="http://schemas.microsoft.com/office/drawing/2014/main" xmlns="" id="{D4E67DF6-BB58-5C43-A2B7-3964DD59C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472" y="1010449"/>
            <a:ext cx="3258005" cy="1914792"/>
          </a:xfrm>
          <a:prstGeom prst="rect">
            <a:avLst/>
          </a:prstGeom>
        </p:spPr>
      </p:pic>
      <p:sp>
        <p:nvSpPr>
          <p:cNvPr id="12" name="箭號: 向右 11">
            <a:extLst>
              <a:ext uri="{FF2B5EF4-FFF2-40B4-BE49-F238E27FC236}">
                <a16:creationId xmlns:a16="http://schemas.microsoft.com/office/drawing/2014/main" xmlns="" id="{63F27565-6F9A-A047-C598-224BAEE808B4}"/>
              </a:ext>
            </a:extLst>
          </p:cNvPr>
          <p:cNvSpPr/>
          <p:nvPr/>
        </p:nvSpPr>
        <p:spPr>
          <a:xfrm>
            <a:off x="4257774" y="2462034"/>
            <a:ext cx="1319752" cy="678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hlinkClick r:id="rId6" action="ppaction://hlinkfile"/>
            <a:extLst>
              <a:ext uri="{FF2B5EF4-FFF2-40B4-BE49-F238E27FC236}">
                <a16:creationId xmlns:a16="http://schemas.microsoft.com/office/drawing/2014/main" xmlns="" id="{E65108E3-8261-6C45-F75B-657271869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5" y="3429000"/>
            <a:ext cx="3505689" cy="1667108"/>
          </a:xfrm>
          <a:prstGeom prst="rect">
            <a:avLst/>
          </a:prstGeom>
        </p:spPr>
      </p:pic>
      <p:pic>
        <p:nvPicPr>
          <p:cNvPr id="4" name="圖片 3">
            <a:hlinkClick r:id="rId7" action="ppaction://hlinkfile"/>
            <a:extLst>
              <a:ext uri="{FF2B5EF4-FFF2-40B4-BE49-F238E27FC236}">
                <a16:creationId xmlns:a16="http://schemas.microsoft.com/office/drawing/2014/main" xmlns="" id="{01FBA9AA-9CC9-18F8-3D50-4C4D01390B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471" y="3140764"/>
            <a:ext cx="3258005" cy="191479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CC9B6850-F4D5-28AE-16BF-337721CB4BFA}"/>
              </a:ext>
            </a:extLst>
          </p:cNvPr>
          <p:cNvSpPr txBox="1"/>
          <p:nvPr/>
        </p:nvSpPr>
        <p:spPr>
          <a:xfrm>
            <a:off x="4739651" y="1530616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POST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4C4CC1BE-D0A9-9D45-0189-F2AAB3C6E8B0}"/>
              </a:ext>
            </a:extLst>
          </p:cNvPr>
          <p:cNvSpPr txBox="1"/>
          <p:nvPr/>
        </p:nvSpPr>
        <p:spPr>
          <a:xfrm>
            <a:off x="4849631" y="3893222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Get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8DE9B03A-31A8-DAB9-5E65-52DC0B92AA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8850" y="4647046"/>
            <a:ext cx="7575467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729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03AFD48-BCC6-59C7-8FB6-736D22428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1AA4FD35-F750-83C0-23BF-FDF1460FF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94" y="3745416"/>
            <a:ext cx="3400900" cy="168616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25957236-6B56-529A-5190-07DF5FA0E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163" y="3745416"/>
            <a:ext cx="1667108" cy="1190791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xmlns="" id="{E14291F1-1700-23DA-6A4E-2D5BD89684D8}"/>
              </a:ext>
            </a:extLst>
          </p:cNvPr>
          <p:cNvSpPr/>
          <p:nvPr/>
        </p:nvSpPr>
        <p:spPr>
          <a:xfrm>
            <a:off x="5090478" y="4025245"/>
            <a:ext cx="1451728" cy="7164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xmlns="" id="{D747CE89-04CD-6A69-D9BF-AC10613D7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765" y="872155"/>
            <a:ext cx="10701092" cy="2276398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請設計一輸入表單如下左，進行學期成績判斷，條件如下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zh-TW" altLang="en-US" dirty="0"/>
              <a:t>    學期成績超高標</a:t>
            </a:r>
            <a:r>
              <a:rPr lang="en-US" altLang="zh-TW" dirty="0"/>
              <a:t>:100</a:t>
            </a:r>
            <a:r>
              <a:rPr lang="zh-TW" altLang="en-US" dirty="0"/>
              <a:t>分以上</a:t>
            </a:r>
            <a:r>
              <a:rPr lang="en-US" altLang="zh-TW" dirty="0"/>
              <a:t>(</a:t>
            </a:r>
            <a:r>
              <a:rPr lang="zh-TW" altLang="en-US" dirty="0"/>
              <a:t>包含</a:t>
            </a:r>
            <a:r>
              <a:rPr lang="en-US" altLang="zh-TW" dirty="0"/>
              <a:t>100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zh-TW" altLang="en-US" dirty="0"/>
              <a:t>    學期成績高標</a:t>
            </a:r>
            <a:r>
              <a:rPr lang="en-US" altLang="zh-TW" dirty="0"/>
              <a:t>:80</a:t>
            </a:r>
            <a:r>
              <a:rPr lang="zh-TW" altLang="en-US" dirty="0"/>
              <a:t>分以上</a:t>
            </a:r>
            <a:r>
              <a:rPr lang="en-US" altLang="zh-TW" dirty="0"/>
              <a:t>~99</a:t>
            </a:r>
            <a:r>
              <a:rPr lang="zh-TW" altLang="en-US" dirty="0"/>
              <a:t>分</a:t>
            </a:r>
            <a:r>
              <a:rPr lang="en-US" altLang="zh-TW" dirty="0"/>
              <a:t>(</a:t>
            </a:r>
            <a:r>
              <a:rPr lang="zh-TW" altLang="en-US" dirty="0"/>
              <a:t>包含</a:t>
            </a:r>
            <a:r>
              <a:rPr lang="en-US" altLang="zh-TW" dirty="0"/>
              <a:t>80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zh-TW" altLang="en-US" dirty="0"/>
              <a:t>    學期成績中標</a:t>
            </a:r>
            <a:r>
              <a:rPr lang="en-US" altLang="zh-TW" dirty="0"/>
              <a:t>:60</a:t>
            </a:r>
            <a:r>
              <a:rPr lang="zh-TW" altLang="en-US" dirty="0"/>
              <a:t>分以上</a:t>
            </a:r>
            <a:r>
              <a:rPr lang="en-US" altLang="zh-TW" dirty="0"/>
              <a:t>~79</a:t>
            </a:r>
            <a:r>
              <a:rPr lang="zh-TW" altLang="en-US" dirty="0"/>
              <a:t>分</a:t>
            </a:r>
            <a:r>
              <a:rPr lang="en-US" altLang="zh-TW" dirty="0"/>
              <a:t>(</a:t>
            </a:r>
            <a:r>
              <a:rPr lang="zh-TW" altLang="en-US" dirty="0"/>
              <a:t>包含</a:t>
            </a:r>
            <a:r>
              <a:rPr lang="en-US" altLang="zh-TW" dirty="0"/>
              <a:t>60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zh-TW" altLang="en-US" dirty="0"/>
              <a:t>    學期成績低標</a:t>
            </a:r>
            <a:r>
              <a:rPr lang="en-US" altLang="zh-TW" dirty="0"/>
              <a:t>:60</a:t>
            </a:r>
            <a:r>
              <a:rPr lang="zh-TW" altLang="en-US" dirty="0"/>
              <a:t>分以下</a:t>
            </a:r>
            <a:r>
              <a:rPr lang="en-US" altLang="zh-TW" dirty="0"/>
              <a:t>(</a:t>
            </a:r>
            <a:r>
              <a:rPr lang="zh-TW" altLang="en-US" dirty="0"/>
              <a:t>不包含</a:t>
            </a:r>
            <a:r>
              <a:rPr lang="en-US" altLang="zh-TW" dirty="0"/>
              <a:t>60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76856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xmlns="" id="{808EFFE6-24F3-422D-BAEF-879F975CC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3012" y="1447799"/>
            <a:ext cx="2085975" cy="2391918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xmlns="" id="{4E55389B-0E4D-4566-A0F3-592CBE5FE612}"/>
              </a:ext>
            </a:extLst>
          </p:cNvPr>
          <p:cNvSpPr txBox="1"/>
          <p:nvPr/>
        </p:nvSpPr>
        <p:spPr>
          <a:xfrm>
            <a:off x="5053012" y="2228260"/>
            <a:ext cx="208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 Light" panose="020B0502040204020203" pitchFamily="34" charset="-122"/>
              </a:rPr>
              <a:t>PHP</a:t>
            </a:r>
            <a:endParaRPr lang="zh-CN" altLang="en-US" sz="48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8" name="文本框 27" descr="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">
            <a:extLst>
              <a:ext uri="{FF2B5EF4-FFF2-40B4-BE49-F238E27FC236}">
                <a16:creationId xmlns:a16="http://schemas.microsoft.com/office/drawing/2014/main" xmlns="" id="{C4575056-F84E-4A45-8200-A3C96F6288AE}"/>
              </a:ext>
            </a:extLst>
          </p:cNvPr>
          <p:cNvSpPr txBox="1"/>
          <p:nvPr/>
        </p:nvSpPr>
        <p:spPr>
          <a:xfrm>
            <a:off x="2640750" y="3962792"/>
            <a:ext cx="691050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 defTabSz="914400"/>
            <a:r>
              <a:rPr lang="en-US" altLang="zh-TW" sz="4800" spc="-15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Open Sans" panose="020B0606030504020204" pitchFamily="34" charset="0"/>
                <a:sym typeface="微软雅黑 Light" panose="020B0502040204020203" pitchFamily="34" charset="-122"/>
              </a:rPr>
              <a:t>THANK</a:t>
            </a:r>
            <a:r>
              <a:rPr lang="zh-TW" altLang="en-US" sz="4800" spc="-15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Open Sans" panose="020B0606030504020204" pitchFamily="34" charset="0"/>
                <a:sym typeface="微软雅黑 Light" panose="020B0502040204020203" pitchFamily="34" charset="-122"/>
              </a:rPr>
              <a:t> </a:t>
            </a:r>
            <a:r>
              <a:rPr lang="en-US" altLang="zh-TW" sz="4800" spc="-15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Open Sans" panose="020B0606030504020204" pitchFamily="34" charset="0"/>
                <a:sym typeface="微软雅黑 Light" panose="020B0502040204020203" pitchFamily="34" charset="-122"/>
              </a:rPr>
              <a:t>YOU</a:t>
            </a:r>
            <a:endParaRPr lang="zh-CN" altLang="en-US" sz="4800" spc="-15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Open Sans" panose="020B0606030504020204" pitchFamily="34" charset="0"/>
              <a:sym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703311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13796 L 4.16667E-6 4.81481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8" grpId="1"/>
    </p:bldLst>
  </p:timing>
</p:sld>
</file>

<file path=ppt/theme/theme1.xml><?xml version="1.0" encoding="utf-8"?>
<a:theme xmlns:a="http://schemas.openxmlformats.org/drawingml/2006/main" name="第一PPT，www.1ppt.com">
  <a:themeElements>
    <a:clrScheme name="自定义 47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A7991"/>
      </a:accent1>
      <a:accent2>
        <a:srgbClr val="313846"/>
      </a:accent2>
      <a:accent3>
        <a:srgbClr val="6A7991"/>
      </a:accent3>
      <a:accent4>
        <a:srgbClr val="313846"/>
      </a:accent4>
      <a:accent5>
        <a:srgbClr val="6A7991"/>
      </a:accent5>
      <a:accent6>
        <a:srgbClr val="313846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</TotalTime>
  <Words>2029</Words>
  <Application>Microsoft Office PowerPoint</Application>
  <PresentationFormat>寬螢幕</PresentationFormat>
  <Paragraphs>453</Paragraphs>
  <Slides>49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49</vt:i4>
      </vt:variant>
    </vt:vector>
  </HeadingPairs>
  <TitlesOfParts>
    <vt:vector size="66" baseType="lpstr">
      <vt:lpstr>DIN Mittelschrift Std</vt:lpstr>
      <vt:lpstr>微软雅黑</vt:lpstr>
      <vt:lpstr>Open Sans</vt:lpstr>
      <vt:lpstr>华文宋体</vt:lpstr>
      <vt:lpstr>等线</vt:lpstr>
      <vt:lpstr>等线 Light</vt:lpstr>
      <vt:lpstr>微软雅黑 Light</vt:lpstr>
      <vt:lpstr>新細明體</vt:lpstr>
      <vt:lpstr>標楷體</vt:lpstr>
      <vt:lpstr>Arial</vt:lpstr>
      <vt:lpstr>Calibri</vt:lpstr>
      <vt:lpstr>Calibri Light</vt:lpstr>
      <vt:lpstr>Symbol</vt:lpstr>
      <vt:lpstr>Times New Roman</vt:lpstr>
      <vt:lpstr>Wingdings</vt:lpstr>
      <vt:lpstr>第一PPT，www.1ppt.com</vt:lpstr>
      <vt:lpstr>Office 佈景主題</vt:lpstr>
      <vt:lpstr>Client Server 架構</vt:lpstr>
      <vt:lpstr>PowerPoint 簡報</vt:lpstr>
      <vt:lpstr>PHP程式語言撰寫</vt:lpstr>
      <vt:lpstr>PHP程式語言的簡介</vt:lpstr>
      <vt:lpstr>HTML 5 架構</vt:lpstr>
      <vt:lpstr>PHP的第一步</vt:lpstr>
      <vt:lpstr>PHP 的第一個指令 print 與 echo</vt:lpstr>
      <vt:lpstr>Escape 跳脫字元/逸出字元</vt:lpstr>
      <vt:lpstr>PowerPoint 簡報</vt:lpstr>
      <vt:lpstr>Echo 縮寫</vt:lpstr>
      <vt:lpstr>PowerPoint 簡報</vt:lpstr>
      <vt:lpstr>變數</vt:lpstr>
      <vt:lpstr>變數</vt:lpstr>
      <vt:lpstr>變數</vt:lpstr>
      <vt:lpstr>變數</vt:lpstr>
      <vt:lpstr>資料型態</vt:lpstr>
      <vt:lpstr>資料型態</vt:lpstr>
      <vt:lpstr>變數資料型態</vt:lpstr>
      <vt:lpstr>Echo 單引號與雙引號差別</vt:lpstr>
      <vt:lpstr>轉換變數的資料型態</vt:lpstr>
      <vt:lpstr>變數/常數</vt:lpstr>
      <vt:lpstr>常數</vt:lpstr>
      <vt:lpstr>運算子</vt:lpstr>
      <vt:lpstr>運算子</vt:lpstr>
      <vt:lpstr>練習</vt:lpstr>
      <vt:lpstr>練習_級分</vt:lpstr>
      <vt:lpstr>Web伺服器變數</vt:lpstr>
      <vt:lpstr>$_SERVER 伺服器的系統資訊</vt:lpstr>
      <vt:lpstr>程式流程控制</vt:lpstr>
      <vt:lpstr>條件控制</vt:lpstr>
      <vt:lpstr>if</vt:lpstr>
      <vt:lpstr>if … else</vt:lpstr>
      <vt:lpstr>if… elseif…</vt:lpstr>
      <vt:lpstr>switch 條件控制</vt:lpstr>
      <vt:lpstr>迴圈</vt:lpstr>
      <vt:lpstr>while 迴圈</vt:lpstr>
      <vt:lpstr>While 迴圈</vt:lpstr>
      <vt:lpstr>計算1~100總和</vt:lpstr>
      <vt:lpstr>使用 while 輸出 HTML </vt:lpstr>
      <vt:lpstr>do … while 迴圈</vt:lpstr>
      <vt:lpstr>for 迴圈</vt:lpstr>
      <vt:lpstr>For 迴圈 九九乘法表</vt:lpstr>
      <vt:lpstr>網頁傳值</vt:lpstr>
      <vt:lpstr>HTML &lt;form&gt; </vt:lpstr>
      <vt:lpstr>GET與POST</vt:lpstr>
      <vt:lpstr>HTML 表單元件</vt:lpstr>
      <vt:lpstr>範例</vt:lpstr>
      <vt:lpstr>作業</vt:lpstr>
      <vt:lpstr>PowerPoint 簡報</vt:lpstr>
    </vt:vector>
  </TitlesOfParts>
  <Company>第一PPT，www.1ppt.com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通用商务</dc:title>
  <dc:creator>第一PPT</dc:creator>
  <cp:keywords>www.1ppt.com</cp:keywords>
  <dc:description>www.1ppt.com</dc:description>
  <cp:lastModifiedBy>User</cp:lastModifiedBy>
  <cp:revision>75</cp:revision>
  <dcterms:created xsi:type="dcterms:W3CDTF">2018-06-07T08:55:01Z</dcterms:created>
  <dcterms:modified xsi:type="dcterms:W3CDTF">2025-10-21T05:35:39Z</dcterms:modified>
</cp:coreProperties>
</file>