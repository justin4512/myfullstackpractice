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7630" r:id="rId2"/>
    <p:sldId id="7632" r:id="rId3"/>
    <p:sldId id="7633" r:id="rId4"/>
    <p:sldId id="7634" r:id="rId5"/>
    <p:sldId id="7635" r:id="rId6"/>
    <p:sldId id="7636" r:id="rId7"/>
    <p:sldId id="7637" r:id="rId8"/>
    <p:sldId id="7638" r:id="rId9"/>
    <p:sldId id="7639" r:id="rId10"/>
    <p:sldId id="7640" r:id="rId11"/>
    <p:sldId id="7642" r:id="rId12"/>
    <p:sldId id="7643" r:id="rId13"/>
    <p:sldId id="7648" r:id="rId14"/>
    <p:sldId id="7644" r:id="rId15"/>
    <p:sldId id="7645" r:id="rId16"/>
    <p:sldId id="7641" r:id="rId17"/>
    <p:sldId id="7631" r:id="rId18"/>
    <p:sldId id="7649" r:id="rId19"/>
    <p:sldId id="7652" r:id="rId20"/>
    <p:sldId id="7653" r:id="rId21"/>
    <p:sldId id="7654" r:id="rId22"/>
    <p:sldId id="7655" r:id="rId23"/>
    <p:sldId id="7522"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38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8" autoAdjust="0"/>
    <p:restoredTop sz="95317" autoAdjust="0"/>
  </p:normalViewPr>
  <p:slideViewPr>
    <p:cSldViewPr snapToGrid="0">
      <p:cViewPr varScale="1">
        <p:scale>
          <a:sx n="74" d="100"/>
          <a:sy n="74" d="100"/>
        </p:scale>
        <p:origin x="471" y="42"/>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3A99781D-8CC5-3888-5356-106C252AAA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B8400415-194A-E754-81A9-FB4D628EE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2C5146-FE87-45DC-9F7A-852F97AD3525}" type="datetimeFigureOut">
              <a:rPr lang="zh-TW" altLang="en-US" smtClean="0"/>
              <a:t>2025/10/6</a:t>
            </a:fld>
            <a:endParaRPr lang="zh-TW" altLang="en-US"/>
          </a:p>
        </p:txBody>
      </p:sp>
      <p:sp>
        <p:nvSpPr>
          <p:cNvPr id="4" name="頁尾版面配置區 3">
            <a:extLst>
              <a:ext uri="{FF2B5EF4-FFF2-40B4-BE49-F238E27FC236}">
                <a16:creationId xmlns:a16="http://schemas.microsoft.com/office/drawing/2014/main" id="{8E66F587-7FAC-1557-2F5B-0AADA8C921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728FA03A-4728-AFD2-A44B-354D8E08603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60167D-598F-478A-87DE-32B72930B1D1}" type="slidenum">
              <a:rPr lang="zh-TW" altLang="en-US" smtClean="0"/>
              <a:t>‹#›</a:t>
            </a:fld>
            <a:endParaRPr lang="zh-TW" altLang="en-US"/>
          </a:p>
        </p:txBody>
      </p:sp>
    </p:spTree>
    <p:extLst>
      <p:ext uri="{BB962C8B-B14F-4D97-AF65-F5344CB8AC3E}">
        <p14:creationId xmlns:p14="http://schemas.microsoft.com/office/powerpoint/2010/main" val="7018904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D51325-44B5-4B15-A551-A61A79A305DE}" type="datetimeFigureOut">
              <a:rPr lang="zh-CN" altLang="en-US" smtClean="0"/>
              <a:t>2025/10/6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793FC-B9DE-4853-870F-B5DB9A952AB5}" type="slidenum">
              <a:rPr lang="zh-CN" altLang="en-US" smtClean="0"/>
              <a:t>‹#›</a:t>
            </a:fld>
            <a:endParaRPr lang="zh-CN" altLang="en-US"/>
          </a:p>
        </p:txBody>
      </p:sp>
    </p:spTree>
    <p:extLst>
      <p:ext uri="{BB962C8B-B14F-4D97-AF65-F5344CB8AC3E}">
        <p14:creationId xmlns:p14="http://schemas.microsoft.com/office/powerpoint/2010/main" val="539801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313846"/>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3882FB3-418F-49F1-A1A6-86E3E521981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99"/>
          <a:stretch/>
        </p:blipFill>
        <p:spPr>
          <a:xfrm>
            <a:off x="0" y="0"/>
            <a:ext cx="4595964" cy="4660490"/>
          </a:xfrm>
          <a:prstGeom prst="rect">
            <a:avLst/>
          </a:prstGeom>
        </p:spPr>
      </p:pic>
      <p:pic>
        <p:nvPicPr>
          <p:cNvPr id="10" name="图片 9">
            <a:extLst>
              <a:ext uri="{FF2B5EF4-FFF2-40B4-BE49-F238E27FC236}">
                <a16:creationId xmlns:a16="http://schemas.microsoft.com/office/drawing/2014/main" id="{4124955D-E53E-4330-81C9-6DE22EF19B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256206" y="1432211"/>
            <a:ext cx="4935794" cy="5425790"/>
          </a:xfrm>
          <a:prstGeom prst="rect">
            <a:avLst/>
          </a:prstGeom>
        </p:spPr>
      </p:pic>
      <p:sp>
        <p:nvSpPr>
          <p:cNvPr id="2" name="Title 1">
            <a:extLst>
              <a:ext uri="{FF2B5EF4-FFF2-40B4-BE49-F238E27FC236}">
                <a16:creationId xmlns:a16="http://schemas.microsoft.com/office/drawing/2014/main" id="{AE432F1D-C345-6F68-03F2-CA301D43C073}"/>
              </a:ext>
            </a:extLst>
          </p:cNvPr>
          <p:cNvSpPr>
            <a:spLocks noGrp="1"/>
          </p:cNvSpPr>
          <p:nvPr>
            <p:ph type="ctrTitle"/>
          </p:nvPr>
        </p:nvSpPr>
        <p:spPr>
          <a:xfrm>
            <a:off x="2011139" y="2577382"/>
            <a:ext cx="8169721" cy="1373647"/>
          </a:xfrm>
        </p:spPr>
        <p:txBody>
          <a:bodyPr anchor="ctr">
            <a:normAutofit/>
          </a:bodyPr>
          <a:lstStyle>
            <a:lvl1pPr algn="ctr">
              <a:defRPr sz="4400" b="1" spc="200" baseline="0">
                <a:solidFill>
                  <a:schemeClr val="bg1"/>
                </a:solidFill>
                <a:latin typeface="Arial" panose="020B0604020202020204" pitchFamily="34" charset="0"/>
                <a:cs typeface="Arial" panose="020B0604020202020204" pitchFamily="34" charset="0"/>
              </a:defRPr>
            </a:lvl1pPr>
          </a:lstStyle>
          <a:p>
            <a:r>
              <a:rPr lang="zh-TW" altLang="en-US" dirty="0"/>
              <a:t>按一下以編輯母片標題樣式</a:t>
            </a:r>
            <a:endParaRPr lang="en-US" dirty="0"/>
          </a:p>
        </p:txBody>
      </p:sp>
      <p:sp>
        <p:nvSpPr>
          <p:cNvPr id="3" name="椭圆 2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a:extLst>
              <a:ext uri="{FF2B5EF4-FFF2-40B4-BE49-F238E27FC236}">
                <a16:creationId xmlns:a16="http://schemas.microsoft.com/office/drawing/2014/main" id="{62A9A5AA-6DE7-18F5-8E6C-CB43E191A403}"/>
              </a:ext>
            </a:extLst>
          </p:cNvPr>
          <p:cNvSpPr/>
          <p:nvPr userDrawn="1"/>
        </p:nvSpPr>
        <p:spPr>
          <a:xfrm>
            <a:off x="6017623" y="4837332"/>
            <a:ext cx="163773" cy="163773"/>
          </a:xfrm>
          <a:prstGeom prst="ellipse">
            <a:avLst/>
          </a:prstGeom>
          <a:solidFill>
            <a:schemeClr val="bg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chemeClr val="bg1"/>
              </a:solidFill>
              <a:effectLst/>
              <a:uLnTx/>
              <a:uFillTx/>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4" name="任意多边形 1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a:extLst>
              <a:ext uri="{FF2B5EF4-FFF2-40B4-BE49-F238E27FC236}">
                <a16:creationId xmlns:a16="http://schemas.microsoft.com/office/drawing/2014/main" id="{44C24D63-C12A-25FC-6C3A-15C6F620994B}"/>
              </a:ext>
            </a:extLst>
          </p:cNvPr>
          <p:cNvSpPr/>
          <p:nvPr userDrawn="1"/>
        </p:nvSpPr>
        <p:spPr>
          <a:xfrm>
            <a:off x="6281483" y="4919114"/>
            <a:ext cx="3125338"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w="12700" cap="flat" cmpd="sng" algn="ctr">
            <a:gradFill>
              <a:gsLst>
                <a:gs pos="100000">
                  <a:srgbClr val="232324"/>
                </a:gs>
                <a:gs pos="0">
                  <a:schemeClr val="bg1"/>
                </a:gs>
              </a:gsLst>
              <a:lin ang="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chemeClr val="bg1"/>
              </a:solidFill>
              <a:effectLst/>
              <a:uLnTx/>
              <a:uFillTx/>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5" name="任意多边形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a:extLst>
              <a:ext uri="{FF2B5EF4-FFF2-40B4-BE49-F238E27FC236}">
                <a16:creationId xmlns:a16="http://schemas.microsoft.com/office/drawing/2014/main" id="{0F8191E4-A18B-52C7-C513-D24B8AA69514}"/>
              </a:ext>
            </a:extLst>
          </p:cNvPr>
          <p:cNvSpPr/>
          <p:nvPr userDrawn="1"/>
        </p:nvSpPr>
        <p:spPr>
          <a:xfrm flipH="1">
            <a:off x="2750971" y="4919114"/>
            <a:ext cx="3125338"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w="12700" cap="flat" cmpd="sng" algn="ctr">
            <a:gradFill>
              <a:gsLst>
                <a:gs pos="100000">
                  <a:srgbClr val="232324"/>
                </a:gs>
                <a:gs pos="0">
                  <a:schemeClr val="bg1"/>
                </a:gs>
              </a:gsLst>
              <a:lin ang="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chemeClr val="bg1"/>
              </a:solidFill>
              <a:effectLst/>
              <a:uLnTx/>
              <a:uFillTx/>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6" name="Slide Number Placeholder 5">
            <a:extLst>
              <a:ext uri="{FF2B5EF4-FFF2-40B4-BE49-F238E27FC236}">
                <a16:creationId xmlns:a16="http://schemas.microsoft.com/office/drawing/2014/main" id="{EFCB5C35-7803-6D59-AFD6-C5546255CA43}"/>
              </a:ext>
            </a:extLst>
          </p:cNvPr>
          <p:cNvSpPr>
            <a:spLocks noGrp="1"/>
          </p:cNvSpPr>
          <p:nvPr>
            <p:ph type="sldNum" sz="quarter" idx="4"/>
          </p:nvPr>
        </p:nvSpPr>
        <p:spPr>
          <a:xfrm>
            <a:off x="10058400" y="6571955"/>
            <a:ext cx="2124894" cy="286045"/>
          </a:xfrm>
          <a:prstGeom prst="rect">
            <a:avLst/>
          </a:prstGeom>
        </p:spPr>
        <p:txBody>
          <a:bodyPr vert="horz" lIns="91440" tIns="45720" rIns="91440" bIns="45720" rtlCol="0" anchor="ctr"/>
          <a:lstStyle>
            <a:lvl1pPr algn="l">
              <a:defRPr sz="1000" b="1">
                <a:solidFill>
                  <a:schemeClr val="tx1">
                    <a:lumMod val="95000"/>
                    <a:lumOff val="5000"/>
                  </a:schemeClr>
                </a:solidFill>
                <a:latin typeface="Arial" panose="020B0604020202020204" pitchFamily="34" charset="0"/>
                <a:cs typeface="Arial" panose="020B0604020202020204" pitchFamily="34" charset="0"/>
              </a:defRPr>
            </a:lvl1pPr>
          </a:lstStyle>
          <a:p>
            <a:pPr>
              <a:defRPr/>
            </a:pPr>
            <a:r>
              <a:rPr lang="en-US" altLang="zh-TW"/>
              <a:t>Php &amp; my sql </a:t>
            </a:r>
            <a:r>
              <a:rPr lang="zh-TW" altLang="en-US"/>
              <a:t> 課程                  </a:t>
            </a:r>
            <a:fld id="{44C17B34-3B2B-4648-8E11-108A0E011466}" type="slidenum">
              <a:rPr lang="en-US" altLang="zh-TW" smtClean="0"/>
              <a:pPr>
                <a:defRPr/>
              </a:pPr>
              <a:t>‹#›</a:t>
            </a:fld>
            <a:endParaRPr lang="en-US" altLang="zh-TW" dirty="0"/>
          </a:p>
        </p:txBody>
      </p:sp>
    </p:spTree>
    <p:extLst>
      <p:ext uri="{BB962C8B-B14F-4D97-AF65-F5344CB8AC3E}">
        <p14:creationId xmlns:p14="http://schemas.microsoft.com/office/powerpoint/2010/main" val="158449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 calcmode="lin" valueType="num">
                                      <p:cBhvr>
                                        <p:cTn id="7" dur="2000" fill="hold"/>
                                        <p:tgtEl>
                                          <p:spTgt spid="5"/>
                                        </p:tgtEl>
                                        <p:attrNameLst>
                                          <p:attrName>ppt_w</p:attrName>
                                        </p:attrNameLst>
                                      </p:cBhvr>
                                      <p:tavLst>
                                        <p:tav tm="0">
                                          <p:val>
                                            <p:fltVal val="0"/>
                                          </p:val>
                                        </p:tav>
                                        <p:tav tm="100000">
                                          <p:val>
                                            <p:strVal val="#ppt_w"/>
                                          </p:val>
                                        </p:tav>
                                      </p:tavLst>
                                    </p:anim>
                                    <p:anim calcmode="lin" valueType="num">
                                      <p:cBhvr>
                                        <p:cTn id="8" dur="2000" fill="hold"/>
                                        <p:tgtEl>
                                          <p:spTgt spid="5"/>
                                        </p:tgtEl>
                                        <p:attrNameLst>
                                          <p:attrName>ppt_h</p:attrName>
                                        </p:attrNameLst>
                                      </p:cBhvr>
                                      <p:tavLst>
                                        <p:tav tm="0">
                                          <p:val>
                                            <p:fltVal val="0"/>
                                          </p:val>
                                        </p:tav>
                                        <p:tav tm="100000">
                                          <p:val>
                                            <p:strVal val="#ppt_h"/>
                                          </p:val>
                                        </p:tav>
                                      </p:tavLst>
                                    </p:anim>
                                    <p:animEffect transition="in" filter="fade">
                                      <p:cBhvr>
                                        <p:cTn id="9" dur="2000"/>
                                        <p:tgtEl>
                                          <p:spTgt spid="5"/>
                                        </p:tgtEl>
                                      </p:cBhvr>
                                    </p:animEffect>
                                  </p:childTnLst>
                                </p:cTn>
                              </p:par>
                              <p:par>
                                <p:cTn id="10" presetID="42" presetClass="path" presetSubtype="0" accel="50000" decel="50000" fill="hold" grpId="1" nodeType="withEffect">
                                  <p:stCondLst>
                                    <p:cond delay="1000"/>
                                  </p:stCondLst>
                                  <p:childTnLst>
                                    <p:animMotion origin="layout" path="M -0.11302 0.00046 L 1.04167E-6 1.11111E-6 " pathEditMode="relative" rAng="0" ptsTypes="AA">
                                      <p:cBhvr>
                                        <p:cTn id="11" dur="2000" fill="hold"/>
                                        <p:tgtEl>
                                          <p:spTgt spid="5"/>
                                        </p:tgtEl>
                                        <p:attrNameLst>
                                          <p:attrName>ppt_x</p:attrName>
                                          <p:attrName>ppt_y</p:attrName>
                                        </p:attrNameLst>
                                      </p:cBhvr>
                                      <p:rCtr x="5651" y="-23"/>
                                    </p:animMotion>
                                  </p:childTnLst>
                                </p:cTn>
                              </p:par>
                              <p:par>
                                <p:cTn id="12" presetID="53" presetClass="entr" presetSubtype="16" fill="hold" grpId="0" nodeType="withEffect">
                                  <p:stCondLst>
                                    <p:cond delay="1000"/>
                                  </p:stCondLst>
                                  <p:childTnLst>
                                    <p:set>
                                      <p:cBhvr>
                                        <p:cTn id="13" dur="1" fill="hold">
                                          <p:stCondLst>
                                            <p:cond delay="0"/>
                                          </p:stCondLst>
                                        </p:cTn>
                                        <p:tgtEl>
                                          <p:spTgt spid="4"/>
                                        </p:tgtEl>
                                        <p:attrNameLst>
                                          <p:attrName>style.visibility</p:attrName>
                                        </p:attrNameLst>
                                      </p:cBhvr>
                                      <p:to>
                                        <p:strVal val="visible"/>
                                      </p:to>
                                    </p:set>
                                    <p:anim calcmode="lin" valueType="num">
                                      <p:cBhvr>
                                        <p:cTn id="14" dur="2000" fill="hold"/>
                                        <p:tgtEl>
                                          <p:spTgt spid="4"/>
                                        </p:tgtEl>
                                        <p:attrNameLst>
                                          <p:attrName>ppt_w</p:attrName>
                                        </p:attrNameLst>
                                      </p:cBhvr>
                                      <p:tavLst>
                                        <p:tav tm="0">
                                          <p:val>
                                            <p:fltVal val="0"/>
                                          </p:val>
                                        </p:tav>
                                        <p:tav tm="100000">
                                          <p:val>
                                            <p:strVal val="#ppt_w"/>
                                          </p:val>
                                        </p:tav>
                                      </p:tavLst>
                                    </p:anim>
                                    <p:anim calcmode="lin" valueType="num">
                                      <p:cBhvr>
                                        <p:cTn id="15" dur="2000" fill="hold"/>
                                        <p:tgtEl>
                                          <p:spTgt spid="4"/>
                                        </p:tgtEl>
                                        <p:attrNameLst>
                                          <p:attrName>ppt_h</p:attrName>
                                        </p:attrNameLst>
                                      </p:cBhvr>
                                      <p:tavLst>
                                        <p:tav tm="0">
                                          <p:val>
                                            <p:fltVal val="0"/>
                                          </p:val>
                                        </p:tav>
                                        <p:tav tm="100000">
                                          <p:val>
                                            <p:strVal val="#ppt_h"/>
                                          </p:val>
                                        </p:tav>
                                      </p:tavLst>
                                    </p:anim>
                                    <p:animEffect transition="in" filter="fade">
                                      <p:cBhvr>
                                        <p:cTn id="16" dur="2000"/>
                                        <p:tgtEl>
                                          <p:spTgt spid="4"/>
                                        </p:tgtEl>
                                      </p:cBhvr>
                                    </p:animEffect>
                                  </p:childTnLst>
                                </p:cTn>
                              </p:par>
                              <p:par>
                                <p:cTn id="17" presetID="42" presetClass="path" presetSubtype="0" accel="50000" decel="50000" fill="hold" grpId="1" nodeType="withEffect">
                                  <p:stCondLst>
                                    <p:cond delay="1000"/>
                                  </p:stCondLst>
                                  <p:childTnLst>
                                    <p:animMotion origin="layout" path="M 0.1138 1.11111E-6 L -2.29167E-6 1.11111E-6 " pathEditMode="relative" rAng="0" ptsTypes="AA">
                                      <p:cBhvr>
                                        <p:cTn id="18" dur="2000" fill="hold"/>
                                        <p:tgtEl>
                                          <p:spTgt spid="4"/>
                                        </p:tgtEl>
                                        <p:attrNameLst>
                                          <p:attrName>ppt_x</p:attrName>
                                          <p:attrName>ppt_y</p:attrName>
                                        </p:attrNameLst>
                                      </p:cBhvr>
                                      <p:rCtr x="-5690" y="0"/>
                                    </p:animMotion>
                                  </p:childTnLst>
                                </p:cTn>
                              </p:par>
                              <p:par>
                                <p:cTn id="19" presetID="53" presetClass="entr" presetSubtype="16" fill="hold" grpId="0" nodeType="withEffect">
                                  <p:stCondLst>
                                    <p:cond delay="200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4" grpId="1" animBg="1"/>
      <p:bldP spid="5" grpId="0" animBg="1"/>
      <p:bldP spid="5"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17728734-F8F9-4C88-993B-AD792CD56D89}"/>
              </a:ext>
            </a:extLst>
          </p:cNvPr>
          <p:cNvGrpSpPr/>
          <p:nvPr userDrawn="1"/>
        </p:nvGrpSpPr>
        <p:grpSpPr>
          <a:xfrm>
            <a:off x="295071" y="190295"/>
            <a:ext cx="406366" cy="418246"/>
            <a:chOff x="848004" y="393400"/>
            <a:chExt cx="406366" cy="418246"/>
          </a:xfrm>
          <a:effectLst>
            <a:outerShdw blurRad="165100" dist="38100" dir="6960000" sx="98000" sy="98000" algn="t" rotWithShape="0">
              <a:prstClr val="black">
                <a:alpha val="34000"/>
              </a:prstClr>
            </a:outerShdw>
          </a:effectLst>
        </p:grpSpPr>
        <p:grpSp>
          <p:nvGrpSpPr>
            <p:cNvPr id="10" name="组合 9">
              <a:extLst>
                <a:ext uri="{FF2B5EF4-FFF2-40B4-BE49-F238E27FC236}">
                  <a16:creationId xmlns:a16="http://schemas.microsoft.com/office/drawing/2014/main" id="{26DC0884-6A83-48BA-AAF8-3B7EB24F2D4E}"/>
                </a:ext>
              </a:extLst>
            </p:cNvPr>
            <p:cNvGrpSpPr/>
            <p:nvPr/>
          </p:nvGrpSpPr>
          <p:grpSpPr>
            <a:xfrm>
              <a:off x="848004" y="393400"/>
              <a:ext cx="406366" cy="418246"/>
              <a:chOff x="848005" y="369553"/>
              <a:chExt cx="406366" cy="418246"/>
            </a:xfrm>
          </p:grpSpPr>
          <p:sp>
            <p:nvSpPr>
              <p:cNvPr id="12" name="椭圆 11">
                <a:extLst>
                  <a:ext uri="{FF2B5EF4-FFF2-40B4-BE49-F238E27FC236}">
                    <a16:creationId xmlns:a16="http://schemas.microsoft.com/office/drawing/2014/main" id="{349408B6-9696-4A5B-A103-E1EE4FB46197}"/>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BC7BAA39-3124-4873-A47F-BED4F34F6883}"/>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11" name="椭圆 10">
              <a:extLst>
                <a:ext uri="{FF2B5EF4-FFF2-40B4-BE49-F238E27FC236}">
                  <a16:creationId xmlns:a16="http://schemas.microsoft.com/office/drawing/2014/main" id="{94B5EC67-E582-47F5-AD80-247E1E58B109}"/>
                </a:ext>
              </a:extLst>
            </p:cNvPr>
            <p:cNvSpPr/>
            <p:nvPr/>
          </p:nvSpPr>
          <p:spPr>
            <a:xfrm>
              <a:off x="907857" y="455002"/>
              <a:ext cx="286661" cy="2950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14" name="图片 13">
            <a:extLst>
              <a:ext uri="{FF2B5EF4-FFF2-40B4-BE49-F238E27FC236}">
                <a16:creationId xmlns:a16="http://schemas.microsoft.com/office/drawing/2014/main" id="{A75435F8-A470-4185-91DA-FD983119D87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8565"/>
          <a:stretch/>
        </p:blipFill>
        <p:spPr>
          <a:xfrm>
            <a:off x="5372100" y="6019799"/>
            <a:ext cx="6819900" cy="838201"/>
          </a:xfrm>
          <a:prstGeom prst="rect">
            <a:avLst/>
          </a:prstGeom>
        </p:spPr>
      </p:pic>
      <p:sp>
        <p:nvSpPr>
          <p:cNvPr id="15" name="矩形 14">
            <a:extLst>
              <a:ext uri="{FF2B5EF4-FFF2-40B4-BE49-F238E27FC236}">
                <a16:creationId xmlns:a16="http://schemas.microsoft.com/office/drawing/2014/main" id="{BB3CD0BC-D18B-4A9C-ADD3-6443622D574A}"/>
              </a:ext>
            </a:extLst>
          </p:cNvPr>
          <p:cNvSpPr/>
          <p:nvPr userDrawn="1"/>
        </p:nvSpPr>
        <p:spPr>
          <a:xfrm>
            <a:off x="0" y="6429375"/>
            <a:ext cx="5372100" cy="428625"/>
          </a:xfrm>
          <a:prstGeom prst="rect">
            <a:avLst/>
          </a:prstGeom>
          <a:gradFill flip="none" rotWithShape="1">
            <a:gsLst>
              <a:gs pos="58000">
                <a:schemeClr val="accent2"/>
              </a:gs>
              <a:gs pos="58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endParaRPr>
          </a:p>
        </p:txBody>
      </p:sp>
      <p:sp>
        <p:nvSpPr>
          <p:cNvPr id="3" name="Title 1">
            <a:extLst>
              <a:ext uri="{FF2B5EF4-FFF2-40B4-BE49-F238E27FC236}">
                <a16:creationId xmlns:a16="http://schemas.microsoft.com/office/drawing/2014/main" id="{F8BEE157-F2A3-9A93-9707-9D2968744B2F}"/>
              </a:ext>
            </a:extLst>
          </p:cNvPr>
          <p:cNvSpPr>
            <a:spLocks noGrp="1"/>
          </p:cNvSpPr>
          <p:nvPr>
            <p:ph type="title"/>
          </p:nvPr>
        </p:nvSpPr>
        <p:spPr>
          <a:xfrm>
            <a:off x="837764" y="171177"/>
            <a:ext cx="10701092" cy="569052"/>
          </a:xfrm>
        </p:spPr>
        <p:txBody>
          <a:bodyPr>
            <a:normAutofit/>
          </a:bodyPr>
          <a:lstStyle>
            <a:lvl1pPr>
              <a:defRPr sz="3200">
                <a:latin typeface="標楷體" panose="03000509000000000000" pitchFamily="65" charset="-120"/>
                <a:ea typeface="標楷體" panose="03000509000000000000" pitchFamily="65" charset="-120"/>
                <a:cs typeface="Arial" panose="020B0604020202020204" pitchFamily="34" charset="0"/>
              </a:defRPr>
            </a:lvl1pPr>
          </a:lstStyle>
          <a:p>
            <a:r>
              <a:rPr lang="zh-TW" altLang="en-US"/>
              <a:t>按一下以編輯母片標題樣式</a:t>
            </a:r>
            <a:endParaRPr lang="en-US" dirty="0"/>
          </a:p>
        </p:txBody>
      </p:sp>
      <p:sp>
        <p:nvSpPr>
          <p:cNvPr id="4" name="Content Placeholder 2">
            <a:extLst>
              <a:ext uri="{FF2B5EF4-FFF2-40B4-BE49-F238E27FC236}">
                <a16:creationId xmlns:a16="http://schemas.microsoft.com/office/drawing/2014/main" id="{0C15B001-787B-FFB5-6B2A-6EE1F3880AEE}"/>
              </a:ext>
            </a:extLst>
          </p:cNvPr>
          <p:cNvSpPr>
            <a:spLocks noGrp="1"/>
          </p:cNvSpPr>
          <p:nvPr>
            <p:ph idx="1"/>
          </p:nvPr>
        </p:nvSpPr>
        <p:spPr>
          <a:xfrm>
            <a:off x="837765" y="872155"/>
            <a:ext cx="10701092" cy="5049254"/>
          </a:xfrm>
        </p:spPr>
        <p:txBody>
          <a:bodyPr/>
          <a:lstStyle>
            <a:lvl1pPr>
              <a:defRPr>
                <a:latin typeface="標楷體" panose="03000509000000000000" pitchFamily="65" charset="-120"/>
                <a:ea typeface="標楷體" panose="03000509000000000000" pitchFamily="65" charset="-120"/>
                <a:cs typeface="Arial" panose="020B0604020202020204" pitchFamily="34" charset="0"/>
              </a:defRPr>
            </a:lvl1pPr>
            <a:lvl2pPr>
              <a:defRPr>
                <a:latin typeface="標楷體" panose="03000509000000000000" pitchFamily="65" charset="-120"/>
                <a:ea typeface="標楷體" panose="03000509000000000000" pitchFamily="65" charset="-120"/>
                <a:cs typeface="Arial" panose="020B0604020202020204" pitchFamily="34" charset="0"/>
              </a:defRPr>
            </a:lvl2pPr>
            <a:lvl3pPr>
              <a:defRPr>
                <a:latin typeface="標楷體" panose="03000509000000000000" pitchFamily="65" charset="-120"/>
                <a:ea typeface="標楷體" panose="03000509000000000000" pitchFamily="65" charset="-120"/>
                <a:cs typeface="Arial" panose="020B0604020202020204" pitchFamily="34" charset="0"/>
              </a:defRPr>
            </a:lvl3pPr>
            <a:lvl4pPr>
              <a:defRPr>
                <a:latin typeface="標楷體" panose="03000509000000000000" pitchFamily="65" charset="-120"/>
                <a:ea typeface="標楷體" panose="03000509000000000000" pitchFamily="65" charset="-120"/>
                <a:cs typeface="Arial" panose="020B0604020202020204" pitchFamily="34" charset="0"/>
              </a:defRPr>
            </a:lvl4pPr>
            <a:lvl5pPr>
              <a:defRPr>
                <a:latin typeface="標楷體" panose="03000509000000000000" pitchFamily="65" charset="-120"/>
                <a:ea typeface="標楷體" panose="03000509000000000000" pitchFamily="65"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6" name="Footer Placeholder 4">
            <a:extLst>
              <a:ext uri="{FF2B5EF4-FFF2-40B4-BE49-F238E27FC236}">
                <a16:creationId xmlns:a16="http://schemas.microsoft.com/office/drawing/2014/main" id="{CE09D2A5-33AF-B7F8-966B-BA582D5C252E}"/>
              </a:ext>
            </a:extLst>
          </p:cNvPr>
          <p:cNvSpPr>
            <a:spLocks noGrp="1"/>
          </p:cNvSpPr>
          <p:nvPr>
            <p:ph type="ftr" sz="quarter" idx="11"/>
          </p:nvPr>
        </p:nvSpPr>
        <p:spPr>
          <a:xfrm>
            <a:off x="846473" y="6054635"/>
            <a:ext cx="6497076" cy="274320"/>
          </a:xfrm>
        </p:spPr>
        <p:txBody>
          <a:bodyPr/>
          <a:lstStyle/>
          <a:p>
            <a:pPr>
              <a:defRPr/>
            </a:pPr>
            <a:endParaRPr lang="zh-TW" altLang="en-US" dirty="0"/>
          </a:p>
        </p:txBody>
      </p:sp>
      <p:sp>
        <p:nvSpPr>
          <p:cNvPr id="7" name="Slide Number Placeholder 5">
            <a:extLst>
              <a:ext uri="{FF2B5EF4-FFF2-40B4-BE49-F238E27FC236}">
                <a16:creationId xmlns:a16="http://schemas.microsoft.com/office/drawing/2014/main" id="{2DBAD842-DBB7-F5EA-1788-9FB8BD0F70D8}"/>
              </a:ext>
            </a:extLst>
          </p:cNvPr>
          <p:cNvSpPr>
            <a:spLocks noGrp="1"/>
          </p:cNvSpPr>
          <p:nvPr>
            <p:ph type="sldNum" sz="quarter" idx="12"/>
          </p:nvPr>
        </p:nvSpPr>
        <p:spPr>
          <a:xfrm>
            <a:off x="8155516" y="6053335"/>
            <a:ext cx="1071936" cy="274320"/>
          </a:xfrm>
        </p:spPr>
        <p:txBody>
          <a:bodyPr/>
          <a:lstStyle>
            <a:lvl1pPr algn="r">
              <a:defRPr b="1"/>
            </a:lvl1pPr>
          </a:lstStyle>
          <a:p>
            <a:pPr>
              <a:defRPr/>
            </a:pPr>
            <a:fld id="{A664C07F-1B4E-4B53-AA43-54279C4DA7CD}" type="slidenum">
              <a:rPr lang="en-US" altLang="zh-TW" smtClean="0"/>
              <a:pPr>
                <a:defRPr/>
              </a:pPr>
              <a:t>‹#›</a:t>
            </a:fld>
            <a:endParaRPr lang="en-US" altLang="zh-TW"/>
          </a:p>
        </p:txBody>
      </p:sp>
    </p:spTree>
    <p:extLst>
      <p:ext uri="{BB962C8B-B14F-4D97-AF65-F5344CB8AC3E}">
        <p14:creationId xmlns:p14="http://schemas.microsoft.com/office/powerpoint/2010/main" val="759961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2EA2FAB7-23F0-91EE-3B46-AE9A04697DD2}"/>
              </a:ext>
            </a:extLst>
          </p:cNvPr>
          <p:cNvSpPr>
            <a:spLocks noGrp="1"/>
          </p:cNvSpPr>
          <p:nvPr>
            <p:ph type="title"/>
          </p:nvPr>
        </p:nvSpPr>
        <p:spPr>
          <a:xfrm>
            <a:off x="454586" y="315250"/>
            <a:ext cx="11136519" cy="1499616"/>
          </a:xfrm>
          <a:prstGeom prst="rect">
            <a:avLst/>
          </a:prstGeom>
        </p:spPr>
        <p:txBody>
          <a:bodyPr vert="horz" lIns="91440" tIns="45720" rIns="91440" bIns="45720" rtlCol="0" anchor="ctr">
            <a:normAutofit/>
          </a:bodyPr>
          <a:lstStyle/>
          <a:p>
            <a:r>
              <a:rPr lang="zh-TW" altLang="en-US" dirty="0"/>
              <a:t>按一下以編輯母片標題樣式</a:t>
            </a:r>
            <a:endParaRPr lang="en-US" dirty="0"/>
          </a:p>
        </p:txBody>
      </p:sp>
      <p:sp>
        <p:nvSpPr>
          <p:cNvPr id="8" name="Text Placeholder 2">
            <a:extLst>
              <a:ext uri="{FF2B5EF4-FFF2-40B4-BE49-F238E27FC236}">
                <a16:creationId xmlns:a16="http://schemas.microsoft.com/office/drawing/2014/main" id="{8B2364DB-2433-6FEA-3E13-41BCDB08FD5C}"/>
              </a:ext>
            </a:extLst>
          </p:cNvPr>
          <p:cNvSpPr>
            <a:spLocks noGrp="1"/>
          </p:cNvSpPr>
          <p:nvPr>
            <p:ph type="body" idx="1"/>
          </p:nvPr>
        </p:nvSpPr>
        <p:spPr>
          <a:xfrm>
            <a:off x="454587" y="2016034"/>
            <a:ext cx="11136521" cy="4023360"/>
          </a:xfrm>
          <a:prstGeom prst="rect">
            <a:avLst/>
          </a:prstGeom>
        </p:spPr>
        <p:txBody>
          <a:bodyPr vert="horz" lIns="45720" tIns="45720" rIns="4572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9" name="Date Placeholder 3">
            <a:extLst>
              <a:ext uri="{FF2B5EF4-FFF2-40B4-BE49-F238E27FC236}">
                <a16:creationId xmlns:a16="http://schemas.microsoft.com/office/drawing/2014/main" id="{642B31BD-0CB1-21AE-3C7D-ADF3F224F26D}"/>
              </a:ext>
            </a:extLst>
          </p:cNvPr>
          <p:cNvSpPr>
            <a:spLocks noGrp="1"/>
          </p:cNvSpPr>
          <p:nvPr>
            <p:ph type="dt" sz="half" idx="2"/>
          </p:nvPr>
        </p:nvSpPr>
        <p:spPr>
          <a:xfrm>
            <a:off x="454588" y="6200738"/>
            <a:ext cx="246805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endParaRPr lang="en-US" altLang="zh-TW"/>
          </a:p>
        </p:txBody>
      </p:sp>
      <p:sp>
        <p:nvSpPr>
          <p:cNvPr id="10" name="Footer Placeholder 4">
            <a:extLst>
              <a:ext uri="{FF2B5EF4-FFF2-40B4-BE49-F238E27FC236}">
                <a16:creationId xmlns:a16="http://schemas.microsoft.com/office/drawing/2014/main" id="{35ED0061-284E-1375-EBF5-3B69A49164E6}"/>
              </a:ext>
            </a:extLst>
          </p:cNvPr>
          <p:cNvSpPr>
            <a:spLocks noGrp="1"/>
          </p:cNvSpPr>
          <p:nvPr>
            <p:ph type="ftr" sz="quarter" idx="3"/>
          </p:nvPr>
        </p:nvSpPr>
        <p:spPr>
          <a:xfrm>
            <a:off x="3083557" y="6200738"/>
            <a:ext cx="728834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endParaRPr lang="zh-TW" altLang="en-US" dirty="0"/>
          </a:p>
        </p:txBody>
      </p:sp>
      <p:sp>
        <p:nvSpPr>
          <p:cNvPr id="11" name="Slide Number Placeholder 5">
            <a:extLst>
              <a:ext uri="{FF2B5EF4-FFF2-40B4-BE49-F238E27FC236}">
                <a16:creationId xmlns:a16="http://schemas.microsoft.com/office/drawing/2014/main" id="{D86B3E7E-4EBB-C1F2-2727-E4DAE819A221}"/>
              </a:ext>
            </a:extLst>
          </p:cNvPr>
          <p:cNvSpPr>
            <a:spLocks noGrp="1"/>
          </p:cNvSpPr>
          <p:nvPr>
            <p:ph type="sldNum" sz="quarter" idx="4"/>
          </p:nvPr>
        </p:nvSpPr>
        <p:spPr>
          <a:xfrm>
            <a:off x="10475552" y="6200738"/>
            <a:ext cx="111555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44C17B34-3B2B-4648-8E11-108A0E011466}" type="slidenum">
              <a:rPr lang="en-US" altLang="zh-TW" smtClean="0"/>
              <a:pPr>
                <a:defRPr/>
              </a:pPr>
              <a:t>‹#›</a:t>
            </a:fld>
            <a:endParaRPr lang="en-US" altLang="zh-TW"/>
          </a:p>
        </p:txBody>
      </p:sp>
    </p:spTree>
    <p:extLst>
      <p:ext uri="{BB962C8B-B14F-4D97-AF65-F5344CB8AC3E}">
        <p14:creationId xmlns:p14="http://schemas.microsoft.com/office/powerpoint/2010/main" val="185898677"/>
      </p:ext>
    </p:extLst>
  </p:cSld>
  <p:clrMap bg1="lt1" tx1="dk1" bg2="lt2" tx2="dk2" accent1="accent1" accent2="accent2" accent3="accent3" accent4="accent4" accent5="accent5" accent6="accent6" hlink="hlink" folHlink="folHlink"/>
  <p:sldLayoutIdLst>
    <p:sldLayoutId id="2147483649" r:id="rId1"/>
    <p:sldLayoutId id="214748365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hyperlink" Target="https://pixabay.com/it/server-case-computer-computer-pc-309012/" TargetMode="Externa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7B72E3-1D1E-A70B-2F94-63AE9B1F5EC2}"/>
              </a:ext>
            </a:extLst>
          </p:cNvPr>
          <p:cNvSpPr>
            <a:spLocks noGrp="1"/>
          </p:cNvSpPr>
          <p:nvPr>
            <p:ph type="ctrTitle"/>
          </p:nvPr>
        </p:nvSpPr>
        <p:spPr/>
        <p:txBody>
          <a:bodyPr/>
          <a:lstStyle/>
          <a:p>
            <a:r>
              <a:rPr lang="zh-TW" altLang="en-US" sz="4400" b="1" spc="-150" dirty="0">
                <a:solidFill>
                  <a:schemeClr val="bg1"/>
                </a:solidFill>
                <a:latin typeface="华文宋体" panose="02010600040101010101" pitchFamily="2" charset="-122"/>
                <a:ea typeface="华文宋体" panose="02010600040101010101" pitchFamily="2" charset="-122"/>
                <a:cs typeface="Open Sans" panose="020B0606030504020204" pitchFamily="34" charset="0"/>
                <a:sym typeface="微软雅黑 Light" panose="020B0502040204020203" pitchFamily="34" charset="-122"/>
              </a:rPr>
              <a:t>網路程式介紹</a:t>
            </a:r>
            <a:endParaRPr lang="zh-TW" altLang="en-US" dirty="0"/>
          </a:p>
        </p:txBody>
      </p:sp>
    </p:spTree>
    <p:extLst>
      <p:ext uri="{BB962C8B-B14F-4D97-AF65-F5344CB8AC3E}">
        <p14:creationId xmlns:p14="http://schemas.microsoft.com/office/powerpoint/2010/main" val="4034004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3000-70_filled-37.jpg">
            <a:extLst>
              <a:ext uri="{FF2B5EF4-FFF2-40B4-BE49-F238E27FC236}">
                <a16:creationId xmlns:a16="http://schemas.microsoft.com/office/drawing/2014/main" id="{18F685CD-859A-1017-6AD3-F897BD7B8B55}"/>
              </a:ext>
            </a:extLst>
          </p:cNvPr>
          <p:cNvPicPr>
            <a:picLocks noChangeAspect="1"/>
          </p:cNvPicPr>
          <p:nvPr/>
        </p:nvPicPr>
        <p:blipFill>
          <a:blip r:embed="rId2" cstate="email"/>
          <a:stretch>
            <a:fillRect/>
          </a:stretch>
        </p:blipFill>
        <p:spPr>
          <a:xfrm>
            <a:off x="284094" y="866377"/>
            <a:ext cx="6597473" cy="5528924"/>
          </a:xfrm>
          <a:prstGeom prst="rect">
            <a:avLst/>
          </a:prstGeom>
        </p:spPr>
      </p:pic>
      <p:graphicFrame>
        <p:nvGraphicFramePr>
          <p:cNvPr id="5" name="表格 4">
            <a:extLst>
              <a:ext uri="{FF2B5EF4-FFF2-40B4-BE49-F238E27FC236}">
                <a16:creationId xmlns:a16="http://schemas.microsoft.com/office/drawing/2014/main" id="{09D45728-0324-27AF-1101-110D6DEB692F}"/>
              </a:ext>
            </a:extLst>
          </p:cNvPr>
          <p:cNvGraphicFramePr>
            <a:graphicFrameLocks noGrp="1"/>
          </p:cNvGraphicFramePr>
          <p:nvPr>
            <p:extLst>
              <p:ext uri="{D42A27DB-BD31-4B8C-83A1-F6EECF244321}">
                <p14:modId xmlns:p14="http://schemas.microsoft.com/office/powerpoint/2010/main" val="2992895991"/>
              </p:ext>
            </p:extLst>
          </p:nvPr>
        </p:nvGraphicFramePr>
        <p:xfrm>
          <a:off x="8004899" y="256019"/>
          <a:ext cx="3208533" cy="4478825"/>
        </p:xfrm>
        <a:graphic>
          <a:graphicData uri="http://schemas.openxmlformats.org/drawingml/2006/table">
            <a:tbl>
              <a:tblPr/>
              <a:tblGrid>
                <a:gridCol w="3208533">
                  <a:extLst>
                    <a:ext uri="{9D8B030D-6E8A-4147-A177-3AD203B41FA5}">
                      <a16:colId xmlns:a16="http://schemas.microsoft.com/office/drawing/2014/main" val="20000"/>
                    </a:ext>
                  </a:extLst>
                </a:gridCol>
              </a:tblGrid>
              <a:tr h="895765">
                <a:tc>
                  <a:txBody>
                    <a:bodyPr/>
                    <a:lstStyle/>
                    <a:p>
                      <a:r>
                        <a:rPr lang="en-US" b="1" dirty="0">
                          <a:latin typeface="Arial" panose="020B0604020202020204" pitchFamily="34" charset="0"/>
                          <a:cs typeface="Arial" panose="020B0604020202020204" pitchFamily="34" charset="0"/>
                        </a:rPr>
                        <a:t>Name: 3000 Series 70</a:t>
                      </a:r>
                    </a:p>
                  </a:txBody>
                  <a:tcPr anchor="ctr">
                    <a:lnL>
                      <a:noFill/>
                    </a:lnL>
                    <a:lnR>
                      <a:noFill/>
                    </a:lnR>
                    <a:lnT>
                      <a:noFill/>
                    </a:lnT>
                    <a:lnB>
                      <a:noFill/>
                    </a:lnB>
                  </a:tcPr>
                </a:tc>
                <a:extLst>
                  <a:ext uri="{0D108BD9-81ED-4DB2-BD59-A6C34878D82A}">
                    <a16:rowId xmlns:a16="http://schemas.microsoft.com/office/drawing/2014/main" val="10000"/>
                  </a:ext>
                </a:extLst>
              </a:tr>
              <a:tr h="895765">
                <a:tc>
                  <a:txBody>
                    <a:bodyPr/>
                    <a:lstStyle/>
                    <a:p>
                      <a:r>
                        <a:rPr lang="en-US" b="1" dirty="0">
                          <a:latin typeface="Arial" panose="020B0604020202020204" pitchFamily="34" charset="0"/>
                          <a:cs typeface="Arial" panose="020B0604020202020204" pitchFamily="34" charset="0"/>
                        </a:rPr>
                        <a:t>Introduced: 1981</a:t>
                      </a:r>
                    </a:p>
                  </a:txBody>
                  <a:tcPr anchor="ctr">
                    <a:lnL>
                      <a:noFill/>
                    </a:lnL>
                    <a:lnR>
                      <a:noFill/>
                    </a:lnR>
                    <a:lnT>
                      <a:noFill/>
                    </a:lnT>
                    <a:lnB>
                      <a:noFill/>
                    </a:lnB>
                  </a:tcPr>
                </a:tc>
                <a:extLst>
                  <a:ext uri="{0D108BD9-81ED-4DB2-BD59-A6C34878D82A}">
                    <a16:rowId xmlns:a16="http://schemas.microsoft.com/office/drawing/2014/main" val="10001"/>
                  </a:ext>
                </a:extLst>
              </a:tr>
              <a:tr h="895765">
                <a:tc>
                  <a:txBody>
                    <a:bodyPr/>
                    <a:lstStyle/>
                    <a:p>
                      <a:r>
                        <a:rPr lang="en-US" b="1" dirty="0">
                          <a:latin typeface="Arial" panose="020B0604020202020204" pitchFamily="34" charset="0"/>
                          <a:cs typeface="Arial" panose="020B0604020202020204" pitchFamily="34" charset="0"/>
                        </a:rPr>
                        <a:t>Original Price: $186,100</a:t>
                      </a:r>
                    </a:p>
                  </a:txBody>
                  <a:tcPr anchor="ctr">
                    <a:lnL>
                      <a:noFill/>
                    </a:lnL>
                    <a:lnR>
                      <a:noFill/>
                    </a:lnR>
                    <a:lnT>
                      <a:noFill/>
                    </a:lnT>
                    <a:lnB>
                      <a:noFill/>
                    </a:lnB>
                  </a:tcPr>
                </a:tc>
                <a:extLst>
                  <a:ext uri="{0D108BD9-81ED-4DB2-BD59-A6C34878D82A}">
                    <a16:rowId xmlns:a16="http://schemas.microsoft.com/office/drawing/2014/main" val="10002"/>
                  </a:ext>
                </a:extLst>
              </a:tr>
              <a:tr h="895765">
                <a:tc>
                  <a:txBody>
                    <a:bodyPr/>
                    <a:lstStyle/>
                    <a:p>
                      <a:r>
                        <a:rPr lang="zh-TW" altLang="en-US" b="1" dirty="0">
                          <a:latin typeface="Arial" panose="020B0604020202020204" pitchFamily="34" charset="0"/>
                          <a:cs typeface="Arial" panose="020B0604020202020204" pitchFamily="34" charset="0"/>
                        </a:rPr>
                        <a:t>程式語言</a:t>
                      </a:r>
                      <a:r>
                        <a:rPr lang="en-US" altLang="zh-TW" b="1" dirty="0">
                          <a:latin typeface="Arial" panose="020B0604020202020204" pitchFamily="34" charset="0"/>
                          <a:cs typeface="Arial" panose="020B0604020202020204" pitchFamily="34" charset="0"/>
                        </a:rPr>
                        <a:t>:COBOL</a:t>
                      </a:r>
                      <a:r>
                        <a:rPr lang="zh-TW" altLang="en-US" b="1" dirty="0">
                          <a:latin typeface="Arial" panose="020B0604020202020204" pitchFamily="34" charset="0"/>
                          <a:cs typeface="Arial" panose="020B0604020202020204" pitchFamily="34" charset="0"/>
                        </a:rPr>
                        <a:t> </a:t>
                      </a:r>
                      <a:r>
                        <a:rPr lang="en-US" altLang="zh-TW" b="1" dirty="0">
                          <a:latin typeface="Arial" panose="020B0604020202020204" pitchFamily="34" charset="0"/>
                          <a:cs typeface="Arial" panose="020B0604020202020204" pitchFamily="34" charset="0"/>
                        </a:rPr>
                        <a:t>II</a:t>
                      </a:r>
                    </a:p>
                  </a:txBody>
                  <a:tcPr anchor="ctr">
                    <a:lnL>
                      <a:noFill/>
                    </a:lnL>
                    <a:lnR>
                      <a:noFill/>
                    </a:lnR>
                    <a:lnT>
                      <a:noFill/>
                    </a:lnT>
                    <a:lnB>
                      <a:noFill/>
                    </a:lnB>
                  </a:tcPr>
                </a:tc>
                <a:extLst>
                  <a:ext uri="{0D108BD9-81ED-4DB2-BD59-A6C34878D82A}">
                    <a16:rowId xmlns:a16="http://schemas.microsoft.com/office/drawing/2014/main" val="10003"/>
                  </a:ext>
                </a:extLst>
              </a:tr>
              <a:tr h="895765">
                <a:tc>
                  <a:txBody>
                    <a:bodyPr/>
                    <a:lstStyle/>
                    <a:p>
                      <a:r>
                        <a:rPr lang="zh-TW" altLang="en-US" b="1" dirty="0">
                          <a:latin typeface="Arial" panose="020B0604020202020204" pitchFamily="34" charset="0"/>
                          <a:cs typeface="Arial" panose="020B0604020202020204" pitchFamily="34" charset="0"/>
                        </a:rPr>
                        <a:t>資料庫</a:t>
                      </a:r>
                      <a:r>
                        <a:rPr lang="en-US" altLang="zh-TW" b="1" dirty="0">
                          <a:latin typeface="Arial" panose="020B0604020202020204" pitchFamily="34" charset="0"/>
                          <a:cs typeface="Arial" panose="020B0604020202020204" pitchFamily="34" charset="0"/>
                        </a:rPr>
                        <a:t>:</a:t>
                      </a:r>
                      <a:r>
                        <a:rPr lang="zh-TW" altLang="en-US" b="1" dirty="0">
                          <a:latin typeface="Arial" panose="020B0604020202020204" pitchFamily="34" charset="0"/>
                          <a:cs typeface="Arial" panose="020B0604020202020204" pitchFamily="34" charset="0"/>
                        </a:rPr>
                        <a:t> 網狀結構</a:t>
                      </a:r>
                      <a:endParaRPr lang="en-US" altLang="zh-TW" b="1" dirty="0">
                        <a:latin typeface="Arial" panose="020B0604020202020204" pitchFamily="34" charset="0"/>
                        <a:cs typeface="Arial" panose="020B0604020202020204" pitchFamily="34" charset="0"/>
                      </a:endParaRP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6" name="文字方塊 5">
            <a:extLst>
              <a:ext uri="{FF2B5EF4-FFF2-40B4-BE49-F238E27FC236}">
                <a16:creationId xmlns:a16="http://schemas.microsoft.com/office/drawing/2014/main" id="{2C24AD5F-E527-A9BF-ECA3-E1764D7BF700}"/>
              </a:ext>
            </a:extLst>
          </p:cNvPr>
          <p:cNvSpPr txBox="1"/>
          <p:nvPr/>
        </p:nvSpPr>
        <p:spPr>
          <a:xfrm>
            <a:off x="7899859" y="5569593"/>
            <a:ext cx="2865511" cy="646331"/>
          </a:xfrm>
          <a:prstGeom prst="rect">
            <a:avLst/>
          </a:prstGeom>
          <a:noFill/>
        </p:spPr>
        <p:txBody>
          <a:bodyPr wrap="square" rtlCol="0">
            <a:spAutoFit/>
          </a:bodyPr>
          <a:lstStyle/>
          <a:p>
            <a:r>
              <a:rPr lang="zh-TW" altLang="en-US" dirty="0"/>
              <a:t>資料來源</a:t>
            </a:r>
            <a:r>
              <a:rPr lang="en-US" altLang="zh-TW" dirty="0"/>
              <a:t>:</a:t>
            </a:r>
            <a:r>
              <a:rPr lang="en-US" altLang="zh-TW" b="1" dirty="0"/>
              <a:t> HP Computer Museum</a:t>
            </a:r>
            <a:endParaRPr lang="zh-TW" altLang="en-US" dirty="0"/>
          </a:p>
        </p:txBody>
      </p:sp>
      <p:sp>
        <p:nvSpPr>
          <p:cNvPr id="9" name="標題 1">
            <a:extLst>
              <a:ext uri="{FF2B5EF4-FFF2-40B4-BE49-F238E27FC236}">
                <a16:creationId xmlns:a16="http://schemas.microsoft.com/office/drawing/2014/main" id="{D993E547-EEB1-44B8-2031-812D009F8661}"/>
              </a:ext>
            </a:extLst>
          </p:cNvPr>
          <p:cNvSpPr>
            <a:spLocks noGrp="1"/>
          </p:cNvSpPr>
          <p:nvPr>
            <p:ph type="title"/>
          </p:nvPr>
        </p:nvSpPr>
        <p:spPr>
          <a:xfrm>
            <a:off x="837764" y="171177"/>
            <a:ext cx="10701092" cy="569052"/>
          </a:xfrm>
        </p:spPr>
        <p:txBody>
          <a:bodyPr/>
          <a:lstStyle/>
          <a:p>
            <a:r>
              <a:rPr lang="zh-TW" altLang="en-US" dirty="0"/>
              <a:t>主機型電腦</a:t>
            </a:r>
          </a:p>
        </p:txBody>
      </p:sp>
    </p:spTree>
    <p:extLst>
      <p:ext uri="{BB962C8B-B14F-4D97-AF65-F5344CB8AC3E}">
        <p14:creationId xmlns:p14="http://schemas.microsoft.com/office/powerpoint/2010/main" val="3825108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C37398-7E32-F94B-4F63-788E872E86E2}"/>
              </a:ext>
            </a:extLst>
          </p:cNvPr>
          <p:cNvSpPr>
            <a:spLocks noGrp="1"/>
          </p:cNvSpPr>
          <p:nvPr>
            <p:ph type="title"/>
          </p:nvPr>
        </p:nvSpPr>
        <p:spPr/>
        <p:txBody>
          <a:bodyPr/>
          <a:lstStyle/>
          <a:p>
            <a:r>
              <a:rPr lang="zh-TW" altLang="en-US" dirty="0"/>
              <a:t>主機型電腦</a:t>
            </a:r>
          </a:p>
        </p:txBody>
      </p:sp>
      <p:sp>
        <p:nvSpPr>
          <p:cNvPr id="4" name="內容版面配置區 2">
            <a:extLst>
              <a:ext uri="{FF2B5EF4-FFF2-40B4-BE49-F238E27FC236}">
                <a16:creationId xmlns:a16="http://schemas.microsoft.com/office/drawing/2014/main" id="{369EF715-1BBC-A9D4-ABC6-5ADCD36C0537}"/>
              </a:ext>
            </a:extLst>
          </p:cNvPr>
          <p:cNvSpPr>
            <a:spLocks noGrp="1"/>
          </p:cNvSpPr>
          <p:nvPr>
            <p:ph idx="1"/>
          </p:nvPr>
        </p:nvSpPr>
        <p:spPr>
          <a:xfrm>
            <a:off x="653144" y="902616"/>
            <a:ext cx="8229600" cy="4525963"/>
          </a:xfrm>
        </p:spPr>
        <p:txBody>
          <a:bodyPr/>
          <a:lstStyle/>
          <a:p>
            <a:pPr marL="0" indent="0">
              <a:buNone/>
            </a:pPr>
            <a:endParaRPr lang="en-US" altLang="zh-TW" dirty="0"/>
          </a:p>
          <a:p>
            <a:endParaRPr lang="en-US" altLang="zh-TW" dirty="0"/>
          </a:p>
          <a:p>
            <a:pPr lvl="1"/>
            <a:endParaRPr lang="zh-TW" altLang="en-US" dirty="0"/>
          </a:p>
        </p:txBody>
      </p:sp>
      <p:pic>
        <p:nvPicPr>
          <p:cNvPr id="5" name="圖片 4" descr="DSC_0272.JPG">
            <a:extLst>
              <a:ext uri="{FF2B5EF4-FFF2-40B4-BE49-F238E27FC236}">
                <a16:creationId xmlns:a16="http://schemas.microsoft.com/office/drawing/2014/main" id="{6DDA7D3C-7D12-4185-CC51-48164B69166D}"/>
              </a:ext>
            </a:extLst>
          </p:cNvPr>
          <p:cNvPicPr>
            <a:picLocks noChangeAspect="1"/>
          </p:cNvPicPr>
          <p:nvPr/>
        </p:nvPicPr>
        <p:blipFill>
          <a:blip r:embed="rId2" cstate="email"/>
          <a:srcRect/>
          <a:stretch>
            <a:fillRect/>
          </a:stretch>
        </p:blipFill>
        <p:spPr>
          <a:xfrm>
            <a:off x="519471" y="1046376"/>
            <a:ext cx="4363093" cy="4898550"/>
          </a:xfrm>
          <a:prstGeom prst="rect">
            <a:avLst/>
          </a:prstGeom>
        </p:spPr>
      </p:pic>
      <p:pic>
        <p:nvPicPr>
          <p:cNvPr id="6" name="圖片 5" descr="DSC_0270.JPG">
            <a:extLst>
              <a:ext uri="{FF2B5EF4-FFF2-40B4-BE49-F238E27FC236}">
                <a16:creationId xmlns:a16="http://schemas.microsoft.com/office/drawing/2014/main" id="{86552B1E-E3C5-93EF-F68F-5C2FA1642091}"/>
              </a:ext>
            </a:extLst>
          </p:cNvPr>
          <p:cNvPicPr>
            <a:picLocks noChangeAspect="1"/>
          </p:cNvPicPr>
          <p:nvPr/>
        </p:nvPicPr>
        <p:blipFill>
          <a:blip r:embed="rId3" cstate="email"/>
          <a:stretch>
            <a:fillRect/>
          </a:stretch>
        </p:blipFill>
        <p:spPr>
          <a:xfrm>
            <a:off x="5357634" y="582168"/>
            <a:ext cx="3240360" cy="5373216"/>
          </a:xfrm>
          <a:prstGeom prst="rect">
            <a:avLst/>
          </a:prstGeom>
        </p:spPr>
      </p:pic>
    </p:spTree>
    <p:extLst>
      <p:ext uri="{BB962C8B-B14F-4D97-AF65-F5344CB8AC3E}">
        <p14:creationId xmlns:p14="http://schemas.microsoft.com/office/powerpoint/2010/main" val="3036319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76F184-6703-8BD9-2ACA-452ED6605501}"/>
              </a:ext>
            </a:extLst>
          </p:cNvPr>
          <p:cNvSpPr>
            <a:spLocks noGrp="1"/>
          </p:cNvSpPr>
          <p:nvPr>
            <p:ph type="title"/>
          </p:nvPr>
        </p:nvSpPr>
        <p:spPr/>
        <p:txBody>
          <a:bodyPr>
            <a:normAutofit/>
          </a:bodyPr>
          <a:lstStyle/>
          <a:p>
            <a:r>
              <a:rPr lang="zh-TW" altLang="en-US" dirty="0"/>
              <a:t>集中式的架構</a:t>
            </a:r>
          </a:p>
        </p:txBody>
      </p:sp>
      <p:sp>
        <p:nvSpPr>
          <p:cNvPr id="3" name="內容版面配置區 2">
            <a:extLst>
              <a:ext uri="{FF2B5EF4-FFF2-40B4-BE49-F238E27FC236}">
                <a16:creationId xmlns:a16="http://schemas.microsoft.com/office/drawing/2014/main" id="{C1F7FB74-4FA0-D714-4FC4-527C753EBAF5}"/>
              </a:ext>
            </a:extLst>
          </p:cNvPr>
          <p:cNvSpPr>
            <a:spLocks noGrp="1"/>
          </p:cNvSpPr>
          <p:nvPr>
            <p:ph idx="1"/>
          </p:nvPr>
        </p:nvSpPr>
        <p:spPr/>
        <p:txBody>
          <a:bodyPr/>
          <a:lstStyle/>
          <a:p>
            <a:r>
              <a:rPr lang="zh-TW" altLang="en-US" sz="3200" dirty="0"/>
              <a:t>在大型主機終端機模擬環境中，與使用者交談的電腦終端機並未展現出很多智慧，它僅僅將按鍵內容送到大型主機，然後大型主機接著送回以文字為主的”綠色螢幕”給終端機。</a:t>
            </a:r>
          </a:p>
          <a:p>
            <a:r>
              <a:rPr lang="zh-TW" altLang="en-US" sz="3200" dirty="0"/>
              <a:t>大半的處理都發生在中央式大型主機上</a:t>
            </a:r>
          </a:p>
          <a:p>
            <a:endParaRPr lang="zh-TW" altLang="en-US" dirty="0"/>
          </a:p>
        </p:txBody>
      </p:sp>
    </p:spTree>
    <p:extLst>
      <p:ext uri="{BB962C8B-B14F-4D97-AF65-F5344CB8AC3E}">
        <p14:creationId xmlns:p14="http://schemas.microsoft.com/office/powerpoint/2010/main" val="80285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16ABAB-FA37-DC01-7148-20010953EDA5}"/>
              </a:ext>
            </a:extLst>
          </p:cNvPr>
          <p:cNvSpPr>
            <a:spLocks noGrp="1"/>
          </p:cNvSpPr>
          <p:nvPr>
            <p:ph type="title"/>
          </p:nvPr>
        </p:nvSpPr>
        <p:spPr/>
        <p:txBody>
          <a:bodyPr/>
          <a:lstStyle/>
          <a:p>
            <a:r>
              <a:rPr lang="zh-TW" altLang="en-US" dirty="0"/>
              <a:t>集中式的架構</a:t>
            </a:r>
          </a:p>
        </p:txBody>
      </p:sp>
      <p:sp>
        <p:nvSpPr>
          <p:cNvPr id="3" name="內容版面配置區 2">
            <a:extLst>
              <a:ext uri="{FF2B5EF4-FFF2-40B4-BE49-F238E27FC236}">
                <a16:creationId xmlns:a16="http://schemas.microsoft.com/office/drawing/2014/main" id="{C4EA61E7-5028-31EB-5923-3F48594032EF}"/>
              </a:ext>
            </a:extLst>
          </p:cNvPr>
          <p:cNvSpPr>
            <a:spLocks noGrp="1"/>
          </p:cNvSpPr>
          <p:nvPr>
            <p:ph idx="1"/>
          </p:nvPr>
        </p:nvSpPr>
        <p:spPr>
          <a:xfrm>
            <a:off x="837765" y="872155"/>
            <a:ext cx="10701092" cy="994352"/>
          </a:xfrm>
        </p:spPr>
        <p:txBody>
          <a:bodyPr/>
          <a:lstStyle/>
          <a:p>
            <a:r>
              <a:rPr lang="zh-TW" altLang="en-US" dirty="0"/>
              <a:t>只有終端機字元及螢幕從客戶端送到伺服器</a:t>
            </a:r>
            <a:endParaRPr lang="en-US" altLang="zh-TW" dirty="0"/>
          </a:p>
          <a:p>
            <a:pPr lvl="1"/>
            <a:r>
              <a:rPr lang="zh-TW" altLang="en-US" dirty="0"/>
              <a:t>所有的處理都在主機上完成</a:t>
            </a:r>
          </a:p>
          <a:p>
            <a:endParaRPr lang="zh-TW" altLang="en-US" dirty="0"/>
          </a:p>
        </p:txBody>
      </p:sp>
      <p:graphicFrame>
        <p:nvGraphicFramePr>
          <p:cNvPr id="4" name="Object 7">
            <a:extLst>
              <a:ext uri="{FF2B5EF4-FFF2-40B4-BE49-F238E27FC236}">
                <a16:creationId xmlns:a16="http://schemas.microsoft.com/office/drawing/2014/main" id="{99074E4D-460A-4DB2-516E-74345A51612D}"/>
              </a:ext>
            </a:extLst>
          </p:cNvPr>
          <p:cNvGraphicFramePr>
            <a:graphicFrameLocks noChangeAspect="1"/>
          </p:cNvGraphicFramePr>
          <p:nvPr>
            <p:extLst>
              <p:ext uri="{D42A27DB-BD31-4B8C-83A1-F6EECF244321}">
                <p14:modId xmlns:p14="http://schemas.microsoft.com/office/powerpoint/2010/main" val="2118417635"/>
              </p:ext>
            </p:extLst>
          </p:nvPr>
        </p:nvGraphicFramePr>
        <p:xfrm>
          <a:off x="1594561" y="2512013"/>
          <a:ext cx="7885112" cy="2806700"/>
        </p:xfrm>
        <a:graphic>
          <a:graphicData uri="http://schemas.openxmlformats.org/presentationml/2006/ole">
            <mc:AlternateContent xmlns:mc="http://schemas.openxmlformats.org/markup-compatibility/2006">
              <mc:Choice xmlns:v="urn:schemas-microsoft-com:vml" Requires="v">
                <p:oleObj name="Visio" r:id="rId2" imgW="6460560" imgH="2300400" progId="">
                  <p:embed/>
                </p:oleObj>
              </mc:Choice>
              <mc:Fallback>
                <p:oleObj name="Visio" r:id="rId2" imgW="6460560" imgH="2300400" progId="">
                  <p:embed/>
                  <p:pic>
                    <p:nvPicPr>
                      <p:cNvPr id="6"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4561" y="2512013"/>
                        <a:ext cx="7885112"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231620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810465-6F82-E354-06D7-14734512BBC3}"/>
              </a:ext>
            </a:extLst>
          </p:cNvPr>
          <p:cNvSpPr>
            <a:spLocks noGrp="1"/>
          </p:cNvSpPr>
          <p:nvPr>
            <p:ph type="title"/>
          </p:nvPr>
        </p:nvSpPr>
        <p:spPr/>
        <p:txBody>
          <a:bodyPr/>
          <a:lstStyle/>
          <a:p>
            <a:r>
              <a:rPr lang="zh-TW" altLang="en-US" dirty="0"/>
              <a:t>檔案伺服器架構</a:t>
            </a:r>
          </a:p>
        </p:txBody>
      </p:sp>
      <p:sp>
        <p:nvSpPr>
          <p:cNvPr id="3" name="內容版面配置區 2">
            <a:extLst>
              <a:ext uri="{FF2B5EF4-FFF2-40B4-BE49-F238E27FC236}">
                <a16:creationId xmlns:a16="http://schemas.microsoft.com/office/drawing/2014/main" id="{ABCCEA5A-9C10-1EFB-4FFA-8142DEB9D0FA}"/>
              </a:ext>
            </a:extLst>
          </p:cNvPr>
          <p:cNvSpPr>
            <a:spLocks noGrp="1"/>
          </p:cNvSpPr>
          <p:nvPr>
            <p:ph idx="1"/>
          </p:nvPr>
        </p:nvSpPr>
        <p:spPr>
          <a:xfrm>
            <a:off x="837765" y="872155"/>
            <a:ext cx="10701092" cy="1135754"/>
          </a:xfrm>
        </p:spPr>
        <p:txBody>
          <a:bodyPr/>
          <a:lstStyle/>
          <a:p>
            <a:r>
              <a:rPr lang="zh-TW" altLang="en-US" dirty="0"/>
              <a:t>整個表格透過網路來傳送，並且搜尋是在客戶端完成。</a:t>
            </a:r>
          </a:p>
          <a:p>
            <a:pPr marL="0" indent="0">
              <a:buNone/>
            </a:pPr>
            <a:endParaRPr lang="zh-TW" altLang="en-US" dirty="0"/>
          </a:p>
        </p:txBody>
      </p:sp>
      <p:pic>
        <p:nvPicPr>
          <p:cNvPr id="6" name="圖片 5">
            <a:extLst>
              <a:ext uri="{FF2B5EF4-FFF2-40B4-BE49-F238E27FC236}">
                <a16:creationId xmlns:a16="http://schemas.microsoft.com/office/drawing/2014/main" id="{92F03367-AC5D-6476-A2D1-B85A04F300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1155" y="2007909"/>
            <a:ext cx="7881300" cy="3898605"/>
          </a:xfrm>
          <a:prstGeom prst="rect">
            <a:avLst/>
          </a:prstGeom>
        </p:spPr>
      </p:pic>
    </p:spTree>
    <p:extLst>
      <p:ext uri="{BB962C8B-B14F-4D97-AF65-F5344CB8AC3E}">
        <p14:creationId xmlns:p14="http://schemas.microsoft.com/office/powerpoint/2010/main" val="1189566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6CF1C8-4A89-24AA-3C95-F9C8DBB4E7C8}"/>
              </a:ext>
            </a:extLst>
          </p:cNvPr>
          <p:cNvSpPr>
            <a:spLocks noGrp="1"/>
          </p:cNvSpPr>
          <p:nvPr>
            <p:ph type="title"/>
          </p:nvPr>
        </p:nvSpPr>
        <p:spPr/>
        <p:txBody>
          <a:bodyPr/>
          <a:lstStyle/>
          <a:p>
            <a:r>
              <a:rPr lang="zh-TW" altLang="en-US" dirty="0"/>
              <a:t>檔案伺服器架構</a:t>
            </a:r>
          </a:p>
        </p:txBody>
      </p:sp>
      <p:sp>
        <p:nvSpPr>
          <p:cNvPr id="3" name="內容版面配置區 2">
            <a:extLst>
              <a:ext uri="{FF2B5EF4-FFF2-40B4-BE49-F238E27FC236}">
                <a16:creationId xmlns:a16="http://schemas.microsoft.com/office/drawing/2014/main" id="{BC0D9236-947B-F42E-2072-906D7109CC9A}"/>
              </a:ext>
            </a:extLst>
          </p:cNvPr>
          <p:cNvSpPr>
            <a:spLocks noGrp="1"/>
          </p:cNvSpPr>
          <p:nvPr>
            <p:ph idx="1"/>
          </p:nvPr>
        </p:nvSpPr>
        <p:spPr/>
        <p:txBody>
          <a:bodyPr>
            <a:normAutofit/>
          </a:bodyPr>
          <a:lstStyle/>
          <a:p>
            <a:r>
              <a:rPr lang="zh-TW" altLang="en-US" sz="3200" dirty="0"/>
              <a:t>資料庫是由一個資料庫檔案所構成，並無資料庫引擎</a:t>
            </a:r>
            <a:r>
              <a:rPr lang="en-US" altLang="zh-TW" sz="3200" dirty="0"/>
              <a:t>(engine)</a:t>
            </a:r>
            <a:r>
              <a:rPr lang="zh-TW" altLang="en-US" sz="3200" dirty="0"/>
              <a:t>在網路上的伺服器執行。唯一需要的是一個簡單的檔案伺服器。</a:t>
            </a:r>
          </a:p>
          <a:p>
            <a:r>
              <a:rPr lang="zh-TW" altLang="en-US" sz="3200" dirty="0"/>
              <a:t>資料庫引擎實際上是在客戶端機器上執行，並緊密地與客戶端應用程式結合。</a:t>
            </a:r>
          </a:p>
          <a:p>
            <a:endParaRPr lang="zh-TW" altLang="en-US" sz="4000" dirty="0"/>
          </a:p>
        </p:txBody>
      </p:sp>
    </p:spTree>
    <p:extLst>
      <p:ext uri="{BB962C8B-B14F-4D97-AF65-F5344CB8AC3E}">
        <p14:creationId xmlns:p14="http://schemas.microsoft.com/office/powerpoint/2010/main" val="2457239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35295B-C548-335E-38F8-2BBC165EF8FD}"/>
              </a:ext>
            </a:extLst>
          </p:cNvPr>
          <p:cNvSpPr>
            <a:spLocks noGrp="1"/>
          </p:cNvSpPr>
          <p:nvPr>
            <p:ph type="title"/>
          </p:nvPr>
        </p:nvSpPr>
        <p:spPr/>
        <p:txBody>
          <a:bodyPr/>
          <a:lstStyle/>
          <a:p>
            <a:r>
              <a:rPr lang="zh-TW" altLang="en-US" dirty="0"/>
              <a:t>主從式架構</a:t>
            </a:r>
          </a:p>
        </p:txBody>
      </p:sp>
      <p:sp>
        <p:nvSpPr>
          <p:cNvPr id="3" name="內容版面配置區 2">
            <a:extLst>
              <a:ext uri="{FF2B5EF4-FFF2-40B4-BE49-F238E27FC236}">
                <a16:creationId xmlns:a16="http://schemas.microsoft.com/office/drawing/2014/main" id="{F7365FCF-99EE-7402-88D2-61E29A172565}"/>
              </a:ext>
            </a:extLst>
          </p:cNvPr>
          <p:cNvSpPr>
            <a:spLocks noGrp="1"/>
          </p:cNvSpPr>
          <p:nvPr>
            <p:ph idx="1"/>
          </p:nvPr>
        </p:nvSpPr>
        <p:spPr>
          <a:xfrm>
            <a:off x="837765" y="872155"/>
            <a:ext cx="10701092" cy="2323532"/>
          </a:xfrm>
        </p:spPr>
        <p:txBody>
          <a:bodyPr/>
          <a:lstStyle/>
          <a:p>
            <a:r>
              <a:rPr lang="zh-TW" altLang="en-US" dirty="0"/>
              <a:t>它們被切割成兩個邏輯層</a:t>
            </a:r>
            <a:r>
              <a:rPr lang="en-US" altLang="zh-TW" dirty="0"/>
              <a:t>:</a:t>
            </a:r>
            <a:r>
              <a:rPr lang="zh-TW" altLang="en-US" dirty="0"/>
              <a:t>前端及後端</a:t>
            </a:r>
          </a:p>
          <a:p>
            <a:r>
              <a:rPr lang="zh-TW" altLang="en-US" dirty="0"/>
              <a:t>前端程序是用像</a:t>
            </a:r>
            <a:r>
              <a:rPr lang="en-US" altLang="zh-TW" dirty="0"/>
              <a:t>Visual Basic </a:t>
            </a:r>
            <a:r>
              <a:rPr lang="zh-TW" altLang="en-US" dirty="0"/>
              <a:t>或 </a:t>
            </a:r>
            <a:r>
              <a:rPr lang="en-US" altLang="zh-TW" dirty="0"/>
              <a:t>PowerBuilder</a:t>
            </a:r>
            <a:r>
              <a:rPr lang="zh-TW" altLang="en-US" dirty="0"/>
              <a:t>那樣的</a:t>
            </a:r>
            <a:r>
              <a:rPr lang="en-US" altLang="zh-TW" dirty="0"/>
              <a:t>4GL</a:t>
            </a:r>
            <a:r>
              <a:rPr lang="zh-TW" altLang="en-US" dirty="0"/>
              <a:t>語言所開發。</a:t>
            </a:r>
          </a:p>
          <a:p>
            <a:r>
              <a:rPr lang="zh-TW" altLang="en-US" dirty="0"/>
              <a:t>後端程序是個像</a:t>
            </a:r>
            <a:r>
              <a:rPr lang="en-US" altLang="zh-TW" dirty="0"/>
              <a:t>SQL Server</a:t>
            </a:r>
            <a:r>
              <a:rPr lang="zh-TW" altLang="en-US" dirty="0"/>
              <a:t> 或 </a:t>
            </a:r>
            <a:r>
              <a:rPr lang="en-US" altLang="zh-TW" dirty="0"/>
              <a:t>MySQL</a:t>
            </a:r>
            <a:r>
              <a:rPr lang="zh-TW" altLang="en-US" dirty="0"/>
              <a:t>那樣的資料庫伺服器。</a:t>
            </a:r>
            <a:r>
              <a:rPr lang="en-US" altLang="zh-TW" dirty="0"/>
              <a:t>(table</a:t>
            </a:r>
            <a:r>
              <a:rPr lang="zh-TW" altLang="en-US" dirty="0"/>
              <a:t>、</a:t>
            </a:r>
            <a:r>
              <a:rPr lang="en-US" altLang="zh-TW" dirty="0"/>
              <a:t>trigger..)</a:t>
            </a:r>
          </a:p>
          <a:p>
            <a:endParaRPr lang="zh-TW" altLang="en-US" dirty="0"/>
          </a:p>
        </p:txBody>
      </p:sp>
      <p:graphicFrame>
        <p:nvGraphicFramePr>
          <p:cNvPr id="4" name="Object 11">
            <a:extLst>
              <a:ext uri="{FF2B5EF4-FFF2-40B4-BE49-F238E27FC236}">
                <a16:creationId xmlns:a16="http://schemas.microsoft.com/office/drawing/2014/main" id="{368E6A8D-B256-EA35-00EA-2F89CB8C29AF}"/>
              </a:ext>
            </a:extLst>
          </p:cNvPr>
          <p:cNvGraphicFramePr>
            <a:graphicFrameLocks noChangeAspect="1"/>
          </p:cNvGraphicFramePr>
          <p:nvPr>
            <p:extLst>
              <p:ext uri="{D42A27DB-BD31-4B8C-83A1-F6EECF244321}">
                <p14:modId xmlns:p14="http://schemas.microsoft.com/office/powerpoint/2010/main" val="108403303"/>
              </p:ext>
            </p:extLst>
          </p:nvPr>
        </p:nvGraphicFramePr>
        <p:xfrm>
          <a:off x="1410900" y="3195687"/>
          <a:ext cx="7885112" cy="3090862"/>
        </p:xfrm>
        <a:graphic>
          <a:graphicData uri="http://schemas.openxmlformats.org/presentationml/2006/ole">
            <mc:AlternateContent xmlns:mc="http://schemas.openxmlformats.org/markup-compatibility/2006">
              <mc:Choice xmlns:v="urn:schemas-microsoft-com:vml" Requires="v">
                <p:oleObj name="Visio" r:id="rId2" imgW="2381488" imgH="933212" progId="">
                  <p:embed/>
                </p:oleObj>
              </mc:Choice>
              <mc:Fallback>
                <p:oleObj name="Visio" r:id="rId2" imgW="2381488" imgH="933212" progId="">
                  <p:embed/>
                  <p:pic>
                    <p:nvPicPr>
                      <p:cNvPr id="5"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0900" y="3195687"/>
                        <a:ext cx="7885112" cy="309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89312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1061FE-2947-BC62-154B-2BA89367F360}"/>
              </a:ext>
            </a:extLst>
          </p:cNvPr>
          <p:cNvSpPr>
            <a:spLocks noGrp="1"/>
          </p:cNvSpPr>
          <p:nvPr>
            <p:ph type="title"/>
          </p:nvPr>
        </p:nvSpPr>
        <p:spPr/>
        <p:txBody>
          <a:bodyPr/>
          <a:lstStyle/>
          <a:p>
            <a:r>
              <a:rPr lang="zh-TW" altLang="en-US" dirty="0"/>
              <a:t>兩層主從式架構的限制</a:t>
            </a:r>
          </a:p>
        </p:txBody>
      </p:sp>
      <p:sp>
        <p:nvSpPr>
          <p:cNvPr id="3" name="內容版面配置區 2">
            <a:extLst>
              <a:ext uri="{FF2B5EF4-FFF2-40B4-BE49-F238E27FC236}">
                <a16:creationId xmlns:a16="http://schemas.microsoft.com/office/drawing/2014/main" id="{79906BB1-ECFF-6A90-C620-26FB9A806F69}"/>
              </a:ext>
            </a:extLst>
          </p:cNvPr>
          <p:cNvSpPr>
            <a:spLocks noGrp="1"/>
          </p:cNvSpPr>
          <p:nvPr>
            <p:ph idx="1"/>
          </p:nvPr>
        </p:nvSpPr>
        <p:spPr/>
        <p:txBody>
          <a:bodyPr/>
          <a:lstStyle/>
          <a:p>
            <a:r>
              <a:rPr lang="zh-TW" altLang="en-US" sz="3200" dirty="0"/>
              <a:t>前端程式維護不易</a:t>
            </a:r>
          </a:p>
          <a:p>
            <a:r>
              <a:rPr lang="zh-TW" altLang="en-US" sz="3200" dirty="0"/>
              <a:t>難以分享共同的程序</a:t>
            </a:r>
          </a:p>
          <a:p>
            <a:r>
              <a:rPr lang="zh-TW" altLang="en-US" sz="3200" dirty="0"/>
              <a:t>多人同時使用資料庫連結太多，造成資料庫負擔過重</a:t>
            </a:r>
          </a:p>
          <a:p>
            <a:pPr marL="0" indent="0">
              <a:buNone/>
            </a:pPr>
            <a:endParaRPr lang="zh-TW" altLang="en-US" dirty="0"/>
          </a:p>
        </p:txBody>
      </p:sp>
    </p:spTree>
    <p:extLst>
      <p:ext uri="{BB962C8B-B14F-4D97-AF65-F5344CB8AC3E}">
        <p14:creationId xmlns:p14="http://schemas.microsoft.com/office/powerpoint/2010/main" val="2815271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BFDA1F-821F-8F9C-D2BC-F7A7AC02A237}"/>
              </a:ext>
            </a:extLst>
          </p:cNvPr>
          <p:cNvSpPr>
            <a:spLocks noGrp="1"/>
          </p:cNvSpPr>
          <p:nvPr>
            <p:ph type="title"/>
          </p:nvPr>
        </p:nvSpPr>
        <p:spPr/>
        <p:txBody>
          <a:bodyPr>
            <a:normAutofit/>
          </a:bodyPr>
          <a:lstStyle/>
          <a:p>
            <a:r>
              <a:rPr lang="zh-TW" altLang="en-US" dirty="0"/>
              <a:t>三層式主從架構</a:t>
            </a:r>
          </a:p>
        </p:txBody>
      </p:sp>
      <p:graphicFrame>
        <p:nvGraphicFramePr>
          <p:cNvPr id="4" name="Object 12">
            <a:extLst>
              <a:ext uri="{FF2B5EF4-FFF2-40B4-BE49-F238E27FC236}">
                <a16:creationId xmlns:a16="http://schemas.microsoft.com/office/drawing/2014/main" id="{CA1E20D6-2283-F630-5D20-92221615E3F4}"/>
              </a:ext>
            </a:extLst>
          </p:cNvPr>
          <p:cNvGraphicFramePr>
            <a:graphicFrameLocks noChangeAspect="1"/>
          </p:cNvGraphicFramePr>
          <p:nvPr>
            <p:extLst>
              <p:ext uri="{D42A27DB-BD31-4B8C-83A1-F6EECF244321}">
                <p14:modId xmlns:p14="http://schemas.microsoft.com/office/powerpoint/2010/main" val="2527588790"/>
              </p:ext>
            </p:extLst>
          </p:nvPr>
        </p:nvGraphicFramePr>
        <p:xfrm>
          <a:off x="855597" y="1897248"/>
          <a:ext cx="9117961" cy="4467225"/>
        </p:xfrm>
        <a:graphic>
          <a:graphicData uri="http://schemas.openxmlformats.org/presentationml/2006/ole">
            <mc:AlternateContent xmlns:mc="http://schemas.openxmlformats.org/markup-compatibility/2006">
              <mc:Choice xmlns:v="urn:schemas-microsoft-com:vml" Requires="v">
                <p:oleObj name="Visio" r:id="rId2" imgW="4503240" imgH="2638080" progId="">
                  <p:embed/>
                </p:oleObj>
              </mc:Choice>
              <mc:Fallback>
                <p:oleObj name="Visio" r:id="rId2" imgW="4503240" imgH="2638080" progId="">
                  <p:embed/>
                  <p:pic>
                    <p:nvPicPr>
                      <p:cNvPr id="4"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597" y="1897248"/>
                        <a:ext cx="9117961" cy="4467225"/>
                      </a:xfrm>
                      <a:prstGeom prst="rect">
                        <a:avLst/>
                      </a:prstGeom>
                      <a:noFill/>
                      <a:ln>
                        <a:noFill/>
                      </a:ln>
                      <a:effectLst/>
                    </p:spPr>
                  </p:pic>
                </p:oleObj>
              </mc:Fallback>
            </mc:AlternateContent>
          </a:graphicData>
        </a:graphic>
      </p:graphicFrame>
      <p:sp>
        <p:nvSpPr>
          <p:cNvPr id="5" name="Line 13">
            <a:extLst>
              <a:ext uri="{FF2B5EF4-FFF2-40B4-BE49-F238E27FC236}">
                <a16:creationId xmlns:a16="http://schemas.microsoft.com/office/drawing/2014/main" id="{D97990BE-2C1C-C811-EC40-200F26AD253B}"/>
              </a:ext>
            </a:extLst>
          </p:cNvPr>
          <p:cNvSpPr>
            <a:spLocks noChangeShapeType="1"/>
          </p:cNvSpPr>
          <p:nvPr/>
        </p:nvSpPr>
        <p:spPr bwMode="auto">
          <a:xfrm>
            <a:off x="2167495" y="2500464"/>
            <a:ext cx="3200400" cy="1371600"/>
          </a:xfrm>
          <a:prstGeom prst="line">
            <a:avLst/>
          </a:prstGeom>
          <a:noFill/>
          <a:ln w="12700" cap="sq">
            <a:solidFill>
              <a:schemeClr val="tx1"/>
            </a:solidFill>
            <a:round/>
            <a:headEnd type="none" w="sm" len="sm"/>
            <a:tailEnd type="triangle" w="med" len="lg"/>
          </a:ln>
          <a:effectLst/>
        </p:spPr>
        <p:txBody>
          <a:bodyPr wrap="none"/>
          <a:lstStyle/>
          <a:p>
            <a:endParaRPr lang="zh-TW" altLang="en-US"/>
          </a:p>
        </p:txBody>
      </p:sp>
      <p:sp>
        <p:nvSpPr>
          <p:cNvPr id="6" name="Line 14">
            <a:extLst>
              <a:ext uri="{FF2B5EF4-FFF2-40B4-BE49-F238E27FC236}">
                <a16:creationId xmlns:a16="http://schemas.microsoft.com/office/drawing/2014/main" id="{AAE8ABEC-C211-7026-483A-8104BD68AC35}"/>
              </a:ext>
            </a:extLst>
          </p:cNvPr>
          <p:cNvSpPr>
            <a:spLocks noChangeShapeType="1"/>
          </p:cNvSpPr>
          <p:nvPr/>
        </p:nvSpPr>
        <p:spPr bwMode="auto">
          <a:xfrm>
            <a:off x="2167495" y="4176864"/>
            <a:ext cx="3200400" cy="0"/>
          </a:xfrm>
          <a:prstGeom prst="line">
            <a:avLst/>
          </a:prstGeom>
          <a:noFill/>
          <a:ln w="12700" cap="sq">
            <a:solidFill>
              <a:schemeClr val="tx1"/>
            </a:solidFill>
            <a:round/>
            <a:headEnd type="none" w="sm" len="sm"/>
            <a:tailEnd type="triangle" w="med" len="lg"/>
          </a:ln>
          <a:effectLst/>
        </p:spPr>
        <p:txBody>
          <a:bodyPr wrap="none"/>
          <a:lstStyle/>
          <a:p>
            <a:endParaRPr lang="zh-TW" altLang="en-US"/>
          </a:p>
        </p:txBody>
      </p:sp>
      <p:sp>
        <p:nvSpPr>
          <p:cNvPr id="7" name="Line 15">
            <a:extLst>
              <a:ext uri="{FF2B5EF4-FFF2-40B4-BE49-F238E27FC236}">
                <a16:creationId xmlns:a16="http://schemas.microsoft.com/office/drawing/2014/main" id="{0F78E396-0178-4D58-703E-9DC4A2BAB6AE}"/>
              </a:ext>
            </a:extLst>
          </p:cNvPr>
          <p:cNvSpPr>
            <a:spLocks noChangeShapeType="1"/>
          </p:cNvSpPr>
          <p:nvPr/>
        </p:nvSpPr>
        <p:spPr bwMode="auto">
          <a:xfrm flipV="1">
            <a:off x="2091295" y="4557864"/>
            <a:ext cx="3276600" cy="914400"/>
          </a:xfrm>
          <a:prstGeom prst="line">
            <a:avLst/>
          </a:prstGeom>
          <a:noFill/>
          <a:ln w="12700" cap="sq">
            <a:solidFill>
              <a:schemeClr val="tx1"/>
            </a:solidFill>
            <a:round/>
            <a:headEnd type="none" w="sm" len="sm"/>
            <a:tailEnd type="triangle" w="med" len="lg"/>
          </a:ln>
          <a:effectLst/>
        </p:spPr>
        <p:txBody>
          <a:bodyPr wrap="none"/>
          <a:lstStyle/>
          <a:p>
            <a:endParaRPr lang="zh-TW" altLang="en-US"/>
          </a:p>
        </p:txBody>
      </p:sp>
      <p:pic>
        <p:nvPicPr>
          <p:cNvPr id="9" name="圖片 8">
            <a:extLst>
              <a:ext uri="{FF2B5EF4-FFF2-40B4-BE49-F238E27FC236}">
                <a16:creationId xmlns:a16="http://schemas.microsoft.com/office/drawing/2014/main" id="{106BD3D0-12E9-1368-0721-4033B7449CF3}"/>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729595" y="3186264"/>
            <a:ext cx="1754429" cy="2291499"/>
          </a:xfrm>
          <a:prstGeom prst="rect">
            <a:avLst/>
          </a:prstGeom>
        </p:spPr>
      </p:pic>
      <p:cxnSp>
        <p:nvCxnSpPr>
          <p:cNvPr id="11" name="直線單箭頭接點 10">
            <a:extLst>
              <a:ext uri="{FF2B5EF4-FFF2-40B4-BE49-F238E27FC236}">
                <a16:creationId xmlns:a16="http://schemas.microsoft.com/office/drawing/2014/main" id="{1B820CCA-E4CB-7D01-DF04-7013C408FF3A}"/>
              </a:ext>
            </a:extLst>
          </p:cNvPr>
          <p:cNvCxnSpPr/>
          <p:nvPr/>
        </p:nvCxnSpPr>
        <p:spPr>
          <a:xfrm>
            <a:off x="5533534" y="4326907"/>
            <a:ext cx="9992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9">
            <a:extLst>
              <a:ext uri="{FF2B5EF4-FFF2-40B4-BE49-F238E27FC236}">
                <a16:creationId xmlns:a16="http://schemas.microsoft.com/office/drawing/2014/main" id="{A28C960D-0B73-901E-4CF3-A5584839FC0A}"/>
              </a:ext>
            </a:extLst>
          </p:cNvPr>
          <p:cNvSpPr>
            <a:spLocks noChangeArrowheads="1"/>
          </p:cNvSpPr>
          <p:nvPr/>
        </p:nvSpPr>
        <p:spPr bwMode="auto">
          <a:xfrm>
            <a:off x="3921550" y="670535"/>
            <a:ext cx="8125905" cy="1323439"/>
          </a:xfrm>
          <a:prstGeom prst="rect">
            <a:avLst/>
          </a:prstGeom>
          <a:noFill/>
          <a:ln w="12700" cap="sq">
            <a:noFill/>
            <a:miter lim="800000"/>
            <a:headEnd type="none" w="sm" len="sm"/>
            <a:tailEnd type="none" w="sm" len="sm"/>
          </a:ln>
          <a:effectLst/>
        </p:spPr>
        <p:txBody>
          <a:bodyPr wrap="square">
            <a:spAutoFit/>
          </a:bodyPr>
          <a:lstStyle/>
          <a:p>
            <a:pPr algn="l"/>
            <a:r>
              <a:rPr kumimoji="1" lang="zh-TW" altLang="en-US" sz="2000" dirty="0">
                <a:latin typeface="標楷體" panose="03000509000000000000" pitchFamily="65" charset="-120"/>
                <a:ea typeface="標楷體" panose="03000509000000000000" pitchFamily="65" charset="-120"/>
              </a:rPr>
              <a:t>資料服務層</a:t>
            </a:r>
            <a:r>
              <a:rPr kumimoji="1" lang="en-US" altLang="zh-TW" sz="2000" dirty="0">
                <a:latin typeface="標楷體" panose="03000509000000000000" pitchFamily="65" charset="-120"/>
                <a:ea typeface="標楷體" panose="03000509000000000000" pitchFamily="65" charset="-120"/>
              </a:rPr>
              <a:t>:</a:t>
            </a:r>
            <a:r>
              <a:rPr kumimoji="1" lang="zh-TW" altLang="en-US" sz="2000" dirty="0">
                <a:latin typeface="標楷體" panose="03000509000000000000" pitchFamily="65" charset="-120"/>
                <a:ea typeface="標楷體" panose="03000509000000000000" pitchFamily="65" charset="-120"/>
              </a:rPr>
              <a:t>執行資料輸入及儲存到資料庫的例行作業</a:t>
            </a:r>
            <a:r>
              <a:rPr kumimoji="1" lang="en-US" altLang="zh-TW" sz="2000" dirty="0">
                <a:latin typeface="標楷體" panose="03000509000000000000" pitchFamily="65" charset="-120"/>
                <a:ea typeface="標楷體" panose="03000509000000000000" pitchFamily="65" charset="-120"/>
              </a:rPr>
              <a:t>(</a:t>
            </a:r>
            <a:r>
              <a:rPr kumimoji="1" lang="zh-TW" altLang="en-US" sz="2000" dirty="0">
                <a:latin typeface="標楷體" panose="03000509000000000000" pitchFamily="65" charset="-120"/>
                <a:ea typeface="標楷體" panose="03000509000000000000" pitchFamily="65" charset="-120"/>
              </a:rPr>
              <a:t>不包含企業規則</a:t>
            </a:r>
            <a:r>
              <a:rPr kumimoji="1" lang="en-US" altLang="zh-TW" sz="2000" dirty="0">
                <a:latin typeface="標楷體" panose="03000509000000000000" pitchFamily="65" charset="-120"/>
                <a:ea typeface="標楷體" panose="03000509000000000000" pitchFamily="65" charset="-120"/>
              </a:rPr>
              <a:t>)</a:t>
            </a:r>
          </a:p>
          <a:p>
            <a:pPr algn="l"/>
            <a:r>
              <a:rPr kumimoji="1" lang="zh-TW" altLang="en-US" sz="2000" dirty="0">
                <a:latin typeface="標楷體" panose="03000509000000000000" pitchFamily="65" charset="-120"/>
                <a:ea typeface="標楷體" panose="03000509000000000000" pitchFamily="65" charset="-120"/>
              </a:rPr>
              <a:t>企業服務層</a:t>
            </a:r>
            <a:r>
              <a:rPr kumimoji="1" lang="en-US" altLang="zh-TW" sz="2000" dirty="0">
                <a:latin typeface="標楷體" panose="03000509000000000000" pitchFamily="65" charset="-120"/>
                <a:ea typeface="標楷體" panose="03000509000000000000" pitchFamily="65" charset="-120"/>
              </a:rPr>
              <a:t>:</a:t>
            </a:r>
            <a:r>
              <a:rPr kumimoji="1" lang="zh-TW" altLang="en-US" sz="2000" dirty="0">
                <a:latin typeface="標楷體" panose="03000509000000000000" pitchFamily="65" charset="-120"/>
                <a:ea typeface="標楷體" panose="03000509000000000000" pitchFamily="65" charset="-120"/>
              </a:rPr>
              <a:t>使用資料服務層程式來操作資料</a:t>
            </a:r>
            <a:r>
              <a:rPr kumimoji="1" lang="en-US" altLang="zh-TW" sz="2000" dirty="0">
                <a:latin typeface="標楷體" panose="03000509000000000000" pitchFamily="65" charset="-120"/>
                <a:ea typeface="標楷體" panose="03000509000000000000" pitchFamily="65" charset="-120"/>
              </a:rPr>
              <a:t>(</a:t>
            </a:r>
            <a:r>
              <a:rPr kumimoji="1" lang="zh-TW" altLang="en-US" sz="2000" dirty="0">
                <a:latin typeface="標楷體" panose="03000509000000000000" pitchFamily="65" charset="-120"/>
                <a:ea typeface="標楷體" panose="03000509000000000000" pitchFamily="65" charset="-120"/>
              </a:rPr>
              <a:t>包含企業規則</a:t>
            </a:r>
            <a:r>
              <a:rPr kumimoji="1" lang="en-US" altLang="zh-TW" sz="2000" dirty="0">
                <a:latin typeface="標楷體" panose="03000509000000000000" pitchFamily="65" charset="-120"/>
                <a:ea typeface="標楷體" panose="03000509000000000000" pitchFamily="65" charset="-120"/>
              </a:rPr>
              <a:t>);</a:t>
            </a:r>
            <a:r>
              <a:rPr kumimoji="1" lang="zh-TW" altLang="en-US" sz="2000" dirty="0">
                <a:latin typeface="標楷體" panose="03000509000000000000" pitchFamily="65" charset="-120"/>
                <a:ea typeface="標楷體" panose="03000509000000000000" pitchFamily="65" charset="-120"/>
              </a:rPr>
              <a:t>元件化</a:t>
            </a:r>
          </a:p>
          <a:p>
            <a:pPr algn="l"/>
            <a:r>
              <a:rPr kumimoji="1" lang="zh-TW" altLang="en-US" sz="2000" dirty="0">
                <a:latin typeface="標楷體" panose="03000509000000000000" pitchFamily="65" charset="-120"/>
                <a:ea typeface="標楷體" panose="03000509000000000000" pitchFamily="65" charset="-120"/>
              </a:rPr>
              <a:t>使用者服務層</a:t>
            </a:r>
            <a:r>
              <a:rPr kumimoji="1" lang="en-US" altLang="zh-TW" sz="2000" dirty="0">
                <a:latin typeface="標楷體" panose="03000509000000000000" pitchFamily="65" charset="-120"/>
                <a:ea typeface="標楷體" panose="03000509000000000000" pitchFamily="65" charset="-120"/>
              </a:rPr>
              <a:t>: </a:t>
            </a:r>
            <a:r>
              <a:rPr kumimoji="1" lang="zh-TW" altLang="en-US" sz="2000" dirty="0">
                <a:latin typeface="標楷體" panose="03000509000000000000" pitchFamily="65" charset="-120"/>
                <a:ea typeface="標楷體" panose="03000509000000000000" pitchFamily="65" charset="-120"/>
              </a:rPr>
              <a:t>將資料透過圖形介面展示在終端使用者面前；使用瀏覽器如</a:t>
            </a:r>
            <a:r>
              <a:rPr kumimoji="1" lang="en-US" altLang="zh-TW" sz="2000" dirty="0">
                <a:latin typeface="標楷體" panose="03000509000000000000" pitchFamily="65" charset="-120"/>
                <a:ea typeface="標楷體" panose="03000509000000000000" pitchFamily="65" charset="-120"/>
              </a:rPr>
              <a:t>IE</a:t>
            </a:r>
            <a:r>
              <a:rPr kumimoji="1" lang="zh-TW" altLang="en-US" sz="2000" dirty="0">
                <a:latin typeface="標楷體" panose="03000509000000000000" pitchFamily="65" charset="-120"/>
                <a:ea typeface="標楷體" panose="03000509000000000000" pitchFamily="65" charset="-120"/>
              </a:rPr>
              <a:t>等</a:t>
            </a:r>
          </a:p>
        </p:txBody>
      </p:sp>
    </p:spTree>
    <p:extLst>
      <p:ext uri="{BB962C8B-B14F-4D97-AF65-F5344CB8AC3E}">
        <p14:creationId xmlns:p14="http://schemas.microsoft.com/office/powerpoint/2010/main" val="106898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9D21D9-BA5E-C7A1-7E98-181FD910583C}"/>
              </a:ext>
            </a:extLst>
          </p:cNvPr>
          <p:cNvSpPr>
            <a:spLocks noGrp="1"/>
          </p:cNvSpPr>
          <p:nvPr>
            <p:ph type="title"/>
          </p:nvPr>
        </p:nvSpPr>
        <p:spPr/>
        <p:txBody>
          <a:bodyPr/>
          <a:lstStyle/>
          <a:p>
            <a:r>
              <a:rPr lang="zh-TW" altLang="en-US" dirty="0"/>
              <a:t>跨平台</a:t>
            </a:r>
          </a:p>
        </p:txBody>
      </p:sp>
      <p:sp>
        <p:nvSpPr>
          <p:cNvPr id="3" name="內容版面配置區 2">
            <a:extLst>
              <a:ext uri="{FF2B5EF4-FFF2-40B4-BE49-F238E27FC236}">
                <a16:creationId xmlns:a16="http://schemas.microsoft.com/office/drawing/2014/main" id="{A4FB3725-1B8C-A9D9-8424-7AEC2385B754}"/>
              </a:ext>
            </a:extLst>
          </p:cNvPr>
          <p:cNvSpPr>
            <a:spLocks noGrp="1"/>
          </p:cNvSpPr>
          <p:nvPr>
            <p:ph idx="1"/>
          </p:nvPr>
        </p:nvSpPr>
        <p:spPr/>
        <p:txBody>
          <a:bodyPr>
            <a:normAutofit fontScale="92500" lnSpcReduction="20000"/>
          </a:bodyPr>
          <a:lstStyle/>
          <a:p>
            <a:r>
              <a:rPr lang="zh-TW" altLang="en-US" dirty="0"/>
              <a:t>跨平台（英語：</a:t>
            </a:r>
            <a:r>
              <a:rPr lang="en-US" altLang="zh-TW" dirty="0"/>
              <a:t>cross-platform software</a:t>
            </a:r>
            <a:r>
              <a:rPr lang="zh-TW" altLang="en-US" dirty="0"/>
              <a:t>、</a:t>
            </a:r>
            <a:r>
              <a:rPr lang="en-US" altLang="zh-TW" dirty="0"/>
              <a:t>multi-platform software</a:t>
            </a:r>
            <a:r>
              <a:rPr lang="zh-TW" altLang="en-US" dirty="0"/>
              <a:t>、</a:t>
            </a:r>
            <a:r>
              <a:rPr lang="en-US" altLang="zh-TW" dirty="0"/>
              <a:t>platform-independent software</a:t>
            </a:r>
            <a:r>
              <a:rPr lang="zh-TW" altLang="en-US" dirty="0"/>
              <a:t>）泛指程式語言、軟體或硬體裝置可以在多種作業系統或不同硬體架構的電腦上運作。</a:t>
            </a:r>
            <a:endParaRPr lang="en-US" altLang="zh-TW" dirty="0"/>
          </a:p>
          <a:p>
            <a:pPr lvl="1"/>
            <a:r>
              <a:rPr lang="zh-TW" altLang="en-US" dirty="0"/>
              <a:t>資料庫管理系統（</a:t>
            </a:r>
            <a:r>
              <a:rPr lang="en-US" altLang="zh-TW" dirty="0"/>
              <a:t>DBMS</a:t>
            </a:r>
            <a:r>
              <a:rPr lang="zh-TW" altLang="en-US" dirty="0"/>
              <a:t>）：</a:t>
            </a:r>
          </a:p>
          <a:p>
            <a:pPr lvl="1"/>
            <a:r>
              <a:rPr lang="en-US" altLang="zh-TW" dirty="0"/>
              <a:t>MySQL</a:t>
            </a:r>
            <a:r>
              <a:rPr lang="zh-TW" altLang="en-US" dirty="0"/>
              <a:t>：</a:t>
            </a:r>
            <a:r>
              <a:rPr lang="en-US" altLang="zh-TW" dirty="0"/>
              <a:t>Solaris</a:t>
            </a:r>
            <a:r>
              <a:rPr lang="zh-TW" altLang="en-US" dirty="0"/>
              <a:t>、</a:t>
            </a:r>
            <a:r>
              <a:rPr lang="en-US" altLang="zh-TW" dirty="0"/>
              <a:t>Linux</a:t>
            </a:r>
            <a:r>
              <a:rPr lang="zh-TW" altLang="en-US" dirty="0"/>
              <a:t>、</a:t>
            </a:r>
            <a:r>
              <a:rPr lang="en-US" altLang="zh-TW" dirty="0"/>
              <a:t>Windows</a:t>
            </a:r>
            <a:r>
              <a:rPr lang="zh-TW" altLang="en-US" dirty="0"/>
              <a:t>、</a:t>
            </a:r>
            <a:r>
              <a:rPr lang="en-US" altLang="zh-TW" dirty="0"/>
              <a:t>FreeBSD</a:t>
            </a:r>
          </a:p>
          <a:p>
            <a:pPr lvl="1"/>
            <a:r>
              <a:rPr lang="zh-TW" altLang="en-US" dirty="0"/>
              <a:t>網站伺服器、應用程式伺服器：</a:t>
            </a:r>
          </a:p>
          <a:p>
            <a:pPr lvl="1"/>
            <a:r>
              <a:rPr lang="en-US" altLang="zh-TW" dirty="0"/>
              <a:t>Apache</a:t>
            </a:r>
            <a:r>
              <a:rPr lang="zh-TW" altLang="en-US" dirty="0"/>
              <a:t>：</a:t>
            </a:r>
            <a:r>
              <a:rPr lang="en-US" altLang="zh-TW" dirty="0"/>
              <a:t>Solaris</a:t>
            </a:r>
            <a:r>
              <a:rPr lang="zh-TW" altLang="en-US" dirty="0"/>
              <a:t>、</a:t>
            </a:r>
            <a:r>
              <a:rPr lang="en-US" altLang="zh-TW" dirty="0"/>
              <a:t>Linux</a:t>
            </a:r>
            <a:r>
              <a:rPr lang="zh-TW" altLang="en-US" dirty="0"/>
              <a:t>、</a:t>
            </a:r>
            <a:r>
              <a:rPr lang="en-US" altLang="zh-TW" dirty="0"/>
              <a:t>Windows</a:t>
            </a:r>
            <a:r>
              <a:rPr lang="zh-TW" altLang="en-US" dirty="0"/>
              <a:t>、</a:t>
            </a:r>
            <a:r>
              <a:rPr lang="en-US" altLang="zh-TW" dirty="0"/>
              <a:t>FreeBSD</a:t>
            </a:r>
          </a:p>
          <a:p>
            <a:pPr lvl="1"/>
            <a:r>
              <a:rPr lang="zh-TW" altLang="en-US" dirty="0"/>
              <a:t>網際網路瀏覽器：</a:t>
            </a:r>
          </a:p>
          <a:p>
            <a:pPr lvl="1"/>
            <a:r>
              <a:rPr lang="en-US" altLang="zh-TW" dirty="0"/>
              <a:t>Mozilla Firefox</a:t>
            </a:r>
            <a:r>
              <a:rPr lang="zh-TW" altLang="en-US" dirty="0"/>
              <a:t>：</a:t>
            </a:r>
            <a:r>
              <a:rPr lang="en-US" altLang="zh-TW" dirty="0"/>
              <a:t>Linux</a:t>
            </a:r>
            <a:r>
              <a:rPr lang="zh-TW" altLang="en-US" dirty="0"/>
              <a:t>、</a:t>
            </a:r>
            <a:r>
              <a:rPr lang="en-US" altLang="zh-TW" dirty="0"/>
              <a:t>FreeBSD</a:t>
            </a:r>
            <a:r>
              <a:rPr lang="zh-TW" altLang="en-US" dirty="0"/>
              <a:t>、</a:t>
            </a:r>
            <a:r>
              <a:rPr lang="en-US" altLang="zh-TW" dirty="0"/>
              <a:t>Solaris</a:t>
            </a:r>
            <a:r>
              <a:rPr lang="zh-TW" altLang="en-US" dirty="0"/>
              <a:t>、</a:t>
            </a:r>
            <a:r>
              <a:rPr lang="en-US" altLang="zh-TW" dirty="0"/>
              <a:t>AIX</a:t>
            </a:r>
            <a:r>
              <a:rPr lang="zh-TW" altLang="en-US" dirty="0"/>
              <a:t>、</a:t>
            </a:r>
            <a:r>
              <a:rPr lang="en-US" altLang="zh-TW" dirty="0"/>
              <a:t>Windows</a:t>
            </a:r>
          </a:p>
          <a:p>
            <a:pPr lvl="1"/>
            <a:r>
              <a:rPr lang="en-US" altLang="zh-TW" dirty="0"/>
              <a:t>Opera</a:t>
            </a:r>
            <a:r>
              <a:rPr lang="zh-TW" altLang="en-US" dirty="0"/>
              <a:t>：</a:t>
            </a:r>
            <a:r>
              <a:rPr lang="en-US" altLang="zh-TW" dirty="0"/>
              <a:t>Windows</a:t>
            </a:r>
            <a:r>
              <a:rPr lang="zh-TW" altLang="en-US" dirty="0"/>
              <a:t>、</a:t>
            </a:r>
            <a:r>
              <a:rPr lang="en-US" altLang="zh-TW" dirty="0"/>
              <a:t>Linux</a:t>
            </a:r>
            <a:r>
              <a:rPr lang="zh-TW" altLang="en-US" dirty="0"/>
              <a:t>、</a:t>
            </a:r>
            <a:r>
              <a:rPr lang="en-US" altLang="zh-TW" dirty="0"/>
              <a:t>Mac</a:t>
            </a:r>
            <a:r>
              <a:rPr lang="zh-TW" altLang="en-US" dirty="0"/>
              <a:t>、</a:t>
            </a:r>
            <a:r>
              <a:rPr lang="en-US" altLang="zh-TW" dirty="0"/>
              <a:t>FreeBSD</a:t>
            </a:r>
            <a:r>
              <a:rPr lang="zh-TW" altLang="en-US" dirty="0"/>
              <a:t>、</a:t>
            </a:r>
            <a:r>
              <a:rPr lang="en-US" altLang="zh-TW" dirty="0"/>
              <a:t>Solaris</a:t>
            </a:r>
            <a:r>
              <a:rPr lang="zh-TW" altLang="en-US" dirty="0"/>
              <a:t>、</a:t>
            </a:r>
            <a:r>
              <a:rPr lang="en-US" altLang="zh-TW" dirty="0"/>
              <a:t>BeOS</a:t>
            </a:r>
            <a:r>
              <a:rPr lang="zh-TW" altLang="en-US" dirty="0"/>
              <a:t>、</a:t>
            </a:r>
            <a:r>
              <a:rPr lang="en-US" altLang="zh-TW" dirty="0"/>
              <a:t>OS/2</a:t>
            </a:r>
            <a:r>
              <a:rPr lang="zh-TW" altLang="en-US" dirty="0"/>
              <a:t>、</a:t>
            </a:r>
            <a:r>
              <a:rPr lang="en-US" altLang="zh-TW" dirty="0"/>
              <a:t>QNX</a:t>
            </a:r>
            <a:r>
              <a:rPr lang="zh-TW" altLang="en-US" dirty="0"/>
              <a:t>、</a:t>
            </a:r>
            <a:r>
              <a:rPr lang="en-US" altLang="zh-TW" dirty="0"/>
              <a:t>Symbian</a:t>
            </a:r>
          </a:p>
          <a:p>
            <a:pPr lvl="1"/>
            <a:r>
              <a:rPr lang="en-US" altLang="zh-TW" dirty="0"/>
              <a:t>Chrome</a:t>
            </a:r>
            <a:r>
              <a:rPr lang="zh-TW" altLang="en-US" dirty="0"/>
              <a:t>：</a:t>
            </a:r>
            <a:r>
              <a:rPr lang="en-US" altLang="zh-TW" dirty="0"/>
              <a:t>Windows</a:t>
            </a:r>
            <a:r>
              <a:rPr lang="zh-TW" altLang="en-US" dirty="0"/>
              <a:t>、</a:t>
            </a:r>
            <a:r>
              <a:rPr lang="en-US" altLang="zh-TW" dirty="0"/>
              <a:t>Linux</a:t>
            </a:r>
            <a:r>
              <a:rPr lang="zh-TW" altLang="en-US" dirty="0"/>
              <a:t>、</a:t>
            </a:r>
            <a:r>
              <a:rPr lang="en-US" altLang="zh-TW" dirty="0"/>
              <a:t>Mac</a:t>
            </a:r>
            <a:r>
              <a:rPr lang="zh-TW" altLang="en-US" dirty="0"/>
              <a:t>、</a:t>
            </a:r>
            <a:r>
              <a:rPr lang="en-US" altLang="zh-TW" dirty="0"/>
              <a:t>FreeBSD</a:t>
            </a:r>
          </a:p>
          <a:p>
            <a:pPr lvl="1"/>
            <a:r>
              <a:rPr lang="en-US" altLang="zh-TW" dirty="0" err="1"/>
              <a:t>QupZilla:Windows</a:t>
            </a:r>
            <a:r>
              <a:rPr lang="zh-TW" altLang="en-US" dirty="0"/>
              <a:t>、</a:t>
            </a:r>
            <a:r>
              <a:rPr lang="en-US" altLang="zh-TW" dirty="0"/>
              <a:t>Linux</a:t>
            </a:r>
            <a:r>
              <a:rPr lang="zh-TW" altLang="en-US" dirty="0"/>
              <a:t>、</a:t>
            </a:r>
            <a:r>
              <a:rPr lang="en-US" altLang="zh-TW" dirty="0"/>
              <a:t>OS/2</a:t>
            </a:r>
            <a:r>
              <a:rPr lang="zh-TW" altLang="en-US" dirty="0"/>
              <a:t>、</a:t>
            </a:r>
            <a:r>
              <a:rPr lang="en-US" altLang="zh-TW" dirty="0"/>
              <a:t>Haiku</a:t>
            </a:r>
          </a:p>
          <a:p>
            <a:pPr lvl="1"/>
            <a:r>
              <a:rPr lang="zh-TW" altLang="en-US" dirty="0"/>
              <a:t>可在不同作業系統上進行軟體開發的程式語言。</a:t>
            </a:r>
          </a:p>
          <a:p>
            <a:pPr lvl="1"/>
            <a:r>
              <a:rPr lang="en-US" altLang="zh-TW" dirty="0"/>
              <a:t>C</a:t>
            </a:r>
            <a:r>
              <a:rPr lang="zh-TW" altLang="en-US" dirty="0"/>
              <a:t>語言、</a:t>
            </a:r>
            <a:r>
              <a:rPr lang="en-US" altLang="zh-TW" dirty="0"/>
              <a:t>C++</a:t>
            </a:r>
            <a:r>
              <a:rPr lang="zh-TW" altLang="en-US" dirty="0"/>
              <a:t>、</a:t>
            </a:r>
            <a:r>
              <a:rPr lang="en-US" altLang="zh-TW" dirty="0"/>
              <a:t>Java</a:t>
            </a:r>
          </a:p>
          <a:p>
            <a:pPr lvl="1"/>
            <a:r>
              <a:rPr lang="en-US" altLang="zh-TW" dirty="0"/>
              <a:t>Perl</a:t>
            </a:r>
            <a:r>
              <a:rPr lang="zh-TW" altLang="en-US" dirty="0"/>
              <a:t>、</a:t>
            </a:r>
            <a:r>
              <a:rPr lang="en-US" altLang="zh-TW" dirty="0" err="1"/>
              <a:t>Tcl</a:t>
            </a:r>
            <a:r>
              <a:rPr lang="zh-TW" altLang="en-US" dirty="0"/>
              <a:t>、</a:t>
            </a:r>
            <a:r>
              <a:rPr lang="en-US" altLang="zh-TW" dirty="0"/>
              <a:t>Erlang</a:t>
            </a:r>
            <a:r>
              <a:rPr lang="zh-TW" altLang="en-US" dirty="0"/>
              <a:t>、</a:t>
            </a:r>
            <a:r>
              <a:rPr lang="en-US" altLang="zh-TW" dirty="0"/>
              <a:t>PHP</a:t>
            </a:r>
            <a:r>
              <a:rPr lang="zh-TW" altLang="en-US" dirty="0"/>
              <a:t>、</a:t>
            </a:r>
            <a:r>
              <a:rPr lang="en-US" altLang="zh-TW" dirty="0"/>
              <a:t>Ruby</a:t>
            </a:r>
            <a:r>
              <a:rPr lang="zh-TW" altLang="en-US" dirty="0"/>
              <a:t>、</a:t>
            </a:r>
            <a:r>
              <a:rPr lang="en-US" altLang="zh-TW" dirty="0"/>
              <a:t>Lisp</a:t>
            </a:r>
          </a:p>
          <a:p>
            <a:pPr lvl="1"/>
            <a:r>
              <a:rPr lang="en-US" altLang="zh-TW" dirty="0"/>
              <a:t>Python</a:t>
            </a:r>
            <a:r>
              <a:rPr lang="zh-TW" altLang="en-US" dirty="0"/>
              <a:t>、</a:t>
            </a:r>
            <a:r>
              <a:rPr lang="en-US" altLang="zh-TW" dirty="0" err="1"/>
              <a:t>Delphi+Kylix</a:t>
            </a:r>
            <a:r>
              <a:rPr lang="zh-TW" altLang="en-US" dirty="0"/>
              <a:t>、</a:t>
            </a:r>
            <a:r>
              <a:rPr lang="en-US" altLang="zh-TW" dirty="0" err="1"/>
              <a:t>REALbasic</a:t>
            </a:r>
            <a:endParaRPr lang="en-US" altLang="zh-TW" dirty="0"/>
          </a:p>
        </p:txBody>
      </p:sp>
    </p:spTree>
    <p:extLst>
      <p:ext uri="{BB962C8B-B14F-4D97-AF65-F5344CB8AC3E}">
        <p14:creationId xmlns:p14="http://schemas.microsoft.com/office/powerpoint/2010/main" val="249909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3E3596-D53E-624F-7B72-897E425CE48B}"/>
              </a:ext>
            </a:extLst>
          </p:cNvPr>
          <p:cNvSpPr>
            <a:spLocks noGrp="1"/>
          </p:cNvSpPr>
          <p:nvPr>
            <p:ph type="title"/>
          </p:nvPr>
        </p:nvSpPr>
        <p:spPr/>
        <p:txBody>
          <a:bodyPr/>
          <a:lstStyle/>
          <a:p>
            <a:r>
              <a:rPr lang="zh-TW" altLang="en-US" dirty="0"/>
              <a:t>網路程式與跨平台</a:t>
            </a:r>
          </a:p>
        </p:txBody>
      </p:sp>
      <p:sp>
        <p:nvSpPr>
          <p:cNvPr id="3" name="內容版面配置區 2">
            <a:extLst>
              <a:ext uri="{FF2B5EF4-FFF2-40B4-BE49-F238E27FC236}">
                <a16:creationId xmlns:a16="http://schemas.microsoft.com/office/drawing/2014/main" id="{F1A61D74-143F-E035-C2B5-F8030F015E1B}"/>
              </a:ext>
            </a:extLst>
          </p:cNvPr>
          <p:cNvSpPr>
            <a:spLocks noGrp="1"/>
          </p:cNvSpPr>
          <p:nvPr>
            <p:ph idx="1"/>
          </p:nvPr>
        </p:nvSpPr>
        <p:spPr>
          <a:xfrm>
            <a:off x="837765" y="872154"/>
            <a:ext cx="10701092" cy="5556925"/>
          </a:xfrm>
        </p:spPr>
        <p:txBody>
          <a:bodyPr>
            <a:normAutofit fontScale="92500" lnSpcReduction="20000"/>
          </a:bodyPr>
          <a:lstStyle/>
          <a:p>
            <a:r>
              <a:rPr lang="zh-TW" altLang="en-US" dirty="0"/>
              <a:t>網路程式與跨平台</a:t>
            </a:r>
          </a:p>
          <a:p>
            <a:pPr lvl="1"/>
            <a:r>
              <a:rPr lang="zh-TW" altLang="en-US" dirty="0"/>
              <a:t>網路應用雖然由不同的語言來編寫，但在不同的平臺下，通常由網頁瀏覽器來存取。這是由於”代碼”在伺服器端執行，然後再通過</a:t>
            </a:r>
            <a:r>
              <a:rPr lang="en-US" altLang="zh-TW" dirty="0"/>
              <a:t>HTTP</a:t>
            </a:r>
            <a:r>
              <a:rPr lang="zh-TW" altLang="en-US" dirty="0"/>
              <a:t>和（</a:t>
            </a:r>
            <a:r>
              <a:rPr lang="en-US" altLang="zh-TW" dirty="0"/>
              <a:t>X</a:t>
            </a:r>
            <a:r>
              <a:rPr lang="zh-TW" altLang="en-US" dirty="0"/>
              <a:t>）</a:t>
            </a:r>
            <a:r>
              <a:rPr lang="en-US" altLang="zh-TW" dirty="0"/>
              <a:t>HTML</a:t>
            </a:r>
            <a:r>
              <a:rPr lang="zh-TW" altLang="en-US" dirty="0"/>
              <a:t>與使用者端進行通訊。</a:t>
            </a:r>
            <a:endParaRPr lang="en-US" altLang="zh-TW" dirty="0"/>
          </a:p>
          <a:p>
            <a:r>
              <a:rPr lang="zh-TW" altLang="en-US" dirty="0"/>
              <a:t>網路</a:t>
            </a:r>
            <a:endParaRPr lang="en-US" altLang="zh-TW" dirty="0"/>
          </a:p>
          <a:p>
            <a:pPr lvl="1"/>
            <a:r>
              <a:rPr lang="zh-TW" altLang="en-US" dirty="0"/>
              <a:t>「</a:t>
            </a:r>
            <a:r>
              <a:rPr lang="en-US" altLang="zh-TW" dirty="0"/>
              <a:t>IP </a:t>
            </a:r>
            <a:r>
              <a:rPr lang="zh-TW" altLang="en-US" dirty="0"/>
              <a:t>位址」欄位：</a:t>
            </a:r>
            <a:r>
              <a:rPr lang="en-US" altLang="zh-TW" dirty="0"/>
              <a:t>IP </a:t>
            </a:r>
            <a:r>
              <a:rPr lang="zh-TW" altLang="en-US" dirty="0"/>
              <a:t>位址的分配是由 </a:t>
            </a:r>
            <a:r>
              <a:rPr lang="en-US" altLang="zh-TW" dirty="0" err="1"/>
              <a:t>InterNIC</a:t>
            </a:r>
            <a:r>
              <a:rPr lang="en-US" altLang="zh-TW" dirty="0"/>
              <a:t>(http://rs.internic.net)</a:t>
            </a:r>
            <a:r>
              <a:rPr lang="zh-TW" altLang="en-US" dirty="0"/>
              <a:t>統籌管理的，如果我們要建構一個 </a:t>
            </a:r>
            <a:r>
              <a:rPr lang="en-US" altLang="zh-TW" dirty="0"/>
              <a:t>Internet </a:t>
            </a:r>
            <a:r>
              <a:rPr lang="zh-TW" altLang="en-US" dirty="0"/>
              <a:t>網站，一定要先向 </a:t>
            </a:r>
            <a:r>
              <a:rPr lang="en-US" altLang="zh-TW" dirty="0"/>
              <a:t>ISP(</a:t>
            </a:r>
            <a:r>
              <a:rPr lang="zh-TW" altLang="en-US" dirty="0"/>
              <a:t>例如 </a:t>
            </a:r>
            <a:r>
              <a:rPr lang="en-US" altLang="zh-TW" dirty="0" err="1"/>
              <a:t>Hinet</a:t>
            </a:r>
            <a:r>
              <a:rPr lang="zh-TW" altLang="en-US" dirty="0"/>
              <a:t>、</a:t>
            </a:r>
            <a:r>
              <a:rPr lang="en-US" altLang="zh-TW" dirty="0" err="1"/>
              <a:t>SeedNet</a:t>
            </a:r>
            <a:r>
              <a:rPr lang="en-US" altLang="zh-TW" dirty="0"/>
              <a:t>…)</a:t>
            </a:r>
            <a:r>
              <a:rPr lang="zh-TW" altLang="en-US" dirty="0"/>
              <a:t>申請以取得全世界唯一的 </a:t>
            </a:r>
            <a:r>
              <a:rPr lang="en-US" altLang="zh-TW" dirty="0"/>
              <a:t>IP </a:t>
            </a:r>
            <a:r>
              <a:rPr lang="zh-TW" altLang="en-US" dirty="0"/>
              <a:t>位址</a:t>
            </a:r>
            <a:r>
              <a:rPr lang="en-US" altLang="zh-TW" dirty="0"/>
              <a:t>(</a:t>
            </a:r>
            <a:r>
              <a:rPr lang="zh-TW" altLang="en-US" dirty="0"/>
              <a:t>註：</a:t>
            </a:r>
            <a:r>
              <a:rPr lang="en-US" altLang="zh-TW" dirty="0"/>
              <a:t>ISP</a:t>
            </a:r>
            <a:r>
              <a:rPr lang="zh-TW" altLang="en-US" dirty="0"/>
              <a:t>所擁有的 </a:t>
            </a:r>
            <a:r>
              <a:rPr lang="en-US" altLang="zh-TW" dirty="0"/>
              <a:t>IP </a:t>
            </a:r>
            <a:r>
              <a:rPr lang="zh-TW" altLang="en-US" dirty="0"/>
              <a:t>位址則是 </a:t>
            </a:r>
            <a:r>
              <a:rPr lang="en-US" altLang="zh-TW" dirty="0"/>
              <a:t>ISP </a:t>
            </a:r>
            <a:r>
              <a:rPr lang="zh-TW" altLang="en-US" dirty="0"/>
              <a:t>事先向</a:t>
            </a:r>
            <a:r>
              <a:rPr lang="en-US" altLang="zh-TW" dirty="0" err="1"/>
              <a:t>InterNIC</a:t>
            </a:r>
            <a:r>
              <a:rPr lang="zh-TW" altLang="en-US" dirty="0"/>
              <a:t>申請的</a:t>
            </a:r>
            <a:r>
              <a:rPr lang="en-US" altLang="zh-TW" dirty="0"/>
              <a:t>)</a:t>
            </a:r>
            <a:r>
              <a:rPr lang="zh-TW" altLang="en-US" dirty="0"/>
              <a:t>。</a:t>
            </a:r>
          </a:p>
          <a:p>
            <a:pPr lvl="1"/>
            <a:r>
              <a:rPr lang="zh-TW" altLang="en-US" dirty="0"/>
              <a:t>但 </a:t>
            </a:r>
            <a:r>
              <a:rPr lang="en-US" altLang="zh-TW" dirty="0" err="1"/>
              <a:t>InterNIC</a:t>
            </a:r>
            <a:r>
              <a:rPr lang="en-US" altLang="zh-TW" dirty="0"/>
              <a:t> </a:t>
            </a:r>
            <a:r>
              <a:rPr lang="zh-TW" altLang="en-US" dirty="0"/>
              <a:t>也保留了以下 </a:t>
            </a:r>
            <a:r>
              <a:rPr lang="en-US" altLang="zh-TW" dirty="0"/>
              <a:t>IP </a:t>
            </a:r>
            <a:r>
              <a:rPr lang="zh-TW" altLang="en-US" dirty="0"/>
              <a:t>位址供私人使用</a:t>
            </a:r>
            <a:r>
              <a:rPr lang="en-US" altLang="zh-TW" dirty="0"/>
              <a:t>(</a:t>
            </a:r>
            <a:r>
              <a:rPr lang="zh-TW" altLang="en-US" dirty="0"/>
              <a:t>例如自己家裡使用的機器或公司內部的區域網路</a:t>
            </a:r>
            <a:r>
              <a:rPr lang="en-US" altLang="zh-TW" dirty="0"/>
              <a:t>)</a:t>
            </a:r>
            <a:r>
              <a:rPr lang="zh-TW" altLang="en-US" dirty="0"/>
              <a:t>：</a:t>
            </a:r>
            <a:endParaRPr lang="en-US" altLang="zh-TW" dirty="0"/>
          </a:p>
          <a:p>
            <a:pPr lvl="1"/>
            <a:endParaRPr lang="en-US" altLang="zh-TW" dirty="0"/>
          </a:p>
          <a:p>
            <a:pPr lvl="1"/>
            <a:endParaRPr lang="en-US" altLang="zh-TW" dirty="0"/>
          </a:p>
          <a:p>
            <a:pPr lvl="1"/>
            <a:endParaRPr lang="en-US" altLang="zh-TW" dirty="0"/>
          </a:p>
          <a:p>
            <a:pPr lvl="1"/>
            <a:endParaRPr lang="en-US" altLang="zh-TW" dirty="0"/>
          </a:p>
          <a:p>
            <a:pPr marL="457200" lvl="1" indent="0">
              <a:buNone/>
            </a:pPr>
            <a:r>
              <a:rPr lang="zh-TW" altLang="en-US" dirty="0"/>
              <a:t> </a:t>
            </a:r>
          </a:p>
          <a:p>
            <a:pPr lvl="1"/>
            <a:r>
              <a:rPr lang="zh-TW" altLang="en-US" dirty="0"/>
              <a:t>以上</a:t>
            </a:r>
            <a:r>
              <a:rPr lang="en-US" altLang="zh-TW" dirty="0"/>
              <a:t>IP</a:t>
            </a:r>
            <a:r>
              <a:rPr lang="zh-TW" altLang="en-US" dirty="0"/>
              <a:t>位址可以自己選用，</a:t>
            </a:r>
            <a:endParaRPr lang="en-US" altLang="zh-TW" dirty="0"/>
          </a:p>
          <a:p>
            <a:pPr lvl="1"/>
            <a:r>
              <a:rPr lang="zh-TW" altLang="en-US" dirty="0"/>
              <a:t>不必向  </a:t>
            </a:r>
            <a:r>
              <a:rPr lang="en-US" altLang="zh-TW" dirty="0" err="1"/>
              <a:t>InterNIC</a:t>
            </a:r>
            <a:r>
              <a:rPr lang="en-US" altLang="zh-TW" dirty="0"/>
              <a:t> </a:t>
            </a:r>
            <a:r>
              <a:rPr lang="zh-TW" altLang="en-US" dirty="0"/>
              <a:t>或 </a:t>
            </a:r>
            <a:r>
              <a:rPr lang="en-US" altLang="zh-TW" dirty="0"/>
              <a:t>ISP </a:t>
            </a:r>
            <a:r>
              <a:rPr lang="zh-TW" altLang="en-US" dirty="0"/>
              <a:t>申請。</a:t>
            </a:r>
          </a:p>
          <a:p>
            <a:pPr lvl="1"/>
            <a:endParaRPr lang="en-US" altLang="zh-TW" dirty="0"/>
          </a:p>
          <a:p>
            <a:pPr lvl="1"/>
            <a:endParaRPr lang="en-US" altLang="zh-TW" dirty="0"/>
          </a:p>
          <a:p>
            <a:endParaRPr lang="zh-TW" altLang="en-US" dirty="0"/>
          </a:p>
          <a:p>
            <a:endParaRPr lang="zh-TW" altLang="en-US" dirty="0"/>
          </a:p>
        </p:txBody>
      </p:sp>
      <p:sp>
        <p:nvSpPr>
          <p:cNvPr id="5" name="Text Box 4">
            <a:extLst>
              <a:ext uri="{FF2B5EF4-FFF2-40B4-BE49-F238E27FC236}">
                <a16:creationId xmlns:a16="http://schemas.microsoft.com/office/drawing/2014/main" id="{B53A4A95-7C87-A87F-649B-95CDC1B57C7E}"/>
              </a:ext>
            </a:extLst>
          </p:cNvPr>
          <p:cNvSpPr txBox="1">
            <a:spLocks noChangeArrowheads="1"/>
          </p:cNvSpPr>
          <p:nvPr/>
        </p:nvSpPr>
        <p:spPr bwMode="auto">
          <a:xfrm>
            <a:off x="1508879" y="3910683"/>
            <a:ext cx="7620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TW" sz="2800" b="1" dirty="0">
                <a:solidFill>
                  <a:schemeClr val="tx2"/>
                </a:solidFill>
                <a:latin typeface="細明體" panose="02020509000000000000" pitchFamily="49" charset="-120"/>
                <a:ea typeface="細明體" panose="02020509000000000000" pitchFamily="49" charset="-120"/>
              </a:rPr>
              <a:t>Class A	10.0.0.0 ～ 10.255.255.255 </a:t>
            </a:r>
            <a:br>
              <a:rPr lang="en-US" altLang="zh-TW" sz="2800" b="1" dirty="0">
                <a:solidFill>
                  <a:schemeClr val="tx2"/>
                </a:solidFill>
                <a:latin typeface="細明體" panose="02020509000000000000" pitchFamily="49" charset="-120"/>
                <a:ea typeface="細明體" panose="02020509000000000000" pitchFamily="49" charset="-120"/>
              </a:rPr>
            </a:br>
            <a:r>
              <a:rPr lang="en-US" altLang="zh-TW" sz="2800" b="1" dirty="0">
                <a:solidFill>
                  <a:schemeClr val="tx2"/>
                </a:solidFill>
                <a:latin typeface="細明體" panose="02020509000000000000" pitchFamily="49" charset="-120"/>
                <a:ea typeface="細明體" panose="02020509000000000000" pitchFamily="49" charset="-120"/>
              </a:rPr>
              <a:t>Class B	172.16.0.0 ～ 172.31.255.255  </a:t>
            </a:r>
            <a:br>
              <a:rPr lang="en-US" altLang="zh-TW" sz="2800" b="1" dirty="0">
                <a:solidFill>
                  <a:schemeClr val="tx2"/>
                </a:solidFill>
                <a:latin typeface="細明體" panose="02020509000000000000" pitchFamily="49" charset="-120"/>
                <a:ea typeface="細明體" panose="02020509000000000000" pitchFamily="49" charset="-120"/>
              </a:rPr>
            </a:br>
            <a:r>
              <a:rPr lang="en-US" altLang="zh-TW" sz="2800" b="1" dirty="0">
                <a:solidFill>
                  <a:schemeClr val="tx2"/>
                </a:solidFill>
                <a:latin typeface="細明體" panose="02020509000000000000" pitchFamily="49" charset="-120"/>
                <a:ea typeface="細明體" panose="02020509000000000000" pitchFamily="49" charset="-120"/>
              </a:rPr>
              <a:t>Class C	192.168.0.0 ～ 192.168.255.255</a:t>
            </a:r>
            <a:endParaRPr lang="zh-TW" altLang="en-US" sz="2800" b="1" dirty="0">
              <a:solidFill>
                <a:schemeClr val="tx2"/>
              </a:solidFill>
              <a:latin typeface="細明體" panose="02020509000000000000" pitchFamily="49" charset="-120"/>
              <a:ea typeface="細明體" panose="02020509000000000000" pitchFamily="49" charset="-120"/>
            </a:endParaRPr>
          </a:p>
        </p:txBody>
      </p:sp>
      <p:pic>
        <p:nvPicPr>
          <p:cNvPr id="8" name="圖片 7">
            <a:extLst>
              <a:ext uri="{FF2B5EF4-FFF2-40B4-BE49-F238E27FC236}">
                <a16:creationId xmlns:a16="http://schemas.microsoft.com/office/drawing/2014/main" id="{4CA0F303-9E70-8FC9-9879-3FF1236A5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4812" y="5242719"/>
            <a:ext cx="5494343" cy="1529353"/>
          </a:xfrm>
          <a:prstGeom prst="rect">
            <a:avLst/>
          </a:prstGeom>
        </p:spPr>
      </p:pic>
      <p:sp>
        <p:nvSpPr>
          <p:cNvPr id="9" name="文字方塊 8">
            <a:extLst>
              <a:ext uri="{FF2B5EF4-FFF2-40B4-BE49-F238E27FC236}">
                <a16:creationId xmlns:a16="http://schemas.microsoft.com/office/drawing/2014/main" id="{1774837E-C2DD-9D8E-0861-E5B8F0EB4EBD}"/>
              </a:ext>
            </a:extLst>
          </p:cNvPr>
          <p:cNvSpPr txBox="1"/>
          <p:nvPr/>
        </p:nvSpPr>
        <p:spPr>
          <a:xfrm>
            <a:off x="6484812" y="5110794"/>
            <a:ext cx="857927" cy="369332"/>
          </a:xfrm>
          <a:prstGeom prst="rect">
            <a:avLst/>
          </a:prstGeom>
          <a:noFill/>
        </p:spPr>
        <p:txBody>
          <a:bodyPr wrap="none" rtlCol="0">
            <a:spAutoFit/>
          </a:bodyPr>
          <a:lstStyle/>
          <a:p>
            <a:r>
              <a:rPr lang="en-US" altLang="zh-TW" b="1" dirty="0">
                <a:solidFill>
                  <a:srgbClr val="FF0000"/>
                </a:solidFill>
              </a:rPr>
              <a:t>1~126</a:t>
            </a:r>
            <a:endParaRPr lang="zh-TW" altLang="en-US" b="1" dirty="0">
              <a:solidFill>
                <a:srgbClr val="FF0000"/>
              </a:solidFill>
            </a:endParaRPr>
          </a:p>
        </p:txBody>
      </p:sp>
      <p:sp>
        <p:nvSpPr>
          <p:cNvPr id="10" name="文字方塊 9">
            <a:extLst>
              <a:ext uri="{FF2B5EF4-FFF2-40B4-BE49-F238E27FC236}">
                <a16:creationId xmlns:a16="http://schemas.microsoft.com/office/drawing/2014/main" id="{AEB47820-A541-663B-A88D-B693CBBA6ACB}"/>
              </a:ext>
            </a:extLst>
          </p:cNvPr>
          <p:cNvSpPr txBox="1"/>
          <p:nvPr/>
        </p:nvSpPr>
        <p:spPr>
          <a:xfrm>
            <a:off x="6484812" y="5573681"/>
            <a:ext cx="1114408" cy="369332"/>
          </a:xfrm>
          <a:prstGeom prst="rect">
            <a:avLst/>
          </a:prstGeom>
          <a:noFill/>
        </p:spPr>
        <p:txBody>
          <a:bodyPr wrap="none" rtlCol="0">
            <a:spAutoFit/>
          </a:bodyPr>
          <a:lstStyle/>
          <a:p>
            <a:r>
              <a:rPr lang="en-US" altLang="zh-TW" b="1" dirty="0">
                <a:solidFill>
                  <a:srgbClr val="FF0000"/>
                </a:solidFill>
              </a:rPr>
              <a:t>128~191</a:t>
            </a:r>
            <a:endParaRPr lang="zh-TW" altLang="en-US" b="1" dirty="0">
              <a:solidFill>
                <a:srgbClr val="FF0000"/>
              </a:solidFill>
            </a:endParaRPr>
          </a:p>
        </p:txBody>
      </p:sp>
      <p:sp>
        <p:nvSpPr>
          <p:cNvPr id="11" name="文字方塊 10">
            <a:extLst>
              <a:ext uri="{FF2B5EF4-FFF2-40B4-BE49-F238E27FC236}">
                <a16:creationId xmlns:a16="http://schemas.microsoft.com/office/drawing/2014/main" id="{D93CF0AD-8B36-CF8B-FB95-6E8EBE168A1C}"/>
              </a:ext>
            </a:extLst>
          </p:cNvPr>
          <p:cNvSpPr txBox="1"/>
          <p:nvPr/>
        </p:nvSpPr>
        <p:spPr>
          <a:xfrm>
            <a:off x="6484812" y="6074938"/>
            <a:ext cx="1114408" cy="369332"/>
          </a:xfrm>
          <a:prstGeom prst="rect">
            <a:avLst/>
          </a:prstGeom>
          <a:noFill/>
        </p:spPr>
        <p:txBody>
          <a:bodyPr wrap="none" rtlCol="0">
            <a:spAutoFit/>
          </a:bodyPr>
          <a:lstStyle/>
          <a:p>
            <a:r>
              <a:rPr lang="en-US" altLang="zh-TW" b="1" dirty="0">
                <a:solidFill>
                  <a:srgbClr val="FF0000"/>
                </a:solidFill>
              </a:rPr>
              <a:t>192~223</a:t>
            </a:r>
            <a:endParaRPr lang="zh-TW" altLang="en-US" b="1" dirty="0">
              <a:solidFill>
                <a:srgbClr val="FF0000"/>
              </a:solidFill>
            </a:endParaRPr>
          </a:p>
        </p:txBody>
      </p:sp>
    </p:spTree>
    <p:extLst>
      <p:ext uri="{BB962C8B-B14F-4D97-AF65-F5344CB8AC3E}">
        <p14:creationId xmlns:p14="http://schemas.microsoft.com/office/powerpoint/2010/main" val="1195317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D932DA-16BF-D2C2-4C7F-06362B238258}"/>
              </a:ext>
            </a:extLst>
          </p:cNvPr>
          <p:cNvSpPr>
            <a:spLocks noGrp="1"/>
          </p:cNvSpPr>
          <p:nvPr>
            <p:ph type="title"/>
          </p:nvPr>
        </p:nvSpPr>
        <p:spPr/>
        <p:txBody>
          <a:bodyPr/>
          <a:lstStyle/>
          <a:p>
            <a:r>
              <a:rPr lang="zh-TW" altLang="en-US" dirty="0"/>
              <a:t>電腦程式</a:t>
            </a:r>
          </a:p>
        </p:txBody>
      </p:sp>
      <p:sp>
        <p:nvSpPr>
          <p:cNvPr id="3" name="內容版面配置區 2">
            <a:extLst>
              <a:ext uri="{FF2B5EF4-FFF2-40B4-BE49-F238E27FC236}">
                <a16:creationId xmlns:a16="http://schemas.microsoft.com/office/drawing/2014/main" id="{5945DE95-6C2A-0822-65CB-AAB9E1ED37EF}"/>
              </a:ext>
            </a:extLst>
          </p:cNvPr>
          <p:cNvSpPr>
            <a:spLocks noGrp="1"/>
          </p:cNvSpPr>
          <p:nvPr>
            <p:ph idx="1"/>
          </p:nvPr>
        </p:nvSpPr>
        <p:spPr/>
        <p:txBody>
          <a:bodyPr/>
          <a:lstStyle/>
          <a:p>
            <a:r>
              <a:rPr lang="zh-TW" altLang="en-US" dirty="0"/>
              <a:t>電腦程式（英語：</a:t>
            </a:r>
            <a:r>
              <a:rPr lang="en-US" altLang="zh-TW" dirty="0"/>
              <a:t>Computer Program</a:t>
            </a:r>
            <a:r>
              <a:rPr lang="zh-TW" altLang="en-US" dirty="0"/>
              <a:t>）是指一組指示電腦或其他具有訊息處理能力的電子裝置每一步動作的</a:t>
            </a:r>
            <a:r>
              <a:rPr lang="en-US" altLang="zh-TW" dirty="0"/>
              <a:t>【</a:t>
            </a:r>
            <a:r>
              <a:rPr lang="zh-TW" altLang="en-US" dirty="0"/>
              <a:t>指令</a:t>
            </a:r>
            <a:r>
              <a:rPr lang="en-US" altLang="zh-TW" dirty="0"/>
              <a:t>】</a:t>
            </a:r>
            <a:r>
              <a:rPr lang="zh-TW" altLang="en-US" dirty="0"/>
              <a:t>，通常用某種程式設計語言編寫，執行於某種目標體系結構上。打個比方，一個程式就像一個用漢語（程式設計語言）寫下的紅燒肉菜譜（程式原始碼），用於指導懂漢語的人（體系結構）來做這個菜。 電腦程式是軟體的一個組成部分，它還包括文件和其他無形組成部分。通常，以英文文字為基礎的電腦程式要經過編譯和連結而成為一種人們不易看清而電腦可解讀的一連串數字的格式，然後放入執行。這種程式也叫作編譯語言。未經編譯就可執行的程式，通常稱之為指令碼程式（</a:t>
            </a:r>
            <a:r>
              <a:rPr lang="en-US" altLang="zh-TW" dirty="0"/>
              <a:t>script</a:t>
            </a:r>
            <a:r>
              <a:rPr lang="zh-TW" altLang="en-US" dirty="0"/>
              <a:t>）或直譯語言。</a:t>
            </a:r>
            <a:endParaRPr lang="en-US" altLang="zh-TW" dirty="0"/>
          </a:p>
          <a:p>
            <a:pPr lvl="1"/>
            <a:r>
              <a:rPr lang="zh-TW" altLang="en-US" dirty="0"/>
              <a:t>幫我寫作業 </a:t>
            </a:r>
            <a:r>
              <a:rPr lang="en-US" altLang="zh-TW" dirty="0"/>
              <a:t>-&gt;Help me with my homework.</a:t>
            </a:r>
            <a:endParaRPr lang="zh-TW" altLang="en-US" dirty="0"/>
          </a:p>
        </p:txBody>
      </p:sp>
    </p:spTree>
    <p:extLst>
      <p:ext uri="{BB962C8B-B14F-4D97-AF65-F5344CB8AC3E}">
        <p14:creationId xmlns:p14="http://schemas.microsoft.com/office/powerpoint/2010/main" val="3603372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5BDBED-F703-033C-F2D0-B19773B3497E}"/>
              </a:ext>
            </a:extLst>
          </p:cNvPr>
          <p:cNvSpPr>
            <a:spLocks noGrp="1"/>
          </p:cNvSpPr>
          <p:nvPr>
            <p:ph type="title"/>
          </p:nvPr>
        </p:nvSpPr>
        <p:spPr/>
        <p:txBody>
          <a:bodyPr/>
          <a:lstStyle/>
          <a:p>
            <a:r>
              <a:rPr lang="zh-TW" altLang="en-US" sz="3200" dirty="0"/>
              <a:t>資訊</a:t>
            </a:r>
            <a:endParaRPr lang="zh-TW" altLang="en-US" dirty="0"/>
          </a:p>
        </p:txBody>
      </p:sp>
      <p:sp>
        <p:nvSpPr>
          <p:cNvPr id="3" name="內容版面配置區 2">
            <a:extLst>
              <a:ext uri="{FF2B5EF4-FFF2-40B4-BE49-F238E27FC236}">
                <a16:creationId xmlns:a16="http://schemas.microsoft.com/office/drawing/2014/main" id="{423F67AB-E268-2A98-FE29-D1A4ADE1AA7D}"/>
              </a:ext>
            </a:extLst>
          </p:cNvPr>
          <p:cNvSpPr>
            <a:spLocks noGrp="1"/>
          </p:cNvSpPr>
          <p:nvPr>
            <p:ph idx="1"/>
          </p:nvPr>
        </p:nvSpPr>
        <p:spPr/>
        <p:txBody>
          <a:bodyPr/>
          <a:lstStyle/>
          <a:p>
            <a:endParaRPr lang="zh-TW" altLang="en-US" dirty="0"/>
          </a:p>
        </p:txBody>
      </p:sp>
      <p:pic>
        <p:nvPicPr>
          <p:cNvPr id="4" name="Picture 6">
            <a:extLst>
              <a:ext uri="{FF2B5EF4-FFF2-40B4-BE49-F238E27FC236}">
                <a16:creationId xmlns:a16="http://schemas.microsoft.com/office/drawing/2014/main" id="{58B4BB1C-7853-10C7-D9AC-BF7E915E3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764" y="870406"/>
            <a:ext cx="10999764" cy="504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9659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C97834-6554-88E3-4CDE-61E54DDF278A}"/>
              </a:ext>
            </a:extLst>
          </p:cNvPr>
          <p:cNvSpPr>
            <a:spLocks noGrp="1"/>
          </p:cNvSpPr>
          <p:nvPr>
            <p:ph type="title"/>
          </p:nvPr>
        </p:nvSpPr>
        <p:spPr/>
        <p:txBody>
          <a:bodyPr/>
          <a:lstStyle/>
          <a:p>
            <a:r>
              <a:rPr lang="zh-TW" altLang="en-US" dirty="0"/>
              <a:t>系統</a:t>
            </a:r>
          </a:p>
        </p:txBody>
      </p:sp>
      <p:sp>
        <p:nvSpPr>
          <p:cNvPr id="3" name="內容版面配置區 2">
            <a:extLst>
              <a:ext uri="{FF2B5EF4-FFF2-40B4-BE49-F238E27FC236}">
                <a16:creationId xmlns:a16="http://schemas.microsoft.com/office/drawing/2014/main" id="{8D3915CC-884D-1EC1-3053-4D6290F8E872}"/>
              </a:ext>
            </a:extLst>
          </p:cNvPr>
          <p:cNvSpPr>
            <a:spLocks noGrp="1"/>
          </p:cNvSpPr>
          <p:nvPr>
            <p:ph idx="1"/>
          </p:nvPr>
        </p:nvSpPr>
        <p:spPr/>
        <p:txBody>
          <a:bodyPr/>
          <a:lstStyle/>
          <a:p>
            <a:endParaRPr lang="zh-TW" altLang="en-US" dirty="0"/>
          </a:p>
        </p:txBody>
      </p:sp>
      <p:pic>
        <p:nvPicPr>
          <p:cNvPr id="4" name="Picture 4">
            <a:extLst>
              <a:ext uri="{FF2B5EF4-FFF2-40B4-BE49-F238E27FC236}">
                <a16:creationId xmlns:a16="http://schemas.microsoft.com/office/drawing/2014/main" id="{93248407-E26D-9A91-88B3-6BFF1A524F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5272" y="330446"/>
            <a:ext cx="4342793" cy="5655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9689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7B72E3-1D1E-A70B-2F94-63AE9B1F5EC2}"/>
              </a:ext>
            </a:extLst>
          </p:cNvPr>
          <p:cNvSpPr>
            <a:spLocks noGrp="1"/>
          </p:cNvSpPr>
          <p:nvPr>
            <p:ph type="ctrTitle"/>
          </p:nvPr>
        </p:nvSpPr>
        <p:spPr/>
        <p:txBody>
          <a:bodyPr/>
          <a:lstStyle/>
          <a:p>
            <a:r>
              <a:rPr lang="en-US" altLang="zh-TW" spc="-150" dirty="0">
                <a:latin typeface="华文宋体" panose="02010600040101010101" pitchFamily="2" charset="-122"/>
                <a:ea typeface="华文宋体" panose="02010600040101010101" pitchFamily="2" charset="-122"/>
                <a:cs typeface="Open Sans" panose="020B0606030504020204" pitchFamily="34" charset="0"/>
                <a:sym typeface="微软雅黑 Light" panose="020B0502040204020203" pitchFamily="34" charset="-122"/>
              </a:rPr>
              <a:t>PHP</a:t>
            </a:r>
            <a:r>
              <a:rPr lang="zh-TW" altLang="en-US" spc="-150" dirty="0">
                <a:latin typeface="华文宋体" panose="02010600040101010101" pitchFamily="2" charset="-122"/>
                <a:ea typeface="华文宋体" panose="02010600040101010101" pitchFamily="2" charset="-122"/>
                <a:cs typeface="Open Sans" panose="020B0606030504020204" pitchFamily="34" charset="0"/>
                <a:sym typeface="微软雅黑 Light" panose="020B0502040204020203" pitchFamily="34" charset="-122"/>
              </a:rPr>
              <a:t> </a:t>
            </a:r>
            <a:r>
              <a:rPr lang="zh-TW" altLang="en-US" sz="4400" b="1" spc="-150" dirty="0">
                <a:solidFill>
                  <a:schemeClr val="bg1"/>
                </a:solidFill>
                <a:latin typeface="华文宋体" panose="02010600040101010101" pitchFamily="2" charset="-122"/>
                <a:ea typeface="华文宋体" panose="02010600040101010101" pitchFamily="2" charset="-122"/>
                <a:cs typeface="Open Sans" panose="020B0606030504020204" pitchFamily="34" charset="0"/>
                <a:sym typeface="微软雅黑 Light" panose="020B0502040204020203" pitchFamily="34" charset="-122"/>
              </a:rPr>
              <a:t>介紹</a:t>
            </a:r>
            <a:endParaRPr lang="zh-TW" altLang="en-US" dirty="0"/>
          </a:p>
        </p:txBody>
      </p:sp>
    </p:spTree>
    <p:extLst>
      <p:ext uri="{BB962C8B-B14F-4D97-AF65-F5344CB8AC3E}">
        <p14:creationId xmlns:p14="http://schemas.microsoft.com/office/powerpoint/2010/main" val="1654351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D54881-834A-1B1C-90EC-E201CE7DB951}"/>
              </a:ext>
            </a:extLst>
          </p:cNvPr>
          <p:cNvSpPr>
            <a:spLocks noGrp="1"/>
          </p:cNvSpPr>
          <p:nvPr>
            <p:ph type="title"/>
          </p:nvPr>
        </p:nvSpPr>
        <p:spPr/>
        <p:txBody>
          <a:bodyPr/>
          <a:lstStyle/>
          <a:p>
            <a:r>
              <a:rPr lang="en-US" altLang="zh-TW" dirty="0"/>
              <a:t>PHP</a:t>
            </a:r>
            <a:r>
              <a:rPr lang="zh-TW" altLang="en-US" dirty="0"/>
              <a:t>歷史</a:t>
            </a:r>
          </a:p>
        </p:txBody>
      </p:sp>
      <p:sp>
        <p:nvSpPr>
          <p:cNvPr id="3" name="內容版面配置區 2">
            <a:extLst>
              <a:ext uri="{FF2B5EF4-FFF2-40B4-BE49-F238E27FC236}">
                <a16:creationId xmlns:a16="http://schemas.microsoft.com/office/drawing/2014/main" id="{B3E5ED6A-1BF5-7FF0-CF54-2BF413A557A5}"/>
              </a:ext>
            </a:extLst>
          </p:cNvPr>
          <p:cNvSpPr>
            <a:spLocks noGrp="1"/>
          </p:cNvSpPr>
          <p:nvPr>
            <p:ph idx="1"/>
          </p:nvPr>
        </p:nvSpPr>
        <p:spPr/>
        <p:txBody>
          <a:bodyPr/>
          <a:lstStyle/>
          <a:p>
            <a:r>
              <a:rPr lang="en-US" altLang="zh-TW" dirty="0"/>
              <a:t>PHP</a:t>
            </a:r>
            <a:r>
              <a:rPr lang="zh-TW" altLang="en-US" dirty="0"/>
              <a:t>原本的簡稱為</a:t>
            </a:r>
            <a:r>
              <a:rPr lang="en-US" altLang="zh-TW" dirty="0"/>
              <a:t>Personal Home Page</a:t>
            </a:r>
            <a:r>
              <a:rPr lang="zh-TW" altLang="en-US" dirty="0"/>
              <a:t>，拉斯姆斯</a:t>
            </a:r>
            <a:r>
              <a:rPr lang="en-US" altLang="zh-TW" dirty="0"/>
              <a:t>·</a:t>
            </a:r>
            <a:r>
              <a:rPr lang="zh-TW" altLang="en-US" dirty="0"/>
              <a:t>勒多夫</a:t>
            </a:r>
            <a:r>
              <a:rPr lang="en-US" altLang="zh-TW" dirty="0"/>
              <a:t>(</a:t>
            </a:r>
            <a:r>
              <a:rPr lang="zh-TW" altLang="en-US" dirty="0"/>
              <a:t>格陵蘭島凱凱塔蘇瓦克的程式設計師</a:t>
            </a:r>
            <a:r>
              <a:rPr lang="en-US" altLang="zh-TW" dirty="0"/>
              <a:t>)</a:t>
            </a:r>
            <a:r>
              <a:rPr lang="zh-TW" altLang="en-US" dirty="0"/>
              <a:t>，為了要維護個人網頁，而用</a:t>
            </a:r>
            <a:r>
              <a:rPr lang="en-US" altLang="zh-TW" dirty="0"/>
              <a:t>C</a:t>
            </a:r>
            <a:r>
              <a:rPr lang="zh-TW" altLang="en-US" dirty="0"/>
              <a:t>語言開發的一些</a:t>
            </a:r>
            <a:r>
              <a:rPr lang="en-US" altLang="zh-TW" dirty="0"/>
              <a:t>CGI</a:t>
            </a:r>
            <a:r>
              <a:rPr lang="zh-TW" altLang="en-US" dirty="0"/>
              <a:t>工具程式集，來取代原先使用的</a:t>
            </a:r>
            <a:r>
              <a:rPr lang="en-US" altLang="zh-TW" dirty="0"/>
              <a:t>Perl</a:t>
            </a:r>
            <a:r>
              <a:rPr lang="zh-TW" altLang="en-US" dirty="0"/>
              <a:t>程式。</a:t>
            </a:r>
            <a:endParaRPr lang="en-US" altLang="zh-TW" dirty="0"/>
          </a:p>
          <a:p>
            <a:r>
              <a:rPr lang="zh-TW" altLang="en-US" b="0" i="0" dirty="0">
                <a:solidFill>
                  <a:srgbClr val="202122"/>
                </a:solidFill>
                <a:effectLst/>
                <a:latin typeface="-apple-system"/>
              </a:rPr>
              <a:t>出發點為用來顯示個人履歷，以及統計網頁流量</a:t>
            </a:r>
            <a:endParaRPr lang="en-US" altLang="zh-TW" b="0" i="0" dirty="0">
              <a:solidFill>
                <a:srgbClr val="202122"/>
              </a:solidFill>
              <a:effectLst/>
              <a:latin typeface="-apple-system"/>
            </a:endParaRPr>
          </a:p>
          <a:p>
            <a:r>
              <a:rPr lang="en-US" altLang="zh-TW" dirty="0"/>
              <a:t>PHP/FI</a:t>
            </a:r>
            <a:r>
              <a:rPr lang="zh-TW" altLang="en-US" dirty="0"/>
              <a:t>將</a:t>
            </a:r>
            <a:r>
              <a:rPr lang="zh-TW" altLang="en-US" b="0" i="0" dirty="0">
                <a:solidFill>
                  <a:srgbClr val="202122"/>
                </a:solidFill>
                <a:effectLst/>
                <a:latin typeface="-apple-system"/>
              </a:rPr>
              <a:t>程式和一些表單直譯器整合起來</a:t>
            </a:r>
            <a:endParaRPr lang="en-US" altLang="zh-TW" b="0" i="0" dirty="0">
              <a:solidFill>
                <a:srgbClr val="202122"/>
              </a:solidFill>
              <a:effectLst/>
              <a:latin typeface="-apple-system"/>
            </a:endParaRPr>
          </a:p>
          <a:p>
            <a:r>
              <a:rPr lang="en-US" altLang="zh-TW" dirty="0"/>
              <a:t>1995</a:t>
            </a:r>
            <a:r>
              <a:rPr lang="zh-TW" altLang="en-US" dirty="0"/>
              <a:t>年</a:t>
            </a:r>
            <a:r>
              <a:rPr lang="en-US" altLang="zh-TW" dirty="0"/>
              <a:t>6</a:t>
            </a:r>
            <a:r>
              <a:rPr lang="zh-TW" altLang="en-US" dirty="0"/>
              <a:t>月</a:t>
            </a:r>
            <a:r>
              <a:rPr lang="en-US" altLang="zh-TW" dirty="0"/>
              <a:t>8</a:t>
            </a:r>
            <a:r>
              <a:rPr lang="zh-TW" altLang="en-US" dirty="0"/>
              <a:t>日將</a:t>
            </a:r>
            <a:r>
              <a:rPr lang="en-US" altLang="zh-TW" dirty="0"/>
              <a:t>PHP/FI</a:t>
            </a:r>
            <a:r>
              <a:rPr lang="zh-TW" altLang="en-US" dirty="0"/>
              <a:t>公開釋出，稱</a:t>
            </a:r>
            <a:r>
              <a:rPr lang="en-US" altLang="zh-TW" dirty="0"/>
              <a:t>PHP 2</a:t>
            </a:r>
          </a:p>
          <a:p>
            <a:r>
              <a:rPr lang="en-US" altLang="zh-TW" dirty="0"/>
              <a:t>1997</a:t>
            </a:r>
            <a:r>
              <a:rPr lang="zh-TW" altLang="en-US" dirty="0"/>
              <a:t>年，任職於</a:t>
            </a:r>
            <a:r>
              <a:rPr lang="en-US" altLang="zh-TW" dirty="0"/>
              <a:t>Technion IIT</a:t>
            </a:r>
            <a:r>
              <a:rPr lang="zh-TW" altLang="en-US" dirty="0"/>
              <a:t>公司的兩個以色列程式</a:t>
            </a:r>
            <a:br>
              <a:rPr lang="en-US" altLang="zh-TW" dirty="0"/>
            </a:br>
            <a:r>
              <a:rPr lang="zh-TW" altLang="en-US" dirty="0"/>
              <a:t>設計師：</a:t>
            </a:r>
            <a:r>
              <a:rPr lang="en-US" altLang="zh-TW" dirty="0" err="1"/>
              <a:t>Zeev</a:t>
            </a:r>
            <a:r>
              <a:rPr lang="en-US" altLang="zh-TW" dirty="0"/>
              <a:t> </a:t>
            </a:r>
            <a:r>
              <a:rPr lang="en-US" altLang="zh-TW" dirty="0" err="1"/>
              <a:t>Suraski</a:t>
            </a:r>
            <a:r>
              <a:rPr lang="zh-TW" altLang="en-US" dirty="0"/>
              <a:t>和</a:t>
            </a:r>
            <a:r>
              <a:rPr lang="en-US" altLang="zh-TW" dirty="0"/>
              <a:t>Andi </a:t>
            </a:r>
            <a:r>
              <a:rPr lang="en-US" altLang="zh-TW" dirty="0" err="1"/>
              <a:t>Gutmans</a:t>
            </a:r>
            <a:r>
              <a:rPr lang="zh-TW" altLang="en-US" dirty="0"/>
              <a:t>，重寫了</a:t>
            </a:r>
            <a:r>
              <a:rPr lang="en-US" altLang="zh-TW" dirty="0"/>
              <a:t>PHP</a:t>
            </a:r>
            <a:r>
              <a:rPr lang="zh-TW" altLang="en-US" dirty="0"/>
              <a:t>的</a:t>
            </a:r>
            <a:br>
              <a:rPr lang="en-US" altLang="zh-TW" dirty="0"/>
            </a:br>
            <a:r>
              <a:rPr lang="zh-TW" altLang="en-US" dirty="0"/>
              <a:t>剖析器，成為</a:t>
            </a:r>
            <a:r>
              <a:rPr lang="en-US" altLang="zh-TW" dirty="0"/>
              <a:t>PHP 3</a:t>
            </a:r>
            <a:r>
              <a:rPr lang="zh-TW" altLang="en-US" dirty="0"/>
              <a:t>的基礎</a:t>
            </a:r>
            <a:endParaRPr lang="en-US" altLang="zh-TW" dirty="0"/>
          </a:p>
          <a:p>
            <a:r>
              <a:rPr lang="en-US" altLang="zh-TW" dirty="0"/>
              <a:t>PHP</a:t>
            </a:r>
            <a:r>
              <a:rPr lang="zh-TW" altLang="en-US" dirty="0"/>
              <a:t>也在這個時候改稱為</a:t>
            </a:r>
            <a:r>
              <a:rPr lang="en-US" altLang="zh-TW" dirty="0"/>
              <a:t>PHP: Hypertext Preprocessor</a:t>
            </a:r>
            <a:endParaRPr lang="zh-TW" altLang="en-US" dirty="0"/>
          </a:p>
          <a:p>
            <a:endParaRPr lang="en-US" altLang="zh-TW" dirty="0"/>
          </a:p>
        </p:txBody>
      </p:sp>
      <p:pic>
        <p:nvPicPr>
          <p:cNvPr id="5" name="圖片 4">
            <a:extLst>
              <a:ext uri="{FF2B5EF4-FFF2-40B4-BE49-F238E27FC236}">
                <a16:creationId xmlns:a16="http://schemas.microsoft.com/office/drawing/2014/main" id="{96A49A7F-F0AF-2DBA-AABC-6E1273F0F6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13303" y="3814312"/>
            <a:ext cx="2279659" cy="2171533"/>
          </a:xfrm>
          <a:prstGeom prst="rect">
            <a:avLst/>
          </a:prstGeom>
        </p:spPr>
      </p:pic>
    </p:spTree>
    <p:extLst>
      <p:ext uri="{BB962C8B-B14F-4D97-AF65-F5344CB8AC3E}">
        <p14:creationId xmlns:p14="http://schemas.microsoft.com/office/powerpoint/2010/main" val="1681764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5002B9-A172-9A2E-3CB0-E99EE0F62320}"/>
              </a:ext>
            </a:extLst>
          </p:cNvPr>
          <p:cNvSpPr>
            <a:spLocks noGrp="1"/>
          </p:cNvSpPr>
          <p:nvPr>
            <p:ph type="title"/>
          </p:nvPr>
        </p:nvSpPr>
        <p:spPr/>
        <p:txBody>
          <a:bodyPr/>
          <a:lstStyle/>
          <a:p>
            <a:r>
              <a:rPr lang="zh-TW" altLang="en-US" dirty="0"/>
              <a:t>網頁相關技術</a:t>
            </a:r>
          </a:p>
        </p:txBody>
      </p:sp>
      <p:sp>
        <p:nvSpPr>
          <p:cNvPr id="4" name="Freeform 12">
            <a:extLst>
              <a:ext uri="{FF2B5EF4-FFF2-40B4-BE49-F238E27FC236}">
                <a16:creationId xmlns:a16="http://schemas.microsoft.com/office/drawing/2014/main" id="{70BC76AC-322C-7620-2E71-72B0B99C9F0D}"/>
              </a:ext>
            </a:extLst>
          </p:cNvPr>
          <p:cNvSpPr>
            <a:spLocks noEditPoints="1"/>
          </p:cNvSpPr>
          <p:nvPr/>
        </p:nvSpPr>
        <p:spPr bwMode="auto">
          <a:xfrm>
            <a:off x="5042824" y="3132658"/>
            <a:ext cx="1536700" cy="1363663"/>
          </a:xfrm>
          <a:custGeom>
            <a:avLst/>
            <a:gdLst>
              <a:gd name="T0" fmla="*/ 0 w 968"/>
              <a:gd name="T1" fmla="*/ 859 h 859"/>
              <a:gd name="T2" fmla="*/ 0 w 968"/>
              <a:gd name="T3" fmla="*/ 840 h 859"/>
              <a:gd name="T4" fmla="*/ 96 w 968"/>
              <a:gd name="T5" fmla="*/ 787 h 859"/>
              <a:gd name="T6" fmla="*/ 96 w 968"/>
              <a:gd name="T7" fmla="*/ 0 h 859"/>
              <a:gd name="T8" fmla="*/ 355 w 968"/>
              <a:gd name="T9" fmla="*/ 0 h 859"/>
              <a:gd name="T10" fmla="*/ 355 w 968"/>
              <a:gd name="T11" fmla="*/ 787 h 859"/>
              <a:gd name="T12" fmla="*/ 459 w 968"/>
              <a:gd name="T13" fmla="*/ 840 h 859"/>
              <a:gd name="T14" fmla="*/ 459 w 968"/>
              <a:gd name="T15" fmla="*/ 859 h 859"/>
              <a:gd name="T16" fmla="*/ 0 w 968"/>
              <a:gd name="T17" fmla="*/ 859 h 859"/>
              <a:gd name="T18" fmla="*/ 386 w 968"/>
              <a:gd name="T19" fmla="*/ 738 h 859"/>
              <a:gd name="T20" fmla="*/ 477 w 968"/>
              <a:gd name="T21" fmla="*/ 738 h 859"/>
              <a:gd name="T22" fmla="*/ 577 w 968"/>
              <a:gd name="T23" fmla="*/ 769 h 859"/>
              <a:gd name="T24" fmla="*/ 577 w 968"/>
              <a:gd name="T25" fmla="*/ 828 h 859"/>
              <a:gd name="T26" fmla="*/ 477 w 968"/>
              <a:gd name="T27" fmla="*/ 828 h 859"/>
              <a:gd name="T28" fmla="*/ 477 w 968"/>
              <a:gd name="T29" fmla="*/ 859 h 859"/>
              <a:gd name="T30" fmla="*/ 876 w 968"/>
              <a:gd name="T31" fmla="*/ 859 h 859"/>
              <a:gd name="T32" fmla="*/ 876 w 968"/>
              <a:gd name="T33" fmla="*/ 828 h 859"/>
              <a:gd name="T34" fmla="*/ 777 w 968"/>
              <a:gd name="T35" fmla="*/ 828 h 859"/>
              <a:gd name="T36" fmla="*/ 777 w 968"/>
              <a:gd name="T37" fmla="*/ 769 h 859"/>
              <a:gd name="T38" fmla="*/ 876 w 968"/>
              <a:gd name="T39" fmla="*/ 738 h 859"/>
              <a:gd name="T40" fmla="*/ 968 w 968"/>
              <a:gd name="T41" fmla="*/ 738 h 859"/>
              <a:gd name="T42" fmla="*/ 968 w 968"/>
              <a:gd name="T43" fmla="*/ 214 h 859"/>
              <a:gd name="T44" fmla="*/ 386 w 968"/>
              <a:gd name="T45" fmla="*/ 214 h 859"/>
              <a:gd name="T46" fmla="*/ 386 w 968"/>
              <a:gd name="T47" fmla="*/ 738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8" h="859">
                <a:moveTo>
                  <a:pt x="0" y="859"/>
                </a:moveTo>
                <a:lnTo>
                  <a:pt x="0" y="840"/>
                </a:lnTo>
                <a:lnTo>
                  <a:pt x="96" y="787"/>
                </a:lnTo>
                <a:lnTo>
                  <a:pt x="96" y="0"/>
                </a:lnTo>
                <a:lnTo>
                  <a:pt x="355" y="0"/>
                </a:lnTo>
                <a:lnTo>
                  <a:pt x="355" y="787"/>
                </a:lnTo>
                <a:lnTo>
                  <a:pt x="459" y="840"/>
                </a:lnTo>
                <a:lnTo>
                  <a:pt x="459" y="859"/>
                </a:lnTo>
                <a:lnTo>
                  <a:pt x="0" y="859"/>
                </a:lnTo>
                <a:close/>
                <a:moveTo>
                  <a:pt x="386" y="738"/>
                </a:moveTo>
                <a:lnTo>
                  <a:pt x="477" y="738"/>
                </a:lnTo>
                <a:lnTo>
                  <a:pt x="577" y="769"/>
                </a:lnTo>
                <a:lnTo>
                  <a:pt x="577" y="828"/>
                </a:lnTo>
                <a:lnTo>
                  <a:pt x="477" y="828"/>
                </a:lnTo>
                <a:lnTo>
                  <a:pt x="477" y="859"/>
                </a:lnTo>
                <a:lnTo>
                  <a:pt x="876" y="859"/>
                </a:lnTo>
                <a:lnTo>
                  <a:pt x="876" y="828"/>
                </a:lnTo>
                <a:lnTo>
                  <a:pt x="777" y="828"/>
                </a:lnTo>
                <a:lnTo>
                  <a:pt x="777" y="769"/>
                </a:lnTo>
                <a:lnTo>
                  <a:pt x="876" y="738"/>
                </a:lnTo>
                <a:lnTo>
                  <a:pt x="968" y="738"/>
                </a:lnTo>
                <a:lnTo>
                  <a:pt x="968" y="214"/>
                </a:lnTo>
                <a:lnTo>
                  <a:pt x="386" y="214"/>
                </a:lnTo>
                <a:lnTo>
                  <a:pt x="386" y="738"/>
                </a:lnTo>
                <a:close/>
              </a:path>
            </a:pathLst>
          </a:custGeom>
          <a:solidFill>
            <a:srgbClr val="FFFFFF"/>
          </a:solidFill>
          <a:ln w="14288">
            <a:solidFill>
              <a:srgbClr val="000000"/>
            </a:solidFill>
            <a:prstDash val="solid"/>
            <a:round/>
            <a:headEnd/>
            <a:tailEnd/>
          </a:ln>
        </p:spPr>
        <p:txBody>
          <a:bodyPr/>
          <a:lstStyle/>
          <a:p>
            <a:endParaRPr lang="zh-TW" altLang="en-US"/>
          </a:p>
        </p:txBody>
      </p:sp>
      <p:sp>
        <p:nvSpPr>
          <p:cNvPr id="5" name="Freeform 13">
            <a:extLst>
              <a:ext uri="{FF2B5EF4-FFF2-40B4-BE49-F238E27FC236}">
                <a16:creationId xmlns:a16="http://schemas.microsoft.com/office/drawing/2014/main" id="{FAD583A7-F59E-54F4-0EC0-58D665E8BEF1}"/>
              </a:ext>
            </a:extLst>
          </p:cNvPr>
          <p:cNvSpPr>
            <a:spLocks noEditPoints="1"/>
          </p:cNvSpPr>
          <p:nvPr/>
        </p:nvSpPr>
        <p:spPr bwMode="auto">
          <a:xfrm>
            <a:off x="5195224" y="3189808"/>
            <a:ext cx="1238250" cy="1306513"/>
          </a:xfrm>
          <a:custGeom>
            <a:avLst/>
            <a:gdLst>
              <a:gd name="T0" fmla="*/ 0 w 780"/>
              <a:gd name="T1" fmla="*/ 751 h 823"/>
              <a:gd name="T2" fmla="*/ 0 w 780"/>
              <a:gd name="T3" fmla="*/ 823 h 823"/>
              <a:gd name="T4" fmla="*/ 259 w 780"/>
              <a:gd name="T5" fmla="*/ 751 h 823"/>
              <a:gd name="T6" fmla="*/ 259 w 780"/>
              <a:gd name="T7" fmla="*/ 823 h 823"/>
              <a:gd name="T8" fmla="*/ 81 w 780"/>
              <a:gd name="T9" fmla="*/ 231 h 823"/>
              <a:gd name="T10" fmla="*/ 178 w 780"/>
              <a:gd name="T11" fmla="*/ 231 h 823"/>
              <a:gd name="T12" fmla="*/ 65 w 780"/>
              <a:gd name="T13" fmla="*/ 143 h 823"/>
              <a:gd name="T14" fmla="*/ 194 w 780"/>
              <a:gd name="T15" fmla="*/ 143 h 823"/>
              <a:gd name="T16" fmla="*/ 32 w 780"/>
              <a:gd name="T17" fmla="*/ 0 h 823"/>
              <a:gd name="T18" fmla="*/ 226 w 780"/>
              <a:gd name="T19" fmla="*/ 0 h 823"/>
              <a:gd name="T20" fmla="*/ 226 w 780"/>
              <a:gd name="T21" fmla="*/ 500 h 823"/>
              <a:gd name="T22" fmla="*/ 32 w 780"/>
              <a:gd name="T23" fmla="*/ 500 h 823"/>
              <a:gd name="T24" fmla="*/ 32 w 780"/>
              <a:gd name="T25" fmla="*/ 0 h 823"/>
              <a:gd name="T26" fmla="*/ 481 w 780"/>
              <a:gd name="T27" fmla="*/ 792 h 823"/>
              <a:gd name="T28" fmla="*/ 681 w 780"/>
              <a:gd name="T29" fmla="*/ 792 h 823"/>
              <a:gd name="T30" fmla="*/ 481 w 780"/>
              <a:gd name="T31" fmla="*/ 733 h 823"/>
              <a:gd name="T32" fmla="*/ 681 w 780"/>
              <a:gd name="T33" fmla="*/ 733 h 823"/>
              <a:gd name="T34" fmla="*/ 381 w 780"/>
              <a:gd name="T35" fmla="*/ 702 h 823"/>
              <a:gd name="T36" fmla="*/ 780 w 780"/>
              <a:gd name="T37" fmla="*/ 702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0" h="823">
                <a:moveTo>
                  <a:pt x="0" y="751"/>
                </a:moveTo>
                <a:lnTo>
                  <a:pt x="0" y="823"/>
                </a:lnTo>
                <a:moveTo>
                  <a:pt x="259" y="751"/>
                </a:moveTo>
                <a:lnTo>
                  <a:pt x="259" y="823"/>
                </a:lnTo>
                <a:moveTo>
                  <a:pt x="81" y="231"/>
                </a:moveTo>
                <a:lnTo>
                  <a:pt x="178" y="231"/>
                </a:lnTo>
                <a:moveTo>
                  <a:pt x="65" y="143"/>
                </a:moveTo>
                <a:lnTo>
                  <a:pt x="194" y="143"/>
                </a:lnTo>
                <a:moveTo>
                  <a:pt x="32" y="0"/>
                </a:moveTo>
                <a:lnTo>
                  <a:pt x="226" y="0"/>
                </a:lnTo>
                <a:lnTo>
                  <a:pt x="226" y="500"/>
                </a:lnTo>
                <a:lnTo>
                  <a:pt x="32" y="500"/>
                </a:lnTo>
                <a:lnTo>
                  <a:pt x="32" y="0"/>
                </a:lnTo>
                <a:moveTo>
                  <a:pt x="481" y="792"/>
                </a:moveTo>
                <a:lnTo>
                  <a:pt x="681" y="792"/>
                </a:lnTo>
                <a:moveTo>
                  <a:pt x="481" y="733"/>
                </a:moveTo>
                <a:lnTo>
                  <a:pt x="681" y="733"/>
                </a:lnTo>
                <a:moveTo>
                  <a:pt x="381" y="702"/>
                </a:moveTo>
                <a:lnTo>
                  <a:pt x="780" y="702"/>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6" name="Freeform 14">
            <a:extLst>
              <a:ext uri="{FF2B5EF4-FFF2-40B4-BE49-F238E27FC236}">
                <a16:creationId xmlns:a16="http://schemas.microsoft.com/office/drawing/2014/main" id="{D1685B4A-B7CD-A91C-34F7-FFC3D9290A38}"/>
              </a:ext>
            </a:extLst>
          </p:cNvPr>
          <p:cNvSpPr>
            <a:spLocks noEditPoints="1"/>
          </p:cNvSpPr>
          <p:nvPr/>
        </p:nvSpPr>
        <p:spPr bwMode="auto">
          <a:xfrm>
            <a:off x="5234912" y="4042296"/>
            <a:ext cx="331787" cy="366712"/>
          </a:xfrm>
          <a:custGeom>
            <a:avLst/>
            <a:gdLst>
              <a:gd name="T0" fmla="*/ 16 w 209"/>
              <a:gd name="T1" fmla="*/ 143 h 231"/>
              <a:gd name="T2" fmla="*/ 0 w 209"/>
              <a:gd name="T3" fmla="*/ 0 h 231"/>
              <a:gd name="T4" fmla="*/ 31 w 209"/>
              <a:gd name="T5" fmla="*/ 143 h 231"/>
              <a:gd name="T6" fmla="*/ 47 w 209"/>
              <a:gd name="T7" fmla="*/ 0 h 231"/>
              <a:gd name="T8" fmla="*/ 31 w 209"/>
              <a:gd name="T9" fmla="*/ 143 h 231"/>
              <a:gd name="T10" fmla="*/ 80 w 209"/>
              <a:gd name="T11" fmla="*/ 143 h 231"/>
              <a:gd name="T12" fmla="*/ 64 w 209"/>
              <a:gd name="T13" fmla="*/ 0 h 231"/>
              <a:gd name="T14" fmla="*/ 96 w 209"/>
              <a:gd name="T15" fmla="*/ 143 h 231"/>
              <a:gd name="T16" fmla="*/ 112 w 209"/>
              <a:gd name="T17" fmla="*/ 0 h 231"/>
              <a:gd name="T18" fmla="*/ 96 w 209"/>
              <a:gd name="T19" fmla="*/ 143 h 231"/>
              <a:gd name="T20" fmla="*/ 145 w 209"/>
              <a:gd name="T21" fmla="*/ 143 h 231"/>
              <a:gd name="T22" fmla="*/ 129 w 209"/>
              <a:gd name="T23" fmla="*/ 0 h 231"/>
              <a:gd name="T24" fmla="*/ 161 w 209"/>
              <a:gd name="T25" fmla="*/ 143 h 231"/>
              <a:gd name="T26" fmla="*/ 176 w 209"/>
              <a:gd name="T27" fmla="*/ 0 h 231"/>
              <a:gd name="T28" fmla="*/ 161 w 209"/>
              <a:gd name="T29" fmla="*/ 143 h 231"/>
              <a:gd name="T30" fmla="*/ 209 w 209"/>
              <a:gd name="T31" fmla="*/ 143 h 231"/>
              <a:gd name="T32" fmla="*/ 194 w 209"/>
              <a:gd name="T33" fmla="*/ 0 h 231"/>
              <a:gd name="T34" fmla="*/ 194 w 209"/>
              <a:gd name="T35" fmla="*/ 231 h 231"/>
              <a:gd name="T36" fmla="*/ 209 w 209"/>
              <a:gd name="T37" fmla="*/ 160 h 231"/>
              <a:gd name="T38" fmla="*/ 194 w 209"/>
              <a:gd name="T39" fmla="*/ 231 h 231"/>
              <a:gd name="T40" fmla="*/ 176 w 209"/>
              <a:gd name="T41" fmla="*/ 231 h 231"/>
              <a:gd name="T42" fmla="*/ 161 w 209"/>
              <a:gd name="T43" fmla="*/ 160 h 231"/>
              <a:gd name="T44" fmla="*/ 129 w 209"/>
              <a:gd name="T45" fmla="*/ 231 h 231"/>
              <a:gd name="T46" fmla="*/ 145 w 209"/>
              <a:gd name="T47" fmla="*/ 160 h 231"/>
              <a:gd name="T48" fmla="*/ 129 w 209"/>
              <a:gd name="T49" fmla="*/ 231 h 231"/>
              <a:gd name="T50" fmla="*/ 112 w 209"/>
              <a:gd name="T51" fmla="*/ 231 h 231"/>
              <a:gd name="T52" fmla="*/ 96 w 209"/>
              <a:gd name="T53" fmla="*/ 160 h 231"/>
              <a:gd name="T54" fmla="*/ 64 w 209"/>
              <a:gd name="T55" fmla="*/ 231 h 231"/>
              <a:gd name="T56" fmla="*/ 80 w 209"/>
              <a:gd name="T57" fmla="*/ 160 h 231"/>
              <a:gd name="T58" fmla="*/ 64 w 209"/>
              <a:gd name="T59" fmla="*/ 231 h 231"/>
              <a:gd name="T60" fmla="*/ 47 w 209"/>
              <a:gd name="T61" fmla="*/ 231 h 231"/>
              <a:gd name="T62" fmla="*/ 31 w 209"/>
              <a:gd name="T63" fmla="*/ 160 h 231"/>
              <a:gd name="T64" fmla="*/ 0 w 209"/>
              <a:gd name="T65" fmla="*/ 231 h 231"/>
              <a:gd name="T66" fmla="*/ 16 w 209"/>
              <a:gd name="T67" fmla="*/ 160 h 231"/>
              <a:gd name="T68" fmla="*/ 0 w 209"/>
              <a:gd name="T69" fmla="*/ 231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9" h="231">
                <a:moveTo>
                  <a:pt x="0" y="143"/>
                </a:moveTo>
                <a:lnTo>
                  <a:pt x="16" y="143"/>
                </a:lnTo>
                <a:lnTo>
                  <a:pt x="16" y="0"/>
                </a:lnTo>
                <a:lnTo>
                  <a:pt x="0" y="0"/>
                </a:lnTo>
                <a:lnTo>
                  <a:pt x="0" y="143"/>
                </a:lnTo>
                <a:close/>
                <a:moveTo>
                  <a:pt x="31" y="143"/>
                </a:moveTo>
                <a:lnTo>
                  <a:pt x="47" y="143"/>
                </a:lnTo>
                <a:lnTo>
                  <a:pt x="47" y="0"/>
                </a:lnTo>
                <a:lnTo>
                  <a:pt x="31" y="0"/>
                </a:lnTo>
                <a:lnTo>
                  <a:pt x="31" y="143"/>
                </a:lnTo>
                <a:close/>
                <a:moveTo>
                  <a:pt x="64" y="143"/>
                </a:moveTo>
                <a:lnTo>
                  <a:pt x="80" y="143"/>
                </a:lnTo>
                <a:lnTo>
                  <a:pt x="80" y="0"/>
                </a:lnTo>
                <a:lnTo>
                  <a:pt x="64" y="0"/>
                </a:lnTo>
                <a:lnTo>
                  <a:pt x="64" y="143"/>
                </a:lnTo>
                <a:close/>
                <a:moveTo>
                  <a:pt x="96" y="143"/>
                </a:moveTo>
                <a:lnTo>
                  <a:pt x="112" y="143"/>
                </a:lnTo>
                <a:lnTo>
                  <a:pt x="112" y="0"/>
                </a:lnTo>
                <a:lnTo>
                  <a:pt x="96" y="0"/>
                </a:lnTo>
                <a:lnTo>
                  <a:pt x="96" y="143"/>
                </a:lnTo>
                <a:close/>
                <a:moveTo>
                  <a:pt x="129" y="143"/>
                </a:moveTo>
                <a:lnTo>
                  <a:pt x="145" y="143"/>
                </a:lnTo>
                <a:lnTo>
                  <a:pt x="145" y="0"/>
                </a:lnTo>
                <a:lnTo>
                  <a:pt x="129" y="0"/>
                </a:lnTo>
                <a:lnTo>
                  <a:pt x="129" y="143"/>
                </a:lnTo>
                <a:close/>
                <a:moveTo>
                  <a:pt x="161" y="143"/>
                </a:moveTo>
                <a:lnTo>
                  <a:pt x="176" y="143"/>
                </a:lnTo>
                <a:lnTo>
                  <a:pt x="176" y="0"/>
                </a:lnTo>
                <a:lnTo>
                  <a:pt x="161" y="0"/>
                </a:lnTo>
                <a:lnTo>
                  <a:pt x="161" y="143"/>
                </a:lnTo>
                <a:close/>
                <a:moveTo>
                  <a:pt x="194" y="143"/>
                </a:moveTo>
                <a:lnTo>
                  <a:pt x="209" y="143"/>
                </a:lnTo>
                <a:lnTo>
                  <a:pt x="209" y="0"/>
                </a:lnTo>
                <a:lnTo>
                  <a:pt x="194" y="0"/>
                </a:lnTo>
                <a:lnTo>
                  <a:pt x="194" y="143"/>
                </a:lnTo>
                <a:close/>
                <a:moveTo>
                  <a:pt x="194" y="231"/>
                </a:moveTo>
                <a:lnTo>
                  <a:pt x="209" y="231"/>
                </a:lnTo>
                <a:lnTo>
                  <a:pt x="209" y="160"/>
                </a:lnTo>
                <a:lnTo>
                  <a:pt x="194" y="160"/>
                </a:lnTo>
                <a:lnTo>
                  <a:pt x="194" y="231"/>
                </a:lnTo>
                <a:close/>
                <a:moveTo>
                  <a:pt x="161" y="231"/>
                </a:moveTo>
                <a:lnTo>
                  <a:pt x="176" y="231"/>
                </a:lnTo>
                <a:lnTo>
                  <a:pt x="176" y="160"/>
                </a:lnTo>
                <a:lnTo>
                  <a:pt x="161" y="160"/>
                </a:lnTo>
                <a:lnTo>
                  <a:pt x="161" y="231"/>
                </a:lnTo>
                <a:close/>
                <a:moveTo>
                  <a:pt x="129" y="231"/>
                </a:moveTo>
                <a:lnTo>
                  <a:pt x="145" y="231"/>
                </a:lnTo>
                <a:lnTo>
                  <a:pt x="145" y="160"/>
                </a:lnTo>
                <a:lnTo>
                  <a:pt x="129" y="160"/>
                </a:lnTo>
                <a:lnTo>
                  <a:pt x="129" y="231"/>
                </a:lnTo>
                <a:close/>
                <a:moveTo>
                  <a:pt x="96" y="231"/>
                </a:moveTo>
                <a:lnTo>
                  <a:pt x="112" y="231"/>
                </a:lnTo>
                <a:lnTo>
                  <a:pt x="112" y="160"/>
                </a:lnTo>
                <a:lnTo>
                  <a:pt x="96" y="160"/>
                </a:lnTo>
                <a:lnTo>
                  <a:pt x="96" y="231"/>
                </a:lnTo>
                <a:close/>
                <a:moveTo>
                  <a:pt x="64" y="231"/>
                </a:moveTo>
                <a:lnTo>
                  <a:pt x="80" y="231"/>
                </a:lnTo>
                <a:lnTo>
                  <a:pt x="80" y="160"/>
                </a:lnTo>
                <a:lnTo>
                  <a:pt x="64" y="160"/>
                </a:lnTo>
                <a:lnTo>
                  <a:pt x="64" y="231"/>
                </a:lnTo>
                <a:close/>
                <a:moveTo>
                  <a:pt x="31" y="231"/>
                </a:moveTo>
                <a:lnTo>
                  <a:pt x="47" y="231"/>
                </a:lnTo>
                <a:lnTo>
                  <a:pt x="47" y="160"/>
                </a:lnTo>
                <a:lnTo>
                  <a:pt x="31" y="160"/>
                </a:lnTo>
                <a:lnTo>
                  <a:pt x="31" y="231"/>
                </a:lnTo>
                <a:close/>
                <a:moveTo>
                  <a:pt x="0" y="231"/>
                </a:moveTo>
                <a:lnTo>
                  <a:pt x="16" y="231"/>
                </a:lnTo>
                <a:lnTo>
                  <a:pt x="16" y="160"/>
                </a:lnTo>
                <a:lnTo>
                  <a:pt x="0" y="160"/>
                </a:lnTo>
                <a:lnTo>
                  <a:pt x="0" y="231"/>
                </a:lnTo>
                <a:close/>
              </a:path>
            </a:pathLst>
          </a:custGeom>
          <a:solidFill>
            <a:srgbClr val="FFFFFF"/>
          </a:solidFill>
          <a:ln w="4763">
            <a:solidFill>
              <a:srgbClr val="000000"/>
            </a:solidFill>
            <a:prstDash val="solid"/>
            <a:round/>
            <a:headEnd/>
            <a:tailEnd/>
          </a:ln>
        </p:spPr>
        <p:txBody>
          <a:bodyPr/>
          <a:lstStyle/>
          <a:p>
            <a:endParaRPr lang="zh-TW" altLang="en-US"/>
          </a:p>
        </p:txBody>
      </p:sp>
      <p:sp>
        <p:nvSpPr>
          <p:cNvPr id="7" name="Freeform 15">
            <a:extLst>
              <a:ext uri="{FF2B5EF4-FFF2-40B4-BE49-F238E27FC236}">
                <a16:creationId xmlns:a16="http://schemas.microsoft.com/office/drawing/2014/main" id="{8527EF2E-30D3-B43E-7395-BE591A4E2CA1}"/>
              </a:ext>
            </a:extLst>
          </p:cNvPr>
          <p:cNvSpPr>
            <a:spLocks noEditPoints="1"/>
          </p:cNvSpPr>
          <p:nvPr/>
        </p:nvSpPr>
        <p:spPr bwMode="auto">
          <a:xfrm>
            <a:off x="5273012" y="3216796"/>
            <a:ext cx="255587" cy="682625"/>
          </a:xfrm>
          <a:custGeom>
            <a:avLst/>
            <a:gdLst>
              <a:gd name="T0" fmla="*/ 0 w 161"/>
              <a:gd name="T1" fmla="*/ 0 h 430"/>
              <a:gd name="T2" fmla="*/ 0 w 161"/>
              <a:gd name="T3" fmla="*/ 71 h 430"/>
              <a:gd name="T4" fmla="*/ 161 w 161"/>
              <a:gd name="T5" fmla="*/ 71 h 430"/>
              <a:gd name="T6" fmla="*/ 161 w 161"/>
              <a:gd name="T7" fmla="*/ 0 h 430"/>
              <a:gd name="T8" fmla="*/ 0 w 161"/>
              <a:gd name="T9" fmla="*/ 0 h 430"/>
              <a:gd name="T10" fmla="*/ 0 w 161"/>
              <a:gd name="T11" fmla="*/ 0 h 430"/>
              <a:gd name="T12" fmla="*/ 16 w 161"/>
              <a:gd name="T13" fmla="*/ 19 h 430"/>
              <a:gd name="T14" fmla="*/ 145 w 161"/>
              <a:gd name="T15" fmla="*/ 19 h 430"/>
              <a:gd name="T16" fmla="*/ 161 w 161"/>
              <a:gd name="T17" fmla="*/ 0 h 430"/>
              <a:gd name="T18" fmla="*/ 0 w 161"/>
              <a:gd name="T19" fmla="*/ 161 h 430"/>
              <a:gd name="T20" fmla="*/ 161 w 161"/>
              <a:gd name="T21" fmla="*/ 161 h 430"/>
              <a:gd name="T22" fmla="*/ 161 w 161"/>
              <a:gd name="T23" fmla="*/ 90 h 430"/>
              <a:gd name="T24" fmla="*/ 0 w 161"/>
              <a:gd name="T25" fmla="*/ 90 h 430"/>
              <a:gd name="T26" fmla="*/ 0 w 161"/>
              <a:gd name="T27" fmla="*/ 161 h 430"/>
              <a:gd name="T28" fmla="*/ 0 w 161"/>
              <a:gd name="T29" fmla="*/ 251 h 430"/>
              <a:gd name="T30" fmla="*/ 161 w 161"/>
              <a:gd name="T31" fmla="*/ 251 h 430"/>
              <a:gd name="T32" fmla="*/ 161 w 161"/>
              <a:gd name="T33" fmla="*/ 178 h 430"/>
              <a:gd name="T34" fmla="*/ 0 w 161"/>
              <a:gd name="T35" fmla="*/ 178 h 430"/>
              <a:gd name="T36" fmla="*/ 0 w 161"/>
              <a:gd name="T37" fmla="*/ 251 h 430"/>
              <a:gd name="T38" fmla="*/ 0 w 161"/>
              <a:gd name="T39" fmla="*/ 340 h 430"/>
              <a:gd name="T40" fmla="*/ 161 w 161"/>
              <a:gd name="T41" fmla="*/ 340 h 430"/>
              <a:gd name="T42" fmla="*/ 161 w 161"/>
              <a:gd name="T43" fmla="*/ 268 h 430"/>
              <a:gd name="T44" fmla="*/ 0 w 161"/>
              <a:gd name="T45" fmla="*/ 268 h 430"/>
              <a:gd name="T46" fmla="*/ 0 w 161"/>
              <a:gd name="T47" fmla="*/ 340 h 430"/>
              <a:gd name="T48" fmla="*/ 0 w 161"/>
              <a:gd name="T49" fmla="*/ 430 h 430"/>
              <a:gd name="T50" fmla="*/ 161 w 161"/>
              <a:gd name="T51" fmla="*/ 430 h 430"/>
              <a:gd name="T52" fmla="*/ 161 w 161"/>
              <a:gd name="T53" fmla="*/ 359 h 430"/>
              <a:gd name="T54" fmla="*/ 0 w 161"/>
              <a:gd name="T55" fmla="*/ 359 h 430"/>
              <a:gd name="T56" fmla="*/ 0 w 161"/>
              <a:gd name="T57" fmla="*/ 430 h 430"/>
              <a:gd name="T58" fmla="*/ 0 w 161"/>
              <a:gd name="T59" fmla="*/ 71 h 430"/>
              <a:gd name="T60" fmla="*/ 16 w 161"/>
              <a:gd name="T61" fmla="*/ 19 h 430"/>
              <a:gd name="T62" fmla="*/ 145 w 161"/>
              <a:gd name="T63" fmla="*/ 19 h 430"/>
              <a:gd name="T64" fmla="*/ 161 w 161"/>
              <a:gd name="T65" fmla="*/ 71 h 430"/>
              <a:gd name="T66" fmla="*/ 7 w 161"/>
              <a:gd name="T67" fmla="*/ 331 h 430"/>
              <a:gd name="T68" fmla="*/ 112 w 161"/>
              <a:gd name="T69" fmla="*/ 331 h 430"/>
              <a:gd name="T70" fmla="*/ 7 w 161"/>
              <a:gd name="T71" fmla="*/ 318 h 430"/>
              <a:gd name="T72" fmla="*/ 112 w 161"/>
              <a:gd name="T73" fmla="*/ 318 h 430"/>
              <a:gd name="T74" fmla="*/ 7 w 161"/>
              <a:gd name="T75" fmla="*/ 304 h 430"/>
              <a:gd name="T76" fmla="*/ 112 w 161"/>
              <a:gd name="T77" fmla="*/ 304 h 430"/>
              <a:gd name="T78" fmla="*/ 7 w 161"/>
              <a:gd name="T79" fmla="*/ 291 h 430"/>
              <a:gd name="T80" fmla="*/ 112 w 161"/>
              <a:gd name="T81" fmla="*/ 291 h 430"/>
              <a:gd name="T82" fmla="*/ 7 w 161"/>
              <a:gd name="T83" fmla="*/ 277 h 430"/>
              <a:gd name="T84" fmla="*/ 112 w 161"/>
              <a:gd name="T85" fmla="*/ 277 h 430"/>
              <a:gd name="T86" fmla="*/ 81 w 161"/>
              <a:gd name="T87" fmla="*/ 143 h 430"/>
              <a:gd name="T88" fmla="*/ 129 w 161"/>
              <a:gd name="T89" fmla="*/ 143 h 430"/>
              <a:gd name="T90" fmla="*/ 129 w 161"/>
              <a:gd name="T91" fmla="*/ 107 h 430"/>
              <a:gd name="T92" fmla="*/ 81 w 161"/>
              <a:gd name="T93" fmla="*/ 107 h 430"/>
              <a:gd name="T94" fmla="*/ 81 w 161"/>
              <a:gd name="T95" fmla="*/ 143 h 430"/>
              <a:gd name="T96" fmla="*/ 125 w 161"/>
              <a:gd name="T97" fmla="*/ 238 h 430"/>
              <a:gd name="T98" fmla="*/ 149 w 161"/>
              <a:gd name="T99" fmla="*/ 238 h 430"/>
              <a:gd name="T100" fmla="*/ 149 w 161"/>
              <a:gd name="T101" fmla="*/ 228 h 430"/>
              <a:gd name="T102" fmla="*/ 125 w 161"/>
              <a:gd name="T103" fmla="*/ 228 h 430"/>
              <a:gd name="T104" fmla="*/ 125 w 161"/>
              <a:gd name="T105" fmla="*/ 238 h 430"/>
              <a:gd name="T106" fmla="*/ 125 w 161"/>
              <a:gd name="T107" fmla="*/ 287 h 430"/>
              <a:gd name="T108" fmla="*/ 149 w 161"/>
              <a:gd name="T109" fmla="*/ 287 h 430"/>
              <a:gd name="T110" fmla="*/ 149 w 161"/>
              <a:gd name="T111" fmla="*/ 277 h 430"/>
              <a:gd name="T112" fmla="*/ 125 w 161"/>
              <a:gd name="T113" fmla="*/ 277 h 430"/>
              <a:gd name="T114" fmla="*/ 125 w 161"/>
              <a:gd name="T115" fmla="*/ 287 h 430"/>
              <a:gd name="T116" fmla="*/ 125 w 161"/>
              <a:gd name="T117" fmla="*/ 306 h 430"/>
              <a:gd name="T118" fmla="*/ 149 w 161"/>
              <a:gd name="T119" fmla="*/ 306 h 430"/>
              <a:gd name="T120" fmla="*/ 149 w 161"/>
              <a:gd name="T121" fmla="*/ 296 h 430"/>
              <a:gd name="T122" fmla="*/ 125 w 161"/>
              <a:gd name="T123" fmla="*/ 296 h 430"/>
              <a:gd name="T124" fmla="*/ 125 w 161"/>
              <a:gd name="T125" fmla="*/ 306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1" h="430">
                <a:moveTo>
                  <a:pt x="0" y="0"/>
                </a:moveTo>
                <a:lnTo>
                  <a:pt x="0" y="71"/>
                </a:lnTo>
                <a:lnTo>
                  <a:pt x="161" y="71"/>
                </a:lnTo>
                <a:lnTo>
                  <a:pt x="161" y="0"/>
                </a:lnTo>
                <a:lnTo>
                  <a:pt x="0" y="0"/>
                </a:lnTo>
                <a:moveTo>
                  <a:pt x="0" y="0"/>
                </a:moveTo>
                <a:lnTo>
                  <a:pt x="16" y="19"/>
                </a:lnTo>
                <a:lnTo>
                  <a:pt x="145" y="19"/>
                </a:lnTo>
                <a:lnTo>
                  <a:pt x="161" y="0"/>
                </a:lnTo>
                <a:moveTo>
                  <a:pt x="0" y="161"/>
                </a:moveTo>
                <a:lnTo>
                  <a:pt x="161" y="161"/>
                </a:lnTo>
                <a:lnTo>
                  <a:pt x="161" y="90"/>
                </a:lnTo>
                <a:lnTo>
                  <a:pt x="0" y="90"/>
                </a:lnTo>
                <a:lnTo>
                  <a:pt x="0" y="161"/>
                </a:lnTo>
                <a:moveTo>
                  <a:pt x="0" y="251"/>
                </a:moveTo>
                <a:lnTo>
                  <a:pt x="161" y="251"/>
                </a:lnTo>
                <a:lnTo>
                  <a:pt x="161" y="178"/>
                </a:lnTo>
                <a:lnTo>
                  <a:pt x="0" y="178"/>
                </a:lnTo>
                <a:lnTo>
                  <a:pt x="0" y="251"/>
                </a:lnTo>
                <a:moveTo>
                  <a:pt x="0" y="340"/>
                </a:moveTo>
                <a:lnTo>
                  <a:pt x="161" y="340"/>
                </a:lnTo>
                <a:lnTo>
                  <a:pt x="161" y="268"/>
                </a:lnTo>
                <a:lnTo>
                  <a:pt x="0" y="268"/>
                </a:lnTo>
                <a:lnTo>
                  <a:pt x="0" y="340"/>
                </a:lnTo>
                <a:moveTo>
                  <a:pt x="0" y="430"/>
                </a:moveTo>
                <a:lnTo>
                  <a:pt x="161" y="430"/>
                </a:lnTo>
                <a:lnTo>
                  <a:pt x="161" y="359"/>
                </a:lnTo>
                <a:lnTo>
                  <a:pt x="0" y="359"/>
                </a:lnTo>
                <a:lnTo>
                  <a:pt x="0" y="430"/>
                </a:lnTo>
                <a:moveTo>
                  <a:pt x="0" y="71"/>
                </a:moveTo>
                <a:lnTo>
                  <a:pt x="16" y="19"/>
                </a:lnTo>
                <a:moveTo>
                  <a:pt x="145" y="19"/>
                </a:moveTo>
                <a:lnTo>
                  <a:pt x="161" y="71"/>
                </a:lnTo>
                <a:moveTo>
                  <a:pt x="7" y="331"/>
                </a:moveTo>
                <a:lnTo>
                  <a:pt x="112" y="331"/>
                </a:lnTo>
                <a:moveTo>
                  <a:pt x="7" y="318"/>
                </a:moveTo>
                <a:lnTo>
                  <a:pt x="112" y="318"/>
                </a:lnTo>
                <a:moveTo>
                  <a:pt x="7" y="304"/>
                </a:moveTo>
                <a:lnTo>
                  <a:pt x="112" y="304"/>
                </a:lnTo>
                <a:moveTo>
                  <a:pt x="7" y="291"/>
                </a:moveTo>
                <a:lnTo>
                  <a:pt x="112" y="291"/>
                </a:lnTo>
                <a:moveTo>
                  <a:pt x="7" y="277"/>
                </a:moveTo>
                <a:lnTo>
                  <a:pt x="112" y="277"/>
                </a:lnTo>
                <a:moveTo>
                  <a:pt x="81" y="143"/>
                </a:moveTo>
                <a:lnTo>
                  <a:pt x="129" y="143"/>
                </a:lnTo>
                <a:lnTo>
                  <a:pt x="129" y="107"/>
                </a:lnTo>
                <a:lnTo>
                  <a:pt x="81" y="107"/>
                </a:lnTo>
                <a:lnTo>
                  <a:pt x="81" y="143"/>
                </a:lnTo>
                <a:moveTo>
                  <a:pt x="125" y="238"/>
                </a:moveTo>
                <a:lnTo>
                  <a:pt x="149" y="238"/>
                </a:lnTo>
                <a:lnTo>
                  <a:pt x="149" y="228"/>
                </a:lnTo>
                <a:lnTo>
                  <a:pt x="125" y="228"/>
                </a:lnTo>
                <a:lnTo>
                  <a:pt x="125" y="238"/>
                </a:lnTo>
                <a:moveTo>
                  <a:pt x="125" y="287"/>
                </a:moveTo>
                <a:lnTo>
                  <a:pt x="149" y="287"/>
                </a:lnTo>
                <a:lnTo>
                  <a:pt x="149" y="277"/>
                </a:lnTo>
                <a:lnTo>
                  <a:pt x="125" y="277"/>
                </a:lnTo>
                <a:lnTo>
                  <a:pt x="125" y="287"/>
                </a:lnTo>
                <a:moveTo>
                  <a:pt x="125" y="306"/>
                </a:moveTo>
                <a:lnTo>
                  <a:pt x="149" y="306"/>
                </a:lnTo>
                <a:lnTo>
                  <a:pt x="149" y="296"/>
                </a:lnTo>
                <a:lnTo>
                  <a:pt x="125" y="296"/>
                </a:lnTo>
                <a:lnTo>
                  <a:pt x="125" y="306"/>
                </a:lnTo>
              </a:path>
            </a:pathLst>
          </a:custGeom>
          <a:noFill/>
          <a:ln w="47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8" name="Freeform 16">
            <a:extLst>
              <a:ext uri="{FF2B5EF4-FFF2-40B4-BE49-F238E27FC236}">
                <a16:creationId xmlns:a16="http://schemas.microsoft.com/office/drawing/2014/main" id="{BA462C4C-AA1D-5C0B-4014-D3208EF63EF3}"/>
              </a:ext>
            </a:extLst>
          </p:cNvPr>
          <p:cNvSpPr>
            <a:spLocks noEditPoints="1"/>
          </p:cNvSpPr>
          <p:nvPr/>
        </p:nvSpPr>
        <p:spPr bwMode="auto">
          <a:xfrm>
            <a:off x="5361912" y="3543821"/>
            <a:ext cx="1187450" cy="728662"/>
          </a:xfrm>
          <a:custGeom>
            <a:avLst/>
            <a:gdLst>
              <a:gd name="T0" fmla="*/ 0 w 748"/>
              <a:gd name="T1" fmla="*/ 18 h 459"/>
              <a:gd name="T2" fmla="*/ 49 w 748"/>
              <a:gd name="T3" fmla="*/ 18 h 459"/>
              <a:gd name="T4" fmla="*/ 49 w 748"/>
              <a:gd name="T5" fmla="*/ 0 h 459"/>
              <a:gd name="T6" fmla="*/ 0 w 748"/>
              <a:gd name="T7" fmla="*/ 0 h 459"/>
              <a:gd name="T8" fmla="*/ 0 w 748"/>
              <a:gd name="T9" fmla="*/ 18 h 459"/>
              <a:gd name="T10" fmla="*/ 721 w 748"/>
              <a:gd name="T11" fmla="*/ 459 h 459"/>
              <a:gd name="T12" fmla="*/ 748 w 748"/>
              <a:gd name="T13" fmla="*/ 459 h 459"/>
              <a:gd name="T14" fmla="*/ 748 w 748"/>
              <a:gd name="T15" fmla="*/ 448 h 459"/>
              <a:gd name="T16" fmla="*/ 721 w 748"/>
              <a:gd name="T17" fmla="*/ 448 h 459"/>
              <a:gd name="T18" fmla="*/ 721 w 748"/>
              <a:gd name="T19" fmla="*/ 459 h 459"/>
              <a:gd name="T20" fmla="*/ 276 w 748"/>
              <a:gd name="T21" fmla="*/ 358 h 459"/>
              <a:gd name="T22" fmla="*/ 276 w 748"/>
              <a:gd name="T23" fmla="*/ 56 h 459"/>
              <a:gd name="T24" fmla="*/ 675 w 748"/>
              <a:gd name="T25" fmla="*/ 56 h 459"/>
              <a:gd name="T26" fmla="*/ 675 w 748"/>
              <a:gd name="T27" fmla="*/ 358 h 459"/>
              <a:gd name="T28" fmla="*/ 276 w 748"/>
              <a:gd name="T29" fmla="*/ 358 h 459"/>
              <a:gd name="T30" fmla="*/ 258 w 748"/>
              <a:gd name="T31" fmla="*/ 379 h 459"/>
              <a:gd name="T32" fmla="*/ 693 w 748"/>
              <a:gd name="T33" fmla="*/ 379 h 459"/>
              <a:gd name="T34" fmla="*/ 693 w 748"/>
              <a:gd name="T35" fmla="*/ 35 h 459"/>
              <a:gd name="T36" fmla="*/ 712 w 748"/>
              <a:gd name="T37" fmla="*/ 35 h 459"/>
              <a:gd name="T38" fmla="*/ 712 w 748"/>
              <a:gd name="T39" fmla="*/ 15 h 459"/>
              <a:gd name="T40" fmla="*/ 240 w 748"/>
              <a:gd name="T41" fmla="*/ 15 h 459"/>
              <a:gd name="T42" fmla="*/ 240 w 748"/>
              <a:gd name="T43" fmla="*/ 32 h 459"/>
              <a:gd name="T44" fmla="*/ 240 w 748"/>
              <a:gd name="T45" fmla="*/ 399 h 459"/>
              <a:gd name="T46" fmla="*/ 258 w 748"/>
              <a:gd name="T47" fmla="*/ 399 h 459"/>
              <a:gd name="T48" fmla="*/ 258 w 748"/>
              <a:gd name="T49" fmla="*/ 379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48" h="459">
                <a:moveTo>
                  <a:pt x="0" y="18"/>
                </a:moveTo>
                <a:lnTo>
                  <a:pt x="49" y="18"/>
                </a:lnTo>
                <a:lnTo>
                  <a:pt x="49" y="0"/>
                </a:lnTo>
                <a:lnTo>
                  <a:pt x="0" y="0"/>
                </a:lnTo>
                <a:lnTo>
                  <a:pt x="0" y="18"/>
                </a:lnTo>
                <a:close/>
                <a:moveTo>
                  <a:pt x="721" y="459"/>
                </a:moveTo>
                <a:lnTo>
                  <a:pt x="748" y="459"/>
                </a:lnTo>
                <a:lnTo>
                  <a:pt x="748" y="448"/>
                </a:lnTo>
                <a:lnTo>
                  <a:pt x="721" y="448"/>
                </a:lnTo>
                <a:lnTo>
                  <a:pt x="721" y="459"/>
                </a:lnTo>
                <a:close/>
                <a:moveTo>
                  <a:pt x="276" y="358"/>
                </a:moveTo>
                <a:lnTo>
                  <a:pt x="276" y="56"/>
                </a:lnTo>
                <a:lnTo>
                  <a:pt x="675" y="56"/>
                </a:lnTo>
                <a:lnTo>
                  <a:pt x="675" y="358"/>
                </a:lnTo>
                <a:lnTo>
                  <a:pt x="276" y="358"/>
                </a:lnTo>
                <a:close/>
                <a:moveTo>
                  <a:pt x="258" y="379"/>
                </a:moveTo>
                <a:lnTo>
                  <a:pt x="693" y="379"/>
                </a:lnTo>
                <a:lnTo>
                  <a:pt x="693" y="35"/>
                </a:lnTo>
                <a:lnTo>
                  <a:pt x="712" y="35"/>
                </a:lnTo>
                <a:lnTo>
                  <a:pt x="712" y="15"/>
                </a:lnTo>
                <a:lnTo>
                  <a:pt x="240" y="15"/>
                </a:lnTo>
                <a:lnTo>
                  <a:pt x="240" y="32"/>
                </a:lnTo>
                <a:lnTo>
                  <a:pt x="240" y="399"/>
                </a:lnTo>
                <a:lnTo>
                  <a:pt x="258" y="399"/>
                </a:lnTo>
                <a:lnTo>
                  <a:pt x="258" y="379"/>
                </a:lnTo>
                <a:close/>
              </a:path>
            </a:pathLst>
          </a:custGeom>
          <a:solidFill>
            <a:srgbClr val="000000"/>
          </a:solidFill>
          <a:ln w="4763">
            <a:solidFill>
              <a:srgbClr val="000000"/>
            </a:solidFill>
            <a:prstDash val="solid"/>
            <a:round/>
            <a:headEnd/>
            <a:tailEnd/>
          </a:ln>
        </p:spPr>
        <p:txBody>
          <a:bodyPr/>
          <a:lstStyle/>
          <a:p>
            <a:endParaRPr lang="zh-TW" altLang="en-US"/>
          </a:p>
        </p:txBody>
      </p:sp>
      <p:sp>
        <p:nvSpPr>
          <p:cNvPr id="9" name="Freeform 17">
            <a:extLst>
              <a:ext uri="{FF2B5EF4-FFF2-40B4-BE49-F238E27FC236}">
                <a16:creationId xmlns:a16="http://schemas.microsoft.com/office/drawing/2014/main" id="{37BEC250-3740-14A2-0790-0288DE3BB747}"/>
              </a:ext>
            </a:extLst>
          </p:cNvPr>
          <p:cNvSpPr>
            <a:spLocks noEditPoints="1"/>
          </p:cNvSpPr>
          <p:nvPr/>
        </p:nvSpPr>
        <p:spPr bwMode="auto">
          <a:xfrm>
            <a:off x="5655599" y="4255021"/>
            <a:ext cx="460375" cy="49212"/>
          </a:xfrm>
          <a:custGeom>
            <a:avLst/>
            <a:gdLst>
              <a:gd name="T0" fmla="*/ 0 w 290"/>
              <a:gd name="T1" fmla="*/ 0 h 31"/>
              <a:gd name="T2" fmla="*/ 290 w 290"/>
              <a:gd name="T3" fmla="*/ 0 h 31"/>
              <a:gd name="T4" fmla="*/ 290 w 290"/>
              <a:gd name="T5" fmla="*/ 31 h 31"/>
              <a:gd name="T6" fmla="*/ 145 w 290"/>
              <a:gd name="T7" fmla="*/ 31 h 31"/>
              <a:gd name="T8" fmla="*/ 145 w 290"/>
              <a:gd name="T9" fmla="*/ 0 h 31"/>
            </a:gdLst>
            <a:ahLst/>
            <a:cxnLst>
              <a:cxn ang="0">
                <a:pos x="T0" y="T1"/>
              </a:cxn>
              <a:cxn ang="0">
                <a:pos x="T2" y="T3"/>
              </a:cxn>
              <a:cxn ang="0">
                <a:pos x="T4" y="T5"/>
              </a:cxn>
              <a:cxn ang="0">
                <a:pos x="T6" y="T7"/>
              </a:cxn>
              <a:cxn ang="0">
                <a:pos x="T8" y="T9"/>
              </a:cxn>
            </a:cxnLst>
            <a:rect l="0" t="0" r="r" b="b"/>
            <a:pathLst>
              <a:path w="290" h="31">
                <a:moveTo>
                  <a:pt x="0" y="0"/>
                </a:moveTo>
                <a:lnTo>
                  <a:pt x="290" y="0"/>
                </a:lnTo>
                <a:lnTo>
                  <a:pt x="290" y="31"/>
                </a:lnTo>
                <a:moveTo>
                  <a:pt x="145" y="31"/>
                </a:moveTo>
                <a:lnTo>
                  <a:pt x="145" y="0"/>
                </a:lnTo>
              </a:path>
            </a:pathLst>
          </a:custGeom>
          <a:noFill/>
          <a:ln w="47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10" name="Freeform 18">
            <a:extLst>
              <a:ext uri="{FF2B5EF4-FFF2-40B4-BE49-F238E27FC236}">
                <a16:creationId xmlns:a16="http://schemas.microsoft.com/office/drawing/2014/main" id="{5CA93EDA-5AC9-B84D-5BE3-B5A9B143ACE9}"/>
              </a:ext>
            </a:extLst>
          </p:cNvPr>
          <p:cNvSpPr>
            <a:spLocks/>
          </p:cNvSpPr>
          <p:nvPr/>
        </p:nvSpPr>
        <p:spPr bwMode="auto">
          <a:xfrm>
            <a:off x="3052099" y="3175521"/>
            <a:ext cx="1157288" cy="1371600"/>
          </a:xfrm>
          <a:custGeom>
            <a:avLst/>
            <a:gdLst>
              <a:gd name="T0" fmla="*/ 159 w 729"/>
              <a:gd name="T1" fmla="*/ 566 h 864"/>
              <a:gd name="T2" fmla="*/ 0 w 729"/>
              <a:gd name="T3" fmla="*/ 566 h 864"/>
              <a:gd name="T4" fmla="*/ 0 w 729"/>
              <a:gd name="T5" fmla="*/ 864 h 864"/>
              <a:gd name="T6" fmla="*/ 729 w 729"/>
              <a:gd name="T7" fmla="*/ 864 h 864"/>
              <a:gd name="T8" fmla="*/ 729 w 729"/>
              <a:gd name="T9" fmla="*/ 566 h 864"/>
              <a:gd name="T10" fmla="*/ 570 w 729"/>
              <a:gd name="T11" fmla="*/ 566 h 864"/>
              <a:gd name="T12" fmla="*/ 570 w 729"/>
              <a:gd name="T13" fmla="*/ 527 h 864"/>
              <a:gd name="T14" fmla="*/ 638 w 729"/>
              <a:gd name="T15" fmla="*/ 527 h 864"/>
              <a:gd name="T16" fmla="*/ 638 w 729"/>
              <a:gd name="T17" fmla="*/ 0 h 864"/>
              <a:gd name="T18" fmla="*/ 92 w 729"/>
              <a:gd name="T19" fmla="*/ 0 h 864"/>
              <a:gd name="T20" fmla="*/ 92 w 729"/>
              <a:gd name="T21" fmla="*/ 527 h 864"/>
              <a:gd name="T22" fmla="*/ 159 w 729"/>
              <a:gd name="T23" fmla="*/ 527 h 864"/>
              <a:gd name="T24" fmla="*/ 159 w 729"/>
              <a:gd name="T25" fmla="*/ 566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9" h="864">
                <a:moveTo>
                  <a:pt x="159" y="566"/>
                </a:moveTo>
                <a:lnTo>
                  <a:pt x="0" y="566"/>
                </a:lnTo>
                <a:lnTo>
                  <a:pt x="0" y="864"/>
                </a:lnTo>
                <a:lnTo>
                  <a:pt x="729" y="864"/>
                </a:lnTo>
                <a:lnTo>
                  <a:pt x="729" y="566"/>
                </a:lnTo>
                <a:lnTo>
                  <a:pt x="570" y="566"/>
                </a:lnTo>
                <a:lnTo>
                  <a:pt x="570" y="527"/>
                </a:lnTo>
                <a:lnTo>
                  <a:pt x="638" y="527"/>
                </a:lnTo>
                <a:lnTo>
                  <a:pt x="638" y="0"/>
                </a:lnTo>
                <a:lnTo>
                  <a:pt x="92" y="0"/>
                </a:lnTo>
                <a:lnTo>
                  <a:pt x="92" y="527"/>
                </a:lnTo>
                <a:lnTo>
                  <a:pt x="159" y="527"/>
                </a:lnTo>
                <a:lnTo>
                  <a:pt x="159" y="566"/>
                </a:lnTo>
                <a:close/>
              </a:path>
            </a:pathLst>
          </a:custGeom>
          <a:solidFill>
            <a:srgbClr val="FFFFFF"/>
          </a:solidFill>
          <a:ln w="14288">
            <a:solidFill>
              <a:srgbClr val="000000"/>
            </a:solidFill>
            <a:prstDash val="solid"/>
            <a:round/>
            <a:headEnd/>
            <a:tailEnd/>
          </a:ln>
        </p:spPr>
        <p:txBody>
          <a:bodyPr/>
          <a:lstStyle/>
          <a:p>
            <a:endParaRPr lang="zh-TW" altLang="en-US"/>
          </a:p>
        </p:txBody>
      </p:sp>
      <p:sp>
        <p:nvSpPr>
          <p:cNvPr id="11" name="Freeform 19">
            <a:extLst>
              <a:ext uri="{FF2B5EF4-FFF2-40B4-BE49-F238E27FC236}">
                <a16:creationId xmlns:a16="http://schemas.microsoft.com/office/drawing/2014/main" id="{515460FD-F5D4-A250-9F3A-28833C55C23A}"/>
              </a:ext>
            </a:extLst>
          </p:cNvPr>
          <p:cNvSpPr>
            <a:spLocks noEditPoints="1"/>
          </p:cNvSpPr>
          <p:nvPr/>
        </p:nvSpPr>
        <p:spPr bwMode="auto">
          <a:xfrm>
            <a:off x="3304512" y="4012133"/>
            <a:ext cx="652462" cy="61913"/>
          </a:xfrm>
          <a:custGeom>
            <a:avLst/>
            <a:gdLst>
              <a:gd name="T0" fmla="*/ 0 w 411"/>
              <a:gd name="T1" fmla="*/ 39 h 39"/>
              <a:gd name="T2" fmla="*/ 411 w 411"/>
              <a:gd name="T3" fmla="*/ 39 h 39"/>
              <a:gd name="T4" fmla="*/ 0 w 411"/>
              <a:gd name="T5" fmla="*/ 0 h 39"/>
              <a:gd name="T6" fmla="*/ 411 w 411"/>
              <a:gd name="T7" fmla="*/ 0 h 39"/>
            </a:gdLst>
            <a:ahLst/>
            <a:cxnLst>
              <a:cxn ang="0">
                <a:pos x="T0" y="T1"/>
              </a:cxn>
              <a:cxn ang="0">
                <a:pos x="T2" y="T3"/>
              </a:cxn>
              <a:cxn ang="0">
                <a:pos x="T4" y="T5"/>
              </a:cxn>
              <a:cxn ang="0">
                <a:pos x="T6" y="T7"/>
              </a:cxn>
            </a:cxnLst>
            <a:rect l="0" t="0" r="r" b="b"/>
            <a:pathLst>
              <a:path w="411" h="39">
                <a:moveTo>
                  <a:pt x="0" y="39"/>
                </a:moveTo>
                <a:lnTo>
                  <a:pt x="411" y="39"/>
                </a:lnTo>
                <a:moveTo>
                  <a:pt x="0" y="0"/>
                </a:moveTo>
                <a:lnTo>
                  <a:pt x="411"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12" name="Freeform 20">
            <a:extLst>
              <a:ext uri="{FF2B5EF4-FFF2-40B4-BE49-F238E27FC236}">
                <a16:creationId xmlns:a16="http://schemas.microsoft.com/office/drawing/2014/main" id="{04BE0CDC-551D-84CB-CEF1-2ECB7CA1E12B}"/>
              </a:ext>
            </a:extLst>
          </p:cNvPr>
          <p:cNvSpPr>
            <a:spLocks noEditPoints="1"/>
          </p:cNvSpPr>
          <p:nvPr/>
        </p:nvSpPr>
        <p:spPr bwMode="auto">
          <a:xfrm>
            <a:off x="3648999" y="4118496"/>
            <a:ext cx="471488" cy="385762"/>
          </a:xfrm>
          <a:custGeom>
            <a:avLst/>
            <a:gdLst>
              <a:gd name="T0" fmla="*/ 0 w 297"/>
              <a:gd name="T1" fmla="*/ 243 h 243"/>
              <a:gd name="T2" fmla="*/ 240 w 297"/>
              <a:gd name="T3" fmla="*/ 243 h 243"/>
              <a:gd name="T4" fmla="*/ 240 w 297"/>
              <a:gd name="T5" fmla="*/ 0 h 243"/>
              <a:gd name="T6" fmla="*/ 0 w 297"/>
              <a:gd name="T7" fmla="*/ 0 h 243"/>
              <a:gd name="T8" fmla="*/ 0 w 297"/>
              <a:gd name="T9" fmla="*/ 243 h 243"/>
              <a:gd name="T10" fmla="*/ 262 w 297"/>
              <a:gd name="T11" fmla="*/ 40 h 243"/>
              <a:gd name="T12" fmla="*/ 297 w 297"/>
              <a:gd name="T13" fmla="*/ 40 h 243"/>
              <a:gd name="T14" fmla="*/ 297 w 297"/>
              <a:gd name="T15" fmla="*/ 0 h 243"/>
              <a:gd name="T16" fmla="*/ 262 w 297"/>
              <a:gd name="T17" fmla="*/ 0 h 243"/>
              <a:gd name="T18" fmla="*/ 262 w 297"/>
              <a:gd name="T19" fmla="*/ 40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7" h="243">
                <a:moveTo>
                  <a:pt x="0" y="243"/>
                </a:moveTo>
                <a:lnTo>
                  <a:pt x="240" y="243"/>
                </a:lnTo>
                <a:lnTo>
                  <a:pt x="240" y="0"/>
                </a:lnTo>
                <a:lnTo>
                  <a:pt x="0" y="0"/>
                </a:lnTo>
                <a:lnTo>
                  <a:pt x="0" y="243"/>
                </a:lnTo>
                <a:close/>
                <a:moveTo>
                  <a:pt x="262" y="40"/>
                </a:moveTo>
                <a:lnTo>
                  <a:pt x="297" y="40"/>
                </a:lnTo>
                <a:lnTo>
                  <a:pt x="297" y="0"/>
                </a:lnTo>
                <a:lnTo>
                  <a:pt x="262" y="0"/>
                </a:lnTo>
                <a:lnTo>
                  <a:pt x="262" y="40"/>
                </a:lnTo>
                <a:close/>
              </a:path>
            </a:pathLst>
          </a:custGeom>
          <a:solidFill>
            <a:srgbClr val="FFFFFF"/>
          </a:solidFill>
          <a:ln w="4763">
            <a:solidFill>
              <a:srgbClr val="000000"/>
            </a:solidFill>
            <a:prstDash val="solid"/>
            <a:round/>
            <a:headEnd/>
            <a:tailEnd/>
          </a:ln>
        </p:spPr>
        <p:txBody>
          <a:bodyPr/>
          <a:lstStyle/>
          <a:p>
            <a:endParaRPr lang="zh-TW" altLang="en-US"/>
          </a:p>
        </p:txBody>
      </p:sp>
      <p:sp>
        <p:nvSpPr>
          <p:cNvPr id="13" name="Freeform 21">
            <a:extLst>
              <a:ext uri="{FF2B5EF4-FFF2-40B4-BE49-F238E27FC236}">
                <a16:creationId xmlns:a16="http://schemas.microsoft.com/office/drawing/2014/main" id="{B0204A70-7718-926F-68F4-FD012AD32C99}"/>
              </a:ext>
            </a:extLst>
          </p:cNvPr>
          <p:cNvSpPr>
            <a:spLocks noEditPoints="1"/>
          </p:cNvSpPr>
          <p:nvPr/>
        </p:nvSpPr>
        <p:spPr bwMode="auto">
          <a:xfrm>
            <a:off x="3648999" y="4247083"/>
            <a:ext cx="381000" cy="127000"/>
          </a:xfrm>
          <a:custGeom>
            <a:avLst/>
            <a:gdLst>
              <a:gd name="T0" fmla="*/ 0 w 240"/>
              <a:gd name="T1" fmla="*/ 0 h 80"/>
              <a:gd name="T2" fmla="*/ 240 w 240"/>
              <a:gd name="T3" fmla="*/ 0 h 80"/>
              <a:gd name="T4" fmla="*/ 0 w 240"/>
              <a:gd name="T5" fmla="*/ 80 h 80"/>
              <a:gd name="T6" fmla="*/ 240 w 240"/>
              <a:gd name="T7" fmla="*/ 80 h 80"/>
              <a:gd name="T8" fmla="*/ 11 w 240"/>
              <a:gd name="T9" fmla="*/ 41 h 80"/>
              <a:gd name="T10" fmla="*/ 228 w 240"/>
              <a:gd name="T11" fmla="*/ 41 h 80"/>
              <a:gd name="T12" fmla="*/ 136 w 240"/>
              <a:gd name="T13" fmla="*/ 68 h 80"/>
              <a:gd name="T14" fmla="*/ 205 w 240"/>
              <a:gd name="T15" fmla="*/ 68 h 80"/>
              <a:gd name="T16" fmla="*/ 205 w 240"/>
              <a:gd name="T17" fmla="*/ 14 h 80"/>
              <a:gd name="T18" fmla="*/ 136 w 240"/>
              <a:gd name="T19" fmla="*/ 14 h 80"/>
              <a:gd name="T20" fmla="*/ 136 w 240"/>
              <a:gd name="T21"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0" h="80">
                <a:moveTo>
                  <a:pt x="0" y="0"/>
                </a:moveTo>
                <a:lnTo>
                  <a:pt x="240" y="0"/>
                </a:lnTo>
                <a:moveTo>
                  <a:pt x="0" y="80"/>
                </a:moveTo>
                <a:lnTo>
                  <a:pt x="240" y="80"/>
                </a:lnTo>
                <a:moveTo>
                  <a:pt x="11" y="41"/>
                </a:moveTo>
                <a:lnTo>
                  <a:pt x="228" y="41"/>
                </a:lnTo>
                <a:moveTo>
                  <a:pt x="136" y="68"/>
                </a:moveTo>
                <a:lnTo>
                  <a:pt x="205" y="68"/>
                </a:lnTo>
                <a:lnTo>
                  <a:pt x="205" y="14"/>
                </a:lnTo>
                <a:lnTo>
                  <a:pt x="136" y="14"/>
                </a:lnTo>
                <a:lnTo>
                  <a:pt x="136" y="68"/>
                </a:lnTo>
              </a:path>
            </a:pathLst>
          </a:custGeom>
          <a:noFill/>
          <a:ln w="47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14" name="Freeform 22">
            <a:extLst>
              <a:ext uri="{FF2B5EF4-FFF2-40B4-BE49-F238E27FC236}">
                <a16:creationId xmlns:a16="http://schemas.microsoft.com/office/drawing/2014/main" id="{09040EB7-D31E-A6CE-9120-2F32D4865918}"/>
              </a:ext>
            </a:extLst>
          </p:cNvPr>
          <p:cNvSpPr>
            <a:spLocks noEditPoints="1"/>
          </p:cNvSpPr>
          <p:nvPr/>
        </p:nvSpPr>
        <p:spPr bwMode="auto">
          <a:xfrm>
            <a:off x="3088612" y="3273946"/>
            <a:ext cx="1084262" cy="919162"/>
          </a:xfrm>
          <a:custGeom>
            <a:avLst/>
            <a:gdLst>
              <a:gd name="T0" fmla="*/ 572 w 683"/>
              <a:gd name="T1" fmla="*/ 414 h 579"/>
              <a:gd name="T2" fmla="*/ 598 w 683"/>
              <a:gd name="T3" fmla="*/ 414 h 579"/>
              <a:gd name="T4" fmla="*/ 598 w 683"/>
              <a:gd name="T5" fmla="*/ 404 h 579"/>
              <a:gd name="T6" fmla="*/ 572 w 683"/>
              <a:gd name="T7" fmla="*/ 404 h 579"/>
              <a:gd name="T8" fmla="*/ 572 w 683"/>
              <a:gd name="T9" fmla="*/ 414 h 579"/>
              <a:gd name="T10" fmla="*/ 153 w 683"/>
              <a:gd name="T11" fmla="*/ 343 h 579"/>
              <a:gd name="T12" fmla="*/ 153 w 683"/>
              <a:gd name="T13" fmla="*/ 40 h 579"/>
              <a:gd name="T14" fmla="*/ 529 w 683"/>
              <a:gd name="T15" fmla="*/ 40 h 579"/>
              <a:gd name="T16" fmla="*/ 529 w 683"/>
              <a:gd name="T17" fmla="*/ 343 h 579"/>
              <a:gd name="T18" fmla="*/ 153 w 683"/>
              <a:gd name="T19" fmla="*/ 343 h 579"/>
              <a:gd name="T20" fmla="*/ 136 w 683"/>
              <a:gd name="T21" fmla="*/ 363 h 579"/>
              <a:gd name="T22" fmla="*/ 547 w 683"/>
              <a:gd name="T23" fmla="*/ 363 h 579"/>
              <a:gd name="T24" fmla="*/ 547 w 683"/>
              <a:gd name="T25" fmla="*/ 20 h 579"/>
              <a:gd name="T26" fmla="*/ 564 w 683"/>
              <a:gd name="T27" fmla="*/ 20 h 579"/>
              <a:gd name="T28" fmla="*/ 564 w 683"/>
              <a:gd name="T29" fmla="*/ 0 h 579"/>
              <a:gd name="T30" fmla="*/ 120 w 683"/>
              <a:gd name="T31" fmla="*/ 0 h 579"/>
              <a:gd name="T32" fmla="*/ 120 w 683"/>
              <a:gd name="T33" fmla="*/ 384 h 579"/>
              <a:gd name="T34" fmla="*/ 136 w 683"/>
              <a:gd name="T35" fmla="*/ 384 h 579"/>
              <a:gd name="T36" fmla="*/ 136 w 683"/>
              <a:gd name="T37" fmla="*/ 363 h 579"/>
              <a:gd name="T38" fmla="*/ 0 w 683"/>
              <a:gd name="T39" fmla="*/ 559 h 579"/>
              <a:gd name="T40" fmla="*/ 69 w 683"/>
              <a:gd name="T41" fmla="*/ 559 h 579"/>
              <a:gd name="T42" fmla="*/ 69 w 683"/>
              <a:gd name="T43" fmla="*/ 532 h 579"/>
              <a:gd name="T44" fmla="*/ 0 w 683"/>
              <a:gd name="T45" fmla="*/ 532 h 579"/>
              <a:gd name="T46" fmla="*/ 0 w 683"/>
              <a:gd name="T47" fmla="*/ 559 h 579"/>
              <a:gd name="T48" fmla="*/ 399 w 683"/>
              <a:gd name="T49" fmla="*/ 579 h 579"/>
              <a:gd name="T50" fmla="*/ 547 w 683"/>
              <a:gd name="T51" fmla="*/ 579 h 579"/>
              <a:gd name="T52" fmla="*/ 547 w 683"/>
              <a:gd name="T53" fmla="*/ 566 h 579"/>
              <a:gd name="T54" fmla="*/ 399 w 683"/>
              <a:gd name="T55" fmla="*/ 566 h 579"/>
              <a:gd name="T56" fmla="*/ 399 w 683"/>
              <a:gd name="T57" fmla="*/ 579 h 579"/>
              <a:gd name="T58" fmla="*/ 660 w 683"/>
              <a:gd name="T59" fmla="*/ 545 h 579"/>
              <a:gd name="T60" fmla="*/ 683 w 683"/>
              <a:gd name="T61" fmla="*/ 545 h 579"/>
              <a:gd name="T62" fmla="*/ 683 w 683"/>
              <a:gd name="T63" fmla="*/ 532 h 579"/>
              <a:gd name="T64" fmla="*/ 660 w 683"/>
              <a:gd name="T65" fmla="*/ 532 h 579"/>
              <a:gd name="T66" fmla="*/ 660 w 683"/>
              <a:gd name="T67" fmla="*/ 545 h 579"/>
              <a:gd name="T68" fmla="*/ 660 w 683"/>
              <a:gd name="T69" fmla="*/ 572 h 579"/>
              <a:gd name="T70" fmla="*/ 683 w 683"/>
              <a:gd name="T71" fmla="*/ 572 h 579"/>
              <a:gd name="T72" fmla="*/ 683 w 683"/>
              <a:gd name="T73" fmla="*/ 559 h 579"/>
              <a:gd name="T74" fmla="*/ 660 w 683"/>
              <a:gd name="T75" fmla="*/ 559 h 579"/>
              <a:gd name="T76" fmla="*/ 660 w 683"/>
              <a:gd name="T77" fmla="*/ 572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83" h="579">
                <a:moveTo>
                  <a:pt x="572" y="414"/>
                </a:moveTo>
                <a:lnTo>
                  <a:pt x="598" y="414"/>
                </a:lnTo>
                <a:lnTo>
                  <a:pt x="598" y="404"/>
                </a:lnTo>
                <a:lnTo>
                  <a:pt x="572" y="404"/>
                </a:lnTo>
                <a:lnTo>
                  <a:pt x="572" y="414"/>
                </a:lnTo>
                <a:close/>
                <a:moveTo>
                  <a:pt x="153" y="343"/>
                </a:moveTo>
                <a:lnTo>
                  <a:pt x="153" y="40"/>
                </a:lnTo>
                <a:lnTo>
                  <a:pt x="529" y="40"/>
                </a:lnTo>
                <a:lnTo>
                  <a:pt x="529" y="343"/>
                </a:lnTo>
                <a:lnTo>
                  <a:pt x="153" y="343"/>
                </a:lnTo>
                <a:close/>
                <a:moveTo>
                  <a:pt x="136" y="363"/>
                </a:moveTo>
                <a:lnTo>
                  <a:pt x="547" y="363"/>
                </a:lnTo>
                <a:lnTo>
                  <a:pt x="547" y="20"/>
                </a:lnTo>
                <a:lnTo>
                  <a:pt x="564" y="20"/>
                </a:lnTo>
                <a:lnTo>
                  <a:pt x="564" y="0"/>
                </a:lnTo>
                <a:lnTo>
                  <a:pt x="120" y="0"/>
                </a:lnTo>
                <a:lnTo>
                  <a:pt x="120" y="384"/>
                </a:lnTo>
                <a:lnTo>
                  <a:pt x="136" y="384"/>
                </a:lnTo>
                <a:lnTo>
                  <a:pt x="136" y="363"/>
                </a:lnTo>
                <a:close/>
                <a:moveTo>
                  <a:pt x="0" y="559"/>
                </a:moveTo>
                <a:lnTo>
                  <a:pt x="69" y="559"/>
                </a:lnTo>
                <a:lnTo>
                  <a:pt x="69" y="532"/>
                </a:lnTo>
                <a:lnTo>
                  <a:pt x="0" y="532"/>
                </a:lnTo>
                <a:lnTo>
                  <a:pt x="0" y="559"/>
                </a:lnTo>
                <a:close/>
                <a:moveTo>
                  <a:pt x="399" y="579"/>
                </a:moveTo>
                <a:lnTo>
                  <a:pt x="547" y="579"/>
                </a:lnTo>
                <a:lnTo>
                  <a:pt x="547" y="566"/>
                </a:lnTo>
                <a:lnTo>
                  <a:pt x="399" y="566"/>
                </a:lnTo>
                <a:lnTo>
                  <a:pt x="399" y="579"/>
                </a:lnTo>
                <a:close/>
                <a:moveTo>
                  <a:pt x="660" y="545"/>
                </a:moveTo>
                <a:lnTo>
                  <a:pt x="683" y="545"/>
                </a:lnTo>
                <a:lnTo>
                  <a:pt x="683" y="532"/>
                </a:lnTo>
                <a:lnTo>
                  <a:pt x="660" y="532"/>
                </a:lnTo>
                <a:lnTo>
                  <a:pt x="660" y="545"/>
                </a:lnTo>
                <a:close/>
                <a:moveTo>
                  <a:pt x="660" y="572"/>
                </a:moveTo>
                <a:lnTo>
                  <a:pt x="683" y="572"/>
                </a:lnTo>
                <a:lnTo>
                  <a:pt x="683" y="559"/>
                </a:lnTo>
                <a:lnTo>
                  <a:pt x="660" y="559"/>
                </a:lnTo>
                <a:lnTo>
                  <a:pt x="660" y="572"/>
                </a:lnTo>
                <a:close/>
              </a:path>
            </a:pathLst>
          </a:custGeom>
          <a:solidFill>
            <a:srgbClr val="000000"/>
          </a:solidFill>
          <a:ln w="4763">
            <a:solidFill>
              <a:srgbClr val="000000"/>
            </a:solidFill>
            <a:prstDash val="solid"/>
            <a:round/>
            <a:headEnd/>
            <a:tailEnd/>
          </a:ln>
        </p:spPr>
        <p:txBody>
          <a:bodyPr/>
          <a:lstStyle/>
          <a:p>
            <a:endParaRPr lang="zh-TW" altLang="en-US"/>
          </a:p>
        </p:txBody>
      </p:sp>
      <p:sp>
        <p:nvSpPr>
          <p:cNvPr id="15" name="Freeform 23">
            <a:extLst>
              <a:ext uri="{FF2B5EF4-FFF2-40B4-BE49-F238E27FC236}">
                <a16:creationId xmlns:a16="http://schemas.microsoft.com/office/drawing/2014/main" id="{FB9B1CF0-D856-0AFF-5EF6-A18DC65CD6F2}"/>
              </a:ext>
            </a:extLst>
          </p:cNvPr>
          <p:cNvSpPr>
            <a:spLocks noEditPoints="1"/>
          </p:cNvSpPr>
          <p:nvPr/>
        </p:nvSpPr>
        <p:spPr bwMode="auto">
          <a:xfrm>
            <a:off x="3198149" y="3964508"/>
            <a:ext cx="866775" cy="47625"/>
          </a:xfrm>
          <a:custGeom>
            <a:avLst/>
            <a:gdLst>
              <a:gd name="T0" fmla="*/ 0 w 546"/>
              <a:gd name="T1" fmla="*/ 0 h 30"/>
              <a:gd name="T2" fmla="*/ 546 w 546"/>
              <a:gd name="T3" fmla="*/ 0 h 30"/>
              <a:gd name="T4" fmla="*/ 136 w 546"/>
              <a:gd name="T5" fmla="*/ 30 h 30"/>
              <a:gd name="T6" fmla="*/ 136 w 546"/>
              <a:gd name="T7" fmla="*/ 0 h 30"/>
              <a:gd name="T8" fmla="*/ 272 w 546"/>
              <a:gd name="T9" fmla="*/ 30 h 30"/>
              <a:gd name="T10" fmla="*/ 272 w 546"/>
              <a:gd name="T11" fmla="*/ 0 h 30"/>
            </a:gdLst>
            <a:ahLst/>
            <a:cxnLst>
              <a:cxn ang="0">
                <a:pos x="T0" y="T1"/>
              </a:cxn>
              <a:cxn ang="0">
                <a:pos x="T2" y="T3"/>
              </a:cxn>
              <a:cxn ang="0">
                <a:pos x="T4" y="T5"/>
              </a:cxn>
              <a:cxn ang="0">
                <a:pos x="T6" y="T7"/>
              </a:cxn>
              <a:cxn ang="0">
                <a:pos x="T8" y="T9"/>
              </a:cxn>
              <a:cxn ang="0">
                <a:pos x="T10" y="T11"/>
              </a:cxn>
            </a:cxnLst>
            <a:rect l="0" t="0" r="r" b="b"/>
            <a:pathLst>
              <a:path w="546" h="30">
                <a:moveTo>
                  <a:pt x="0" y="0"/>
                </a:moveTo>
                <a:lnTo>
                  <a:pt x="546" y="0"/>
                </a:lnTo>
                <a:moveTo>
                  <a:pt x="136" y="30"/>
                </a:moveTo>
                <a:lnTo>
                  <a:pt x="136" y="0"/>
                </a:lnTo>
                <a:moveTo>
                  <a:pt x="272" y="30"/>
                </a:moveTo>
                <a:lnTo>
                  <a:pt x="272" y="0"/>
                </a:lnTo>
              </a:path>
            </a:pathLst>
          </a:custGeom>
          <a:noFill/>
          <a:ln w="47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16" name="Rectangle 24">
            <a:extLst>
              <a:ext uri="{FF2B5EF4-FFF2-40B4-BE49-F238E27FC236}">
                <a16:creationId xmlns:a16="http://schemas.microsoft.com/office/drawing/2014/main" id="{30DE3B42-5437-03B1-B4F1-C6DCEB50C1D8}"/>
              </a:ext>
            </a:extLst>
          </p:cNvPr>
          <p:cNvSpPr>
            <a:spLocks noChangeArrowheads="1"/>
          </p:cNvSpPr>
          <p:nvPr/>
        </p:nvSpPr>
        <p:spPr bwMode="auto">
          <a:xfrm>
            <a:off x="1336489" y="2262446"/>
            <a:ext cx="1910873"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TW" b="1" dirty="0"/>
              <a:t>HTML</a:t>
            </a:r>
          </a:p>
          <a:p>
            <a:r>
              <a:rPr lang="en-US" altLang="zh-TW" b="1" dirty="0"/>
              <a:t>XML</a:t>
            </a:r>
            <a:endParaRPr lang="zh-TW" altLang="zh-TW" b="1" dirty="0"/>
          </a:p>
          <a:p>
            <a:r>
              <a:rPr lang="en-US" altLang="zh-TW" b="1" dirty="0"/>
              <a:t>SML</a:t>
            </a:r>
          </a:p>
          <a:p>
            <a:r>
              <a:rPr lang="en-US" altLang="zh-TW" b="1" dirty="0"/>
              <a:t>VRML</a:t>
            </a:r>
            <a:endParaRPr lang="zh-TW" altLang="zh-TW" b="1" dirty="0"/>
          </a:p>
          <a:p>
            <a:r>
              <a:rPr lang="en-US" altLang="zh-TW" b="1" dirty="0"/>
              <a:t>VRML</a:t>
            </a:r>
          </a:p>
          <a:p>
            <a:r>
              <a:rPr lang="en-US" altLang="zh-TW" b="1" dirty="0"/>
              <a:t>XHTML</a:t>
            </a:r>
            <a:endParaRPr lang="zh-TW" altLang="zh-TW" b="1" dirty="0"/>
          </a:p>
          <a:p>
            <a:r>
              <a:rPr lang="en-US" altLang="zh-TW" b="1" dirty="0"/>
              <a:t>CSS</a:t>
            </a:r>
          </a:p>
          <a:p>
            <a:r>
              <a:rPr lang="en-US" altLang="zh-TW" b="1" dirty="0"/>
              <a:t>JavaScript</a:t>
            </a:r>
          </a:p>
          <a:p>
            <a:r>
              <a:rPr lang="en-US" altLang="zh-TW" b="1" dirty="0" err="1"/>
              <a:t>JQuery</a:t>
            </a:r>
            <a:endParaRPr lang="zh-TW" altLang="zh-TW" b="1" dirty="0"/>
          </a:p>
          <a:p>
            <a:r>
              <a:rPr lang="en-US" altLang="zh-TW" b="1" dirty="0"/>
              <a:t>Frontpage</a:t>
            </a:r>
          </a:p>
          <a:p>
            <a:r>
              <a:rPr lang="en-US" altLang="zh-TW" b="1" dirty="0"/>
              <a:t>Dreamweaver</a:t>
            </a:r>
          </a:p>
          <a:p>
            <a:r>
              <a:rPr lang="en-US" altLang="zh-TW" b="1" dirty="0"/>
              <a:t>Flash….</a:t>
            </a:r>
            <a:endParaRPr lang="zh-TW" altLang="zh-TW" b="1" dirty="0"/>
          </a:p>
          <a:p>
            <a:endParaRPr lang="zh-TW" altLang="en-US" b="1" dirty="0"/>
          </a:p>
        </p:txBody>
      </p:sp>
      <p:sp>
        <p:nvSpPr>
          <p:cNvPr id="20" name="Rectangle 28">
            <a:extLst>
              <a:ext uri="{FF2B5EF4-FFF2-40B4-BE49-F238E27FC236}">
                <a16:creationId xmlns:a16="http://schemas.microsoft.com/office/drawing/2014/main" id="{8790635A-BAD4-1DEA-CD14-5ADB4C390C6D}"/>
              </a:ext>
            </a:extLst>
          </p:cNvPr>
          <p:cNvSpPr>
            <a:spLocks noChangeArrowheads="1"/>
          </p:cNvSpPr>
          <p:nvPr/>
        </p:nvSpPr>
        <p:spPr bwMode="auto">
          <a:xfrm>
            <a:off x="6900424" y="2995012"/>
            <a:ext cx="89447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b="1" dirty="0"/>
              <a:t>JSP</a:t>
            </a:r>
            <a:endParaRPr lang="zh-TW" altLang="zh-TW" b="1" dirty="0"/>
          </a:p>
          <a:p>
            <a:r>
              <a:rPr lang="en-US" altLang="zh-TW" b="1" dirty="0"/>
              <a:t>ASP</a:t>
            </a:r>
          </a:p>
          <a:p>
            <a:r>
              <a:rPr lang="en-US" altLang="zh-TW" b="1" dirty="0"/>
              <a:t>ASP.NET</a:t>
            </a:r>
            <a:endParaRPr lang="zh-TW" altLang="zh-TW" b="1" dirty="0"/>
          </a:p>
          <a:p>
            <a:r>
              <a:rPr lang="en-US" altLang="zh-TW" b="1" dirty="0"/>
              <a:t>PHP</a:t>
            </a:r>
          </a:p>
          <a:p>
            <a:r>
              <a:rPr lang="en-US" altLang="zh-TW" b="1" dirty="0"/>
              <a:t>Node.js</a:t>
            </a:r>
          </a:p>
          <a:p>
            <a:r>
              <a:rPr lang="en-US" altLang="zh-TW" b="1" dirty="0"/>
              <a:t>Ruby</a:t>
            </a:r>
          </a:p>
          <a:p>
            <a:endParaRPr lang="zh-TW" altLang="en-US" b="1" dirty="0"/>
          </a:p>
        </p:txBody>
      </p:sp>
      <p:sp>
        <p:nvSpPr>
          <p:cNvPr id="24" name="Line 32">
            <a:extLst>
              <a:ext uri="{FF2B5EF4-FFF2-40B4-BE49-F238E27FC236}">
                <a16:creationId xmlns:a16="http://schemas.microsoft.com/office/drawing/2014/main" id="{797FC6D8-9B77-7EC1-CABF-8FF2ECC62FAE}"/>
              </a:ext>
            </a:extLst>
          </p:cNvPr>
          <p:cNvSpPr>
            <a:spLocks noChangeShapeType="1"/>
          </p:cNvSpPr>
          <p:nvPr/>
        </p:nvSpPr>
        <p:spPr bwMode="auto">
          <a:xfrm>
            <a:off x="4639599" y="1486421"/>
            <a:ext cx="1588" cy="3117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25" name="Rectangle 33">
            <a:extLst>
              <a:ext uri="{FF2B5EF4-FFF2-40B4-BE49-F238E27FC236}">
                <a16:creationId xmlns:a16="http://schemas.microsoft.com/office/drawing/2014/main" id="{10EC3DA9-6B25-DAE0-1A0B-DF4AAE301235}"/>
              </a:ext>
            </a:extLst>
          </p:cNvPr>
          <p:cNvSpPr>
            <a:spLocks noChangeArrowheads="1"/>
          </p:cNvSpPr>
          <p:nvPr/>
        </p:nvSpPr>
        <p:spPr bwMode="auto">
          <a:xfrm>
            <a:off x="1315374" y="1597546"/>
            <a:ext cx="20589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2100">
                <a:solidFill>
                  <a:srgbClr val="000000"/>
                </a:solidFill>
                <a:latin typeface="華康中楷體"/>
                <a:ea typeface="華康中楷體"/>
                <a:cs typeface="華康中楷體"/>
              </a:rPr>
              <a:t>Client </a:t>
            </a:r>
            <a:r>
              <a:rPr lang="zh-TW" altLang="en-US" sz="2100">
                <a:solidFill>
                  <a:srgbClr val="000000"/>
                </a:solidFill>
                <a:latin typeface="華康中楷體"/>
                <a:ea typeface="華康中楷體"/>
                <a:cs typeface="華康中楷體"/>
              </a:rPr>
              <a:t>端相關技術</a:t>
            </a:r>
            <a:endParaRPr lang="zh-TW" altLang="en-US"/>
          </a:p>
        </p:txBody>
      </p:sp>
      <p:sp>
        <p:nvSpPr>
          <p:cNvPr id="26" name="Rectangle 34">
            <a:extLst>
              <a:ext uri="{FF2B5EF4-FFF2-40B4-BE49-F238E27FC236}">
                <a16:creationId xmlns:a16="http://schemas.microsoft.com/office/drawing/2014/main" id="{BF9206BF-D2CE-7686-FA04-9B201758A807}"/>
              </a:ext>
            </a:extLst>
          </p:cNvPr>
          <p:cNvSpPr>
            <a:spLocks noChangeArrowheads="1"/>
          </p:cNvSpPr>
          <p:nvPr/>
        </p:nvSpPr>
        <p:spPr bwMode="auto">
          <a:xfrm>
            <a:off x="1158212" y="1454671"/>
            <a:ext cx="2217737" cy="520700"/>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27" name="Rectangle 35">
            <a:extLst>
              <a:ext uri="{FF2B5EF4-FFF2-40B4-BE49-F238E27FC236}">
                <a16:creationId xmlns:a16="http://schemas.microsoft.com/office/drawing/2014/main" id="{FA092209-4D99-0296-AE35-79853C7328EA}"/>
              </a:ext>
            </a:extLst>
          </p:cNvPr>
          <p:cNvSpPr>
            <a:spLocks noChangeArrowheads="1"/>
          </p:cNvSpPr>
          <p:nvPr/>
        </p:nvSpPr>
        <p:spPr bwMode="auto">
          <a:xfrm>
            <a:off x="5757650" y="1562485"/>
            <a:ext cx="20589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TW" sz="2100" dirty="0">
                <a:solidFill>
                  <a:srgbClr val="000000"/>
                </a:solidFill>
                <a:latin typeface="華康中楷體"/>
                <a:ea typeface="華康中楷體"/>
                <a:cs typeface="華康中楷體"/>
              </a:rPr>
              <a:t>Server </a:t>
            </a:r>
            <a:r>
              <a:rPr lang="zh-TW" altLang="en-US" sz="2100" dirty="0">
                <a:solidFill>
                  <a:srgbClr val="000000"/>
                </a:solidFill>
                <a:latin typeface="華康中楷體"/>
                <a:ea typeface="華康中楷體"/>
                <a:cs typeface="華康中楷體"/>
              </a:rPr>
              <a:t>端相關技術</a:t>
            </a:r>
            <a:endParaRPr lang="zh-TW" altLang="en-US" dirty="0"/>
          </a:p>
        </p:txBody>
      </p:sp>
      <p:sp>
        <p:nvSpPr>
          <p:cNvPr id="28" name="Rectangle 36">
            <a:extLst>
              <a:ext uri="{FF2B5EF4-FFF2-40B4-BE49-F238E27FC236}">
                <a16:creationId xmlns:a16="http://schemas.microsoft.com/office/drawing/2014/main" id="{2DDDBE5B-0896-4CE7-FA19-CEA489FB9679}"/>
              </a:ext>
            </a:extLst>
          </p:cNvPr>
          <p:cNvSpPr>
            <a:spLocks noChangeArrowheads="1"/>
          </p:cNvSpPr>
          <p:nvPr/>
        </p:nvSpPr>
        <p:spPr bwMode="auto">
          <a:xfrm>
            <a:off x="5634418" y="1446092"/>
            <a:ext cx="2260600" cy="528637"/>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29" name="箭號: 向右 28">
            <a:extLst>
              <a:ext uri="{FF2B5EF4-FFF2-40B4-BE49-F238E27FC236}">
                <a16:creationId xmlns:a16="http://schemas.microsoft.com/office/drawing/2014/main" id="{0DE6B1E2-7847-9F51-6BCF-AEC932E9FB0F}"/>
              </a:ext>
            </a:extLst>
          </p:cNvPr>
          <p:cNvSpPr/>
          <p:nvPr/>
        </p:nvSpPr>
        <p:spPr>
          <a:xfrm>
            <a:off x="4172875" y="3074302"/>
            <a:ext cx="1017586" cy="365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箭號: 向右 29">
            <a:extLst>
              <a:ext uri="{FF2B5EF4-FFF2-40B4-BE49-F238E27FC236}">
                <a16:creationId xmlns:a16="http://schemas.microsoft.com/office/drawing/2014/main" id="{BB07C092-DC6D-325E-4E8F-65B415B3E69F}"/>
              </a:ext>
            </a:extLst>
          </p:cNvPr>
          <p:cNvSpPr/>
          <p:nvPr/>
        </p:nvSpPr>
        <p:spPr>
          <a:xfrm rot="10800000">
            <a:off x="4172874" y="4064140"/>
            <a:ext cx="906461" cy="3817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Line 32">
            <a:extLst>
              <a:ext uri="{FF2B5EF4-FFF2-40B4-BE49-F238E27FC236}">
                <a16:creationId xmlns:a16="http://schemas.microsoft.com/office/drawing/2014/main" id="{4903A843-9769-797B-1FEE-D51FE592ED2E}"/>
              </a:ext>
            </a:extLst>
          </p:cNvPr>
          <p:cNvSpPr>
            <a:spLocks noChangeShapeType="1"/>
          </p:cNvSpPr>
          <p:nvPr/>
        </p:nvSpPr>
        <p:spPr bwMode="auto">
          <a:xfrm>
            <a:off x="8375211" y="1567247"/>
            <a:ext cx="1588" cy="3117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32" name="圓柱 6">
            <a:extLst>
              <a:ext uri="{FF2B5EF4-FFF2-40B4-BE49-F238E27FC236}">
                <a16:creationId xmlns:a16="http://schemas.microsoft.com/office/drawing/2014/main" id="{9051DA4E-2311-9C5F-3F6E-2A0520C4A588}"/>
              </a:ext>
            </a:extLst>
          </p:cNvPr>
          <p:cNvSpPr>
            <a:spLocks noChangeArrowheads="1"/>
          </p:cNvSpPr>
          <p:nvPr/>
        </p:nvSpPr>
        <p:spPr bwMode="auto">
          <a:xfrm>
            <a:off x="9122648" y="2406386"/>
            <a:ext cx="1454700" cy="2527618"/>
          </a:xfrm>
          <a:prstGeom prst="can">
            <a:avLst>
              <a:gd name="adj" fmla="val 14288"/>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a:spcAft>
                <a:spcPts val="1800"/>
              </a:spcAft>
              <a:buNone/>
            </a:pPr>
            <a:r>
              <a:rPr lang="en-US" sz="1600" b="1" kern="100" dirty="0">
                <a:effectLst/>
                <a:latin typeface="Calibri" panose="020F0502020204030204" pitchFamily="34" charset="0"/>
                <a:ea typeface="新細明體" panose="02020500000000000000" pitchFamily="18" charset="-120"/>
                <a:cs typeface="Times New Roman" panose="02020603050405020304" pitchFamily="18" charset="0"/>
              </a:rPr>
              <a:t>Access</a:t>
            </a:r>
            <a:endParaRPr lang="zh-TW" sz="1600" b="1" kern="100" dirty="0">
              <a:effectLst/>
              <a:latin typeface="Calibri" panose="020F0502020204030204" pitchFamily="34" charset="0"/>
              <a:ea typeface="新細明體" panose="02020500000000000000" pitchFamily="18" charset="-120"/>
              <a:cs typeface="Times New Roman" panose="02020603050405020304" pitchFamily="18" charset="0"/>
            </a:endParaRPr>
          </a:p>
          <a:p>
            <a:pPr>
              <a:spcAft>
                <a:spcPts val="1800"/>
              </a:spcAft>
              <a:buNone/>
            </a:pPr>
            <a:r>
              <a:rPr lang="en-US" sz="1600" b="1" kern="100" dirty="0">
                <a:effectLst/>
                <a:latin typeface="Calibri" panose="020F0502020204030204" pitchFamily="34" charset="0"/>
                <a:ea typeface="新細明體" panose="02020500000000000000" pitchFamily="18" charset="-120"/>
                <a:cs typeface="Times New Roman" panose="02020603050405020304" pitchFamily="18" charset="0"/>
              </a:rPr>
              <a:t>SQL server</a:t>
            </a:r>
            <a:endParaRPr lang="zh-TW" sz="1600" b="1" kern="100" dirty="0">
              <a:effectLst/>
              <a:latin typeface="Calibri" panose="020F0502020204030204" pitchFamily="34" charset="0"/>
              <a:ea typeface="新細明體" panose="02020500000000000000" pitchFamily="18" charset="-120"/>
              <a:cs typeface="Times New Roman" panose="02020603050405020304" pitchFamily="18" charset="0"/>
            </a:endParaRPr>
          </a:p>
          <a:p>
            <a:pPr>
              <a:spcAft>
                <a:spcPts val="1800"/>
              </a:spcAft>
              <a:buNone/>
            </a:pPr>
            <a:r>
              <a:rPr lang="en-US" sz="1600" b="1" kern="100" dirty="0" err="1">
                <a:solidFill>
                  <a:srgbClr val="C00000"/>
                </a:solidFill>
                <a:effectLst/>
                <a:latin typeface="Calibri" panose="020F0502020204030204" pitchFamily="34" charset="0"/>
                <a:ea typeface="新細明體" panose="02020500000000000000" pitchFamily="18" charset="-120"/>
                <a:cs typeface="Times New Roman" panose="02020603050405020304" pitchFamily="18" charset="0"/>
              </a:rPr>
              <a:t>MySql</a:t>
            </a:r>
            <a:endParaRPr lang="en-US" sz="1600" b="1" kern="100" dirty="0">
              <a:solidFill>
                <a:srgbClr val="C00000"/>
              </a:solidFill>
              <a:effectLst/>
              <a:latin typeface="Calibri" panose="020F0502020204030204" pitchFamily="34" charset="0"/>
              <a:ea typeface="新細明體" panose="02020500000000000000" pitchFamily="18" charset="-120"/>
              <a:cs typeface="Times New Roman" panose="02020603050405020304" pitchFamily="18" charset="0"/>
            </a:endParaRPr>
          </a:p>
          <a:p>
            <a:pPr>
              <a:spcAft>
                <a:spcPts val="1800"/>
              </a:spcAft>
              <a:buNone/>
            </a:pPr>
            <a:r>
              <a:rPr lang="en-US" altLang="zh-TW" sz="1600" b="1" kern="100" dirty="0">
                <a:latin typeface="Calibri" panose="020F0502020204030204" pitchFamily="34" charset="0"/>
                <a:ea typeface="新細明體" panose="02020500000000000000" pitchFamily="18" charset="-120"/>
                <a:cs typeface="Times New Roman" panose="02020603050405020304" pitchFamily="18" charset="0"/>
              </a:rPr>
              <a:t>ORACLE</a:t>
            </a:r>
          </a:p>
          <a:p>
            <a:pPr>
              <a:spcAft>
                <a:spcPts val="1800"/>
              </a:spcAft>
              <a:buNone/>
            </a:pPr>
            <a:r>
              <a:rPr lang="en-US" altLang="zh-TW" sz="1600" b="1" kern="100" dirty="0">
                <a:latin typeface="Calibri" panose="020F0502020204030204" pitchFamily="34" charset="0"/>
                <a:ea typeface="新細明體" panose="02020500000000000000" pitchFamily="18" charset="-120"/>
                <a:cs typeface="Times New Roman" panose="02020603050405020304" pitchFamily="18" charset="0"/>
              </a:rPr>
              <a:t>DB2..</a:t>
            </a:r>
          </a:p>
          <a:p>
            <a:pPr>
              <a:spcAft>
                <a:spcPts val="1800"/>
              </a:spcAft>
              <a:buNone/>
            </a:pPr>
            <a:endParaRPr lang="zh-TW" sz="1600" b="1"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34" name="文字方塊 33">
            <a:extLst>
              <a:ext uri="{FF2B5EF4-FFF2-40B4-BE49-F238E27FC236}">
                <a16:creationId xmlns:a16="http://schemas.microsoft.com/office/drawing/2014/main" id="{B9090B0F-1B8E-08D0-67B7-5365520B0B48}"/>
              </a:ext>
            </a:extLst>
          </p:cNvPr>
          <p:cNvSpPr txBox="1"/>
          <p:nvPr/>
        </p:nvSpPr>
        <p:spPr>
          <a:xfrm>
            <a:off x="9337185" y="1530355"/>
            <a:ext cx="992579" cy="415498"/>
          </a:xfrm>
          <a:prstGeom prst="rect">
            <a:avLst/>
          </a:prstGeom>
          <a:noFill/>
          <a:ln w="9525">
            <a:solidFill>
              <a:schemeClr val="tx1"/>
            </a:solidFill>
          </a:ln>
        </p:spPr>
        <p:txBody>
          <a:bodyPr wrap="none" rtlCol="0">
            <a:spAutoFit/>
          </a:bodyPr>
          <a:lstStyle/>
          <a:p>
            <a:r>
              <a:rPr lang="zh-TW" altLang="en-US" sz="2100" dirty="0">
                <a:solidFill>
                  <a:srgbClr val="000000"/>
                </a:solidFill>
                <a:latin typeface="華康中楷體"/>
              </a:rPr>
              <a:t>資料庫</a:t>
            </a:r>
          </a:p>
        </p:txBody>
      </p:sp>
      <p:sp>
        <p:nvSpPr>
          <p:cNvPr id="35" name="箭號: 向右 34">
            <a:extLst>
              <a:ext uri="{FF2B5EF4-FFF2-40B4-BE49-F238E27FC236}">
                <a16:creationId xmlns:a16="http://schemas.microsoft.com/office/drawing/2014/main" id="{DBC68471-1496-BB77-8F9A-080B5C0E38FC}"/>
              </a:ext>
            </a:extLst>
          </p:cNvPr>
          <p:cNvSpPr/>
          <p:nvPr/>
        </p:nvSpPr>
        <p:spPr>
          <a:xfrm>
            <a:off x="8028912" y="2949683"/>
            <a:ext cx="1017586" cy="365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箭號: 向右 35">
            <a:extLst>
              <a:ext uri="{FF2B5EF4-FFF2-40B4-BE49-F238E27FC236}">
                <a16:creationId xmlns:a16="http://schemas.microsoft.com/office/drawing/2014/main" id="{F3AD8190-9CA2-D196-5729-546AE9D3EE42}"/>
              </a:ext>
            </a:extLst>
          </p:cNvPr>
          <p:cNvSpPr/>
          <p:nvPr/>
        </p:nvSpPr>
        <p:spPr>
          <a:xfrm rot="10800000">
            <a:off x="8028911" y="3939521"/>
            <a:ext cx="906461" cy="3817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45026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7FD880-F52D-10AB-8A1A-A772CC6473B4}"/>
              </a:ext>
            </a:extLst>
          </p:cNvPr>
          <p:cNvSpPr>
            <a:spLocks noGrp="1"/>
          </p:cNvSpPr>
          <p:nvPr>
            <p:ph type="title"/>
          </p:nvPr>
        </p:nvSpPr>
        <p:spPr/>
        <p:txBody>
          <a:bodyPr/>
          <a:lstStyle/>
          <a:p>
            <a:r>
              <a:rPr lang="en-US" altLang="zh-TW" dirty="0"/>
              <a:t>PHP</a:t>
            </a:r>
            <a:r>
              <a:rPr lang="zh-TW" altLang="en-US" dirty="0"/>
              <a:t>簡介</a:t>
            </a:r>
          </a:p>
        </p:txBody>
      </p:sp>
      <p:sp>
        <p:nvSpPr>
          <p:cNvPr id="3" name="內容版面配置區 2">
            <a:extLst>
              <a:ext uri="{FF2B5EF4-FFF2-40B4-BE49-F238E27FC236}">
                <a16:creationId xmlns:a16="http://schemas.microsoft.com/office/drawing/2014/main" id="{C89C0AC0-99C2-3221-02EE-E534EBBD7F4A}"/>
              </a:ext>
            </a:extLst>
          </p:cNvPr>
          <p:cNvSpPr>
            <a:spLocks noGrp="1"/>
          </p:cNvSpPr>
          <p:nvPr>
            <p:ph idx="1"/>
          </p:nvPr>
        </p:nvSpPr>
        <p:spPr/>
        <p:txBody>
          <a:bodyPr/>
          <a:lstStyle/>
          <a:p>
            <a:r>
              <a:rPr lang="en-US" altLang="zh-TW" dirty="0"/>
              <a:t>PHP </a:t>
            </a:r>
            <a:r>
              <a:rPr lang="zh-TW" altLang="en-US" dirty="0"/>
              <a:t>提供用來建置高階網站的方案，不論是簡單或是非常高階、大型、商業的網站，您都可以用 </a:t>
            </a:r>
            <a:r>
              <a:rPr lang="en-US" altLang="zh-TW" dirty="0"/>
              <a:t>PHP </a:t>
            </a:r>
            <a:r>
              <a:rPr lang="zh-TW" altLang="en-US" dirty="0"/>
              <a:t>來建立。您可以使用 </a:t>
            </a:r>
            <a:r>
              <a:rPr lang="en-US" altLang="zh-TW" dirty="0"/>
              <a:t>PHP </a:t>
            </a:r>
            <a:r>
              <a:rPr lang="zh-TW" altLang="en-US" dirty="0"/>
              <a:t>來：</a:t>
            </a:r>
          </a:p>
          <a:p>
            <a:endParaRPr lang="zh-TW" altLang="en-US" dirty="0"/>
          </a:p>
          <a:p>
            <a:pPr lvl="1"/>
            <a:r>
              <a:rPr lang="zh-TW" altLang="en-US" sz="2800" dirty="0"/>
              <a:t>建立動態網頁</a:t>
            </a:r>
          </a:p>
          <a:p>
            <a:pPr lvl="1"/>
            <a:r>
              <a:rPr lang="zh-TW" altLang="en-US" sz="2800" dirty="0"/>
              <a:t>處理 </a:t>
            </a:r>
            <a:r>
              <a:rPr lang="en-US" altLang="zh-TW" sz="2800" dirty="0"/>
              <a:t>HTML </a:t>
            </a:r>
            <a:r>
              <a:rPr lang="zh-TW" altLang="en-US" sz="2800" dirty="0"/>
              <a:t>的表單資料</a:t>
            </a:r>
          </a:p>
          <a:p>
            <a:pPr lvl="1"/>
            <a:r>
              <a:rPr lang="zh-TW" altLang="en-US" sz="2800" dirty="0"/>
              <a:t>在網頁上加上訪客計數器、依客戶喜好推播不同產品</a:t>
            </a:r>
            <a:r>
              <a:rPr lang="en-US" altLang="zh-TW" sz="2800" dirty="0"/>
              <a:t>..</a:t>
            </a:r>
            <a:endParaRPr lang="zh-TW" altLang="en-US" sz="2800" dirty="0"/>
          </a:p>
          <a:p>
            <a:pPr lvl="1"/>
            <a:r>
              <a:rPr lang="zh-TW" altLang="en-US" sz="2800" dirty="0"/>
              <a:t>從資料庫存取資訊</a:t>
            </a:r>
          </a:p>
        </p:txBody>
      </p:sp>
    </p:spTree>
    <p:extLst>
      <p:ext uri="{BB962C8B-B14F-4D97-AF65-F5344CB8AC3E}">
        <p14:creationId xmlns:p14="http://schemas.microsoft.com/office/powerpoint/2010/main" val="1220697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D3CBE3-ACE9-C38C-6710-3D7F355AD330}"/>
              </a:ext>
            </a:extLst>
          </p:cNvPr>
          <p:cNvSpPr>
            <a:spLocks noGrp="1"/>
          </p:cNvSpPr>
          <p:nvPr>
            <p:ph type="title"/>
          </p:nvPr>
        </p:nvSpPr>
        <p:spPr/>
        <p:txBody>
          <a:bodyPr/>
          <a:lstStyle/>
          <a:p>
            <a:r>
              <a:rPr lang="en-US" altLang="zh-TW" dirty="0"/>
              <a:t>PHP </a:t>
            </a:r>
            <a:r>
              <a:rPr lang="zh-TW" altLang="en-US" dirty="0"/>
              <a:t>主要的特色 </a:t>
            </a:r>
            <a:r>
              <a:rPr lang="en-US" altLang="zh-TW" dirty="0"/>
              <a:t>(</a:t>
            </a:r>
            <a:r>
              <a:rPr lang="zh-TW" altLang="en-US" dirty="0"/>
              <a:t>續</a:t>
            </a:r>
            <a:r>
              <a:rPr lang="en-US" altLang="zh-TW" dirty="0"/>
              <a:t>)</a:t>
            </a:r>
            <a:endParaRPr lang="zh-TW" altLang="en-US" dirty="0"/>
          </a:p>
        </p:txBody>
      </p:sp>
      <p:sp>
        <p:nvSpPr>
          <p:cNvPr id="3" name="內容版面配置區 2">
            <a:extLst>
              <a:ext uri="{FF2B5EF4-FFF2-40B4-BE49-F238E27FC236}">
                <a16:creationId xmlns:a16="http://schemas.microsoft.com/office/drawing/2014/main" id="{B8E77134-F0A6-AD16-DB37-DA4A9C33A631}"/>
              </a:ext>
            </a:extLst>
          </p:cNvPr>
          <p:cNvSpPr>
            <a:spLocks noGrp="1"/>
          </p:cNvSpPr>
          <p:nvPr>
            <p:ph idx="1"/>
          </p:nvPr>
        </p:nvSpPr>
        <p:spPr/>
        <p:txBody>
          <a:bodyPr>
            <a:normAutofit/>
          </a:bodyPr>
          <a:lstStyle/>
          <a:p>
            <a:r>
              <a:rPr lang="en-US" altLang="zh-TW" dirty="0"/>
              <a:t>PHP </a:t>
            </a:r>
            <a:r>
              <a:rPr lang="zh-TW" altLang="en-US" dirty="0"/>
              <a:t>獨特的語法混合了 </a:t>
            </a:r>
            <a:r>
              <a:rPr lang="en-US" altLang="zh-TW" dirty="0"/>
              <a:t>C</a:t>
            </a:r>
            <a:r>
              <a:rPr lang="zh-TW" altLang="en-US" dirty="0"/>
              <a:t>、</a:t>
            </a:r>
            <a:r>
              <a:rPr lang="en-US" altLang="zh-TW" dirty="0"/>
              <a:t>Java</a:t>
            </a:r>
            <a:r>
              <a:rPr lang="zh-TW" altLang="en-US" dirty="0"/>
              <a:t>、</a:t>
            </a:r>
            <a:r>
              <a:rPr lang="en-US" altLang="zh-TW" dirty="0"/>
              <a:t>Perl </a:t>
            </a:r>
            <a:r>
              <a:rPr lang="zh-TW" altLang="en-US" dirty="0"/>
              <a:t>以及 </a:t>
            </a:r>
            <a:r>
              <a:rPr lang="en-US" altLang="zh-TW" dirty="0"/>
              <a:t>PHP </a:t>
            </a:r>
            <a:r>
              <a:rPr lang="zh-TW" altLang="en-US" dirty="0"/>
              <a:t>自創新的語法。</a:t>
            </a:r>
          </a:p>
          <a:p>
            <a:r>
              <a:rPr lang="en-US" altLang="zh-TW" dirty="0"/>
              <a:t>PHP</a:t>
            </a:r>
            <a:r>
              <a:rPr lang="zh-TW" altLang="en-US" dirty="0"/>
              <a:t>可以比</a:t>
            </a:r>
            <a:r>
              <a:rPr lang="en-US" altLang="zh-TW" dirty="0"/>
              <a:t>CGI</a:t>
            </a:r>
            <a:r>
              <a:rPr lang="zh-TW" altLang="en-US" dirty="0"/>
              <a:t>或者</a:t>
            </a:r>
            <a:r>
              <a:rPr lang="en-US" altLang="zh-TW" dirty="0"/>
              <a:t>Perl</a:t>
            </a:r>
            <a:r>
              <a:rPr lang="zh-TW" altLang="en-US" dirty="0"/>
              <a:t>更快速的執行動態網頁</a:t>
            </a:r>
            <a:r>
              <a:rPr lang="en-US" altLang="zh-TW" dirty="0"/>
              <a:t>——</a:t>
            </a:r>
            <a:r>
              <a:rPr lang="zh-TW" altLang="en-US" dirty="0"/>
              <a:t>動態頁面方面，與其他的程式語言相比，</a:t>
            </a:r>
            <a:r>
              <a:rPr lang="en-US" altLang="zh-TW" dirty="0"/>
              <a:t>PHP</a:t>
            </a:r>
            <a:r>
              <a:rPr lang="zh-TW" altLang="en-US" dirty="0"/>
              <a:t>是將程序嵌入到</a:t>
            </a:r>
            <a:r>
              <a:rPr lang="en-US" altLang="zh-TW" dirty="0"/>
              <a:t>HTML</a:t>
            </a:r>
            <a:r>
              <a:rPr lang="zh-TW" altLang="en-US" dirty="0"/>
              <a:t>文檔中去執行，執行效率比完全生成</a:t>
            </a:r>
            <a:r>
              <a:rPr lang="en-US" altLang="zh-TW" dirty="0" err="1"/>
              <a:t>htmL</a:t>
            </a:r>
            <a:r>
              <a:rPr lang="zh-TW" altLang="en-US" dirty="0"/>
              <a:t>標記的</a:t>
            </a:r>
            <a:r>
              <a:rPr lang="en-US" altLang="zh-TW" dirty="0"/>
              <a:t>CGI</a:t>
            </a:r>
            <a:r>
              <a:rPr lang="zh-TW" altLang="en-US" dirty="0"/>
              <a:t>要高許多</a:t>
            </a:r>
          </a:p>
          <a:p>
            <a:r>
              <a:rPr lang="en-US" altLang="zh-TW" dirty="0"/>
              <a:t>PHP</a:t>
            </a:r>
            <a:r>
              <a:rPr lang="zh-TW" altLang="en-US" dirty="0"/>
              <a:t>具有非常強大的功能，所有的</a:t>
            </a:r>
            <a:r>
              <a:rPr lang="en-US" altLang="zh-TW" dirty="0"/>
              <a:t>CGI</a:t>
            </a:r>
            <a:r>
              <a:rPr lang="zh-TW" altLang="en-US" dirty="0"/>
              <a:t>的功能</a:t>
            </a:r>
            <a:r>
              <a:rPr lang="en-US" altLang="zh-TW" dirty="0"/>
              <a:t>PHP</a:t>
            </a:r>
            <a:r>
              <a:rPr lang="zh-TW" altLang="en-US" dirty="0"/>
              <a:t>都能實現</a:t>
            </a:r>
          </a:p>
          <a:p>
            <a:r>
              <a:rPr lang="en-US" altLang="zh-TW" dirty="0"/>
              <a:t>PHP</a:t>
            </a:r>
            <a:r>
              <a:rPr lang="zh-TW" altLang="en-US" dirty="0"/>
              <a:t>支持幾乎所有流行的資料庫以及作業系統</a:t>
            </a:r>
          </a:p>
          <a:p>
            <a:r>
              <a:rPr lang="zh-TW" altLang="en-US" dirty="0"/>
              <a:t>最重要的是</a:t>
            </a:r>
            <a:r>
              <a:rPr lang="en-US" altLang="zh-TW" dirty="0"/>
              <a:t>PHP</a:t>
            </a:r>
            <a:r>
              <a:rPr lang="zh-TW" altLang="en-US" dirty="0"/>
              <a:t>可以用</a:t>
            </a:r>
            <a:r>
              <a:rPr lang="en-US" altLang="zh-TW" dirty="0"/>
              <a:t>C</a:t>
            </a:r>
            <a:r>
              <a:rPr lang="zh-TW" altLang="en-US" dirty="0"/>
              <a:t>、</a:t>
            </a:r>
            <a:r>
              <a:rPr lang="en-US" altLang="zh-TW" dirty="0"/>
              <a:t>C++</a:t>
            </a:r>
            <a:r>
              <a:rPr lang="zh-TW" altLang="en-US" dirty="0"/>
              <a:t>進行程序的擴展</a:t>
            </a:r>
            <a:endParaRPr lang="en-US" altLang="zh-TW" dirty="0"/>
          </a:p>
          <a:p>
            <a:r>
              <a:rPr lang="zh-TW" altLang="en-US" dirty="0"/>
              <a:t>可在多個網頁共享資訊，如：使用者名稱及密碼</a:t>
            </a:r>
          </a:p>
          <a:p>
            <a:r>
              <a:rPr lang="zh-TW" altLang="en-US" dirty="0"/>
              <a:t>編輯容易，只要用一般的文字編輯程式即可</a:t>
            </a:r>
            <a:endParaRPr lang="en-US" altLang="zh-TW" dirty="0"/>
          </a:p>
          <a:p>
            <a:endParaRPr lang="zh-TW" altLang="en-US" dirty="0"/>
          </a:p>
          <a:p>
            <a:endParaRPr lang="zh-TW" altLang="en-US" dirty="0"/>
          </a:p>
          <a:p>
            <a:endParaRPr lang="zh-TW" altLang="en-US" dirty="0"/>
          </a:p>
        </p:txBody>
      </p:sp>
    </p:spTree>
    <p:extLst>
      <p:ext uri="{BB962C8B-B14F-4D97-AF65-F5344CB8AC3E}">
        <p14:creationId xmlns:p14="http://schemas.microsoft.com/office/powerpoint/2010/main" val="1206430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C6C1DF-8BB5-A038-ED5A-D6E556FF1FAF}"/>
              </a:ext>
            </a:extLst>
          </p:cNvPr>
          <p:cNvSpPr>
            <a:spLocks noGrp="1"/>
          </p:cNvSpPr>
          <p:nvPr>
            <p:ph type="title"/>
          </p:nvPr>
        </p:nvSpPr>
        <p:spPr/>
        <p:txBody>
          <a:bodyPr/>
          <a:lstStyle/>
          <a:p>
            <a:r>
              <a:rPr lang="en-US" altLang="zh-TW" dirty="0"/>
              <a:t>PHP </a:t>
            </a:r>
            <a:r>
              <a:rPr lang="zh-TW" altLang="en-US" dirty="0"/>
              <a:t>主要的特色 </a:t>
            </a:r>
            <a:r>
              <a:rPr lang="en-US" altLang="zh-TW" dirty="0"/>
              <a:t>(</a:t>
            </a:r>
            <a:r>
              <a:rPr lang="zh-TW" altLang="en-US" dirty="0"/>
              <a:t>續</a:t>
            </a:r>
            <a:r>
              <a:rPr lang="en-US" altLang="zh-TW" dirty="0"/>
              <a:t>)</a:t>
            </a:r>
            <a:endParaRPr lang="zh-TW" altLang="en-US" dirty="0"/>
          </a:p>
        </p:txBody>
      </p:sp>
      <p:sp>
        <p:nvSpPr>
          <p:cNvPr id="3" name="內容版面配置區 2">
            <a:extLst>
              <a:ext uri="{FF2B5EF4-FFF2-40B4-BE49-F238E27FC236}">
                <a16:creationId xmlns:a16="http://schemas.microsoft.com/office/drawing/2014/main" id="{705D6DE4-27C5-51F1-425B-33C649C65978}"/>
              </a:ext>
            </a:extLst>
          </p:cNvPr>
          <p:cNvSpPr>
            <a:spLocks noGrp="1"/>
          </p:cNvSpPr>
          <p:nvPr>
            <p:ph idx="1"/>
          </p:nvPr>
        </p:nvSpPr>
        <p:spPr/>
        <p:txBody>
          <a:bodyPr>
            <a:normAutofit lnSpcReduction="10000"/>
          </a:bodyPr>
          <a:lstStyle/>
          <a:p>
            <a:r>
              <a:rPr lang="zh-TW" altLang="en-US" dirty="0"/>
              <a:t>開放原始碼</a:t>
            </a:r>
          </a:p>
          <a:p>
            <a:r>
              <a:rPr lang="zh-TW" altLang="en-US" dirty="0"/>
              <a:t>所有的</a:t>
            </a:r>
            <a:r>
              <a:rPr lang="en-US" altLang="zh-TW" dirty="0"/>
              <a:t>PHP</a:t>
            </a:r>
            <a:r>
              <a:rPr lang="zh-TW" altLang="en-US" dirty="0"/>
              <a:t>原始碼事實上都可以得到</a:t>
            </a:r>
          </a:p>
          <a:p>
            <a:r>
              <a:rPr lang="zh-TW" altLang="en-US" dirty="0"/>
              <a:t>有免費的特性</a:t>
            </a:r>
            <a:endParaRPr lang="en-US" altLang="zh-TW" dirty="0"/>
          </a:p>
          <a:p>
            <a:r>
              <a:rPr lang="zh-TW" altLang="en-US" dirty="0"/>
              <a:t>和其它技術相比，</a:t>
            </a:r>
            <a:r>
              <a:rPr lang="en-US" altLang="zh-TW" dirty="0"/>
              <a:t>PHP</a:t>
            </a:r>
            <a:r>
              <a:rPr lang="zh-TW" altLang="en-US" dirty="0"/>
              <a:t>本身免費且是開原始碼。</a:t>
            </a:r>
          </a:p>
          <a:p>
            <a:r>
              <a:rPr lang="zh-TW" altLang="en-US" dirty="0"/>
              <a:t>快捷性</a:t>
            </a:r>
          </a:p>
          <a:p>
            <a:pPr lvl="1"/>
            <a:r>
              <a:rPr lang="zh-TW" altLang="en-US" dirty="0"/>
              <a:t>程序開發快，運行快，技術本身學習快。嵌入於</a:t>
            </a:r>
            <a:r>
              <a:rPr lang="en-US" altLang="zh-TW" dirty="0"/>
              <a:t>HTML</a:t>
            </a:r>
            <a:r>
              <a:rPr lang="zh-TW" altLang="en-US" dirty="0"/>
              <a:t>：因為</a:t>
            </a:r>
            <a:r>
              <a:rPr lang="en-US" altLang="zh-TW" dirty="0"/>
              <a:t>PHP</a:t>
            </a:r>
            <a:r>
              <a:rPr lang="zh-TW" altLang="en-US" dirty="0"/>
              <a:t>可以被嵌入於</a:t>
            </a:r>
            <a:r>
              <a:rPr lang="en-US" altLang="zh-TW" dirty="0"/>
              <a:t>HTML</a:t>
            </a:r>
            <a:r>
              <a:rPr lang="zh-TW" altLang="en-US" dirty="0"/>
              <a:t>語言，它相對於其他語言。編輯簡單，實用性強，更適合初學者。</a:t>
            </a:r>
          </a:p>
          <a:p>
            <a:endParaRPr lang="zh-TW" altLang="en-US" dirty="0"/>
          </a:p>
          <a:p>
            <a:endParaRPr lang="zh-TW" altLang="en-US" dirty="0"/>
          </a:p>
          <a:p>
            <a:endParaRPr lang="zh-TW" altLang="en-US" dirty="0"/>
          </a:p>
          <a:p>
            <a:r>
              <a:rPr lang="zh-TW" altLang="en-US" dirty="0"/>
              <a:t>原文網址：</a:t>
            </a:r>
            <a:r>
              <a:rPr lang="en-US" altLang="zh-TW" dirty="0"/>
              <a:t>https://kknews.cc/tech/xevglq.html</a:t>
            </a:r>
            <a:endParaRPr lang="zh-TW" altLang="en-US" dirty="0"/>
          </a:p>
        </p:txBody>
      </p:sp>
    </p:spTree>
    <p:extLst>
      <p:ext uri="{BB962C8B-B14F-4D97-AF65-F5344CB8AC3E}">
        <p14:creationId xmlns:p14="http://schemas.microsoft.com/office/powerpoint/2010/main" val="3040553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D70A94-2ADD-5E71-25B4-059CD8796575}"/>
              </a:ext>
            </a:extLst>
          </p:cNvPr>
          <p:cNvSpPr>
            <a:spLocks noGrp="1"/>
          </p:cNvSpPr>
          <p:nvPr>
            <p:ph type="title"/>
          </p:nvPr>
        </p:nvSpPr>
        <p:spPr/>
        <p:txBody>
          <a:bodyPr/>
          <a:lstStyle/>
          <a:p>
            <a:r>
              <a:rPr lang="zh-TW" altLang="en-US" dirty="0"/>
              <a:t>安裝軟體</a:t>
            </a:r>
          </a:p>
        </p:txBody>
      </p:sp>
      <p:sp>
        <p:nvSpPr>
          <p:cNvPr id="3" name="內容版面配置區 2">
            <a:extLst>
              <a:ext uri="{FF2B5EF4-FFF2-40B4-BE49-F238E27FC236}">
                <a16:creationId xmlns:a16="http://schemas.microsoft.com/office/drawing/2014/main" id="{9C187762-A81C-1D9E-8B64-68D164536A90}"/>
              </a:ext>
            </a:extLst>
          </p:cNvPr>
          <p:cNvSpPr>
            <a:spLocks noGrp="1"/>
          </p:cNvSpPr>
          <p:nvPr>
            <p:ph idx="1"/>
          </p:nvPr>
        </p:nvSpPr>
        <p:spPr>
          <a:xfrm>
            <a:off x="837765" y="872154"/>
            <a:ext cx="10701092" cy="5734707"/>
          </a:xfrm>
        </p:spPr>
        <p:txBody>
          <a:bodyPr>
            <a:normAutofit/>
          </a:bodyPr>
          <a:lstStyle/>
          <a:p>
            <a:r>
              <a:rPr lang="zh-TW" altLang="en-US" dirty="0"/>
              <a:t>本課程即使用「</a:t>
            </a:r>
            <a:r>
              <a:rPr lang="en-US" altLang="zh-TW" dirty="0"/>
              <a:t>PHP</a:t>
            </a:r>
            <a:r>
              <a:rPr lang="zh-TW" altLang="en-US" dirty="0"/>
              <a:t>、</a:t>
            </a:r>
            <a:r>
              <a:rPr lang="en-US" altLang="zh-TW" dirty="0"/>
              <a:t>Apache</a:t>
            </a:r>
            <a:r>
              <a:rPr lang="zh-TW" altLang="en-US" dirty="0"/>
              <a:t>、</a:t>
            </a:r>
            <a:r>
              <a:rPr lang="en-US" altLang="zh-TW" dirty="0"/>
              <a:t>MySQL</a:t>
            </a:r>
            <a:r>
              <a:rPr lang="zh-TW" altLang="en-US" dirty="0"/>
              <a:t>」做為伺服器</a:t>
            </a:r>
            <a:r>
              <a:rPr lang="en-US" altLang="zh-TW" dirty="0"/>
              <a:t>(server)</a:t>
            </a:r>
            <a:r>
              <a:rPr lang="zh-TW" altLang="en-US" dirty="0"/>
              <a:t>端的工作平台軟體。</a:t>
            </a:r>
            <a:endParaRPr lang="en-US" altLang="zh-TW" dirty="0"/>
          </a:p>
          <a:p>
            <a:r>
              <a:rPr lang="zh-TW" altLang="en-US" dirty="0"/>
              <a:t>故於</a:t>
            </a:r>
            <a:r>
              <a:rPr lang="en-US" altLang="zh-TW" dirty="0"/>
              <a:t>Server,</a:t>
            </a:r>
            <a:r>
              <a:rPr lang="zh-TW" altLang="en-US" dirty="0"/>
              <a:t>需安裝</a:t>
            </a:r>
            <a:r>
              <a:rPr lang="en-US" altLang="zh-TW" dirty="0"/>
              <a:t>XAMPP</a:t>
            </a:r>
            <a:r>
              <a:rPr lang="zh-TW" altLang="en-US" dirty="0"/>
              <a:t>與</a:t>
            </a:r>
            <a:r>
              <a:rPr lang="en-US" altLang="zh-TW" dirty="0"/>
              <a:t>Visual studio code </a:t>
            </a:r>
          </a:p>
          <a:p>
            <a:pPr lvl="1"/>
            <a:r>
              <a:rPr lang="en-US" altLang="zh-TW" dirty="0"/>
              <a:t>XAMPP</a:t>
            </a:r>
            <a:r>
              <a:rPr lang="zh-TW" altLang="en-US" dirty="0"/>
              <a:t>是一個把</a:t>
            </a:r>
            <a:r>
              <a:rPr lang="en-US" altLang="zh-TW" dirty="0"/>
              <a:t>Apache</a:t>
            </a:r>
            <a:r>
              <a:rPr lang="zh-TW" altLang="en-US" dirty="0"/>
              <a:t>網頁伺服器與</a:t>
            </a:r>
            <a:r>
              <a:rPr lang="en-US" altLang="zh-TW" dirty="0"/>
              <a:t>PHP</a:t>
            </a:r>
            <a:r>
              <a:rPr lang="zh-TW" altLang="en-US" dirty="0"/>
              <a:t>、</a:t>
            </a:r>
            <a:r>
              <a:rPr lang="en-US" altLang="zh-TW" dirty="0"/>
              <a:t>Perl</a:t>
            </a:r>
            <a:r>
              <a:rPr lang="zh-TW" altLang="en-US" dirty="0"/>
              <a:t>及</a:t>
            </a:r>
            <a:r>
              <a:rPr lang="en-US" altLang="zh-TW" dirty="0"/>
              <a:t>MariaDB</a:t>
            </a:r>
            <a:r>
              <a:rPr lang="zh-TW" altLang="en-US" dirty="0"/>
              <a:t>集合在一起的安裝包，允許使用者可以在自己的電腦上輕易的建立網頁伺服器。</a:t>
            </a:r>
            <a:endParaRPr lang="en-US" altLang="zh-TW" dirty="0"/>
          </a:p>
          <a:p>
            <a:pPr lvl="2"/>
            <a:r>
              <a:rPr lang="en-US" altLang="zh-TW" dirty="0"/>
              <a:t>XAMPP</a:t>
            </a:r>
            <a:r>
              <a:rPr lang="zh-TW" altLang="en-US" dirty="0"/>
              <a:t>的名稱來自以下組合：</a:t>
            </a:r>
          </a:p>
          <a:p>
            <a:pPr marL="914400" lvl="2" indent="0">
              <a:buNone/>
            </a:pPr>
            <a:endParaRPr lang="zh-TW" altLang="en-US" dirty="0"/>
          </a:p>
          <a:p>
            <a:pPr lvl="3"/>
            <a:r>
              <a:rPr lang="en-US" altLang="zh-TW" dirty="0"/>
              <a:t>X</a:t>
            </a:r>
            <a:r>
              <a:rPr lang="zh-TW" altLang="en-US" dirty="0"/>
              <a:t>（支援跨平台）</a:t>
            </a:r>
          </a:p>
          <a:p>
            <a:pPr lvl="3"/>
            <a:r>
              <a:rPr lang="en-US" altLang="zh-TW" dirty="0">
                <a:solidFill>
                  <a:srgbClr val="FF0000"/>
                </a:solidFill>
              </a:rPr>
              <a:t>Apache</a:t>
            </a:r>
          </a:p>
          <a:p>
            <a:pPr lvl="3"/>
            <a:r>
              <a:rPr lang="en-US" altLang="zh-TW" dirty="0">
                <a:solidFill>
                  <a:srgbClr val="FF0000"/>
                </a:solidFill>
              </a:rPr>
              <a:t>MySQL</a:t>
            </a:r>
            <a:r>
              <a:rPr lang="zh-TW" altLang="en-US" dirty="0">
                <a:solidFill>
                  <a:srgbClr val="FF0000"/>
                </a:solidFill>
              </a:rPr>
              <a:t>或</a:t>
            </a:r>
            <a:r>
              <a:rPr lang="en-US" altLang="zh-TW" dirty="0">
                <a:solidFill>
                  <a:srgbClr val="FF0000"/>
                </a:solidFill>
              </a:rPr>
              <a:t>MariaDB</a:t>
            </a:r>
          </a:p>
          <a:p>
            <a:pPr lvl="3"/>
            <a:r>
              <a:rPr lang="en-US" altLang="zh-TW" dirty="0">
                <a:solidFill>
                  <a:srgbClr val="FF0000"/>
                </a:solidFill>
              </a:rPr>
              <a:t>PHP</a:t>
            </a:r>
          </a:p>
          <a:p>
            <a:pPr lvl="3"/>
            <a:r>
              <a:rPr lang="en-US" altLang="zh-TW" dirty="0"/>
              <a:t>Perl</a:t>
            </a:r>
          </a:p>
          <a:p>
            <a:pPr lvl="3"/>
            <a:endParaRPr lang="en-US" altLang="zh-TW" dirty="0"/>
          </a:p>
          <a:p>
            <a:pPr lvl="1"/>
            <a:r>
              <a:rPr lang="en-US" altLang="zh-TW" dirty="0"/>
              <a:t>Visual studio code </a:t>
            </a:r>
            <a:r>
              <a:rPr lang="zh-TW" altLang="en-US" dirty="0"/>
              <a:t>以及 擴充程式</a:t>
            </a:r>
            <a:r>
              <a:rPr lang="en-US" altLang="zh-TW" dirty="0"/>
              <a:t>(XAMP)</a:t>
            </a:r>
          </a:p>
          <a:p>
            <a:pPr lvl="2"/>
            <a:r>
              <a:rPr lang="en-US" altLang="zh-TW" dirty="0"/>
              <a:t>PHP</a:t>
            </a:r>
            <a:r>
              <a:rPr lang="zh-TW" altLang="en-US" dirty="0"/>
              <a:t>程式編輯軟體</a:t>
            </a:r>
            <a:endParaRPr lang="en-US" altLang="zh-TW" dirty="0"/>
          </a:p>
          <a:p>
            <a:pPr lvl="1"/>
            <a:endParaRPr lang="en-US" altLang="zh-TW" dirty="0"/>
          </a:p>
          <a:p>
            <a:pPr lvl="2"/>
            <a:endParaRPr lang="zh-TW" altLang="en-US" dirty="0"/>
          </a:p>
        </p:txBody>
      </p:sp>
    </p:spTree>
    <p:extLst>
      <p:ext uri="{BB962C8B-B14F-4D97-AF65-F5344CB8AC3E}">
        <p14:creationId xmlns:p14="http://schemas.microsoft.com/office/powerpoint/2010/main" val="2936753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808EFFE6-24F3-422D-BAEF-879F975CC98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053012" y="1447799"/>
            <a:ext cx="2085975" cy="2391918"/>
          </a:xfrm>
          <a:prstGeom prst="rect">
            <a:avLst/>
          </a:prstGeom>
        </p:spPr>
      </p:pic>
      <p:sp>
        <p:nvSpPr>
          <p:cNvPr id="26" name="文本框 25">
            <a:extLst>
              <a:ext uri="{FF2B5EF4-FFF2-40B4-BE49-F238E27FC236}">
                <a16:creationId xmlns:a16="http://schemas.microsoft.com/office/drawing/2014/main" id="{4E55389B-0E4D-4566-A0F3-592CBE5FE612}"/>
              </a:ext>
            </a:extLst>
          </p:cNvPr>
          <p:cNvSpPr txBox="1"/>
          <p:nvPr/>
        </p:nvSpPr>
        <p:spPr>
          <a:xfrm>
            <a:off x="5053012" y="2228260"/>
            <a:ext cx="2085975" cy="830997"/>
          </a:xfrm>
          <a:prstGeom prst="rect">
            <a:avLst/>
          </a:prstGeom>
          <a:noFill/>
        </p:spPr>
        <p:txBody>
          <a:bodyPr wrap="square" rtlCol="0">
            <a:spAutoFit/>
          </a:bodyPr>
          <a:lstStyle/>
          <a:p>
            <a:pPr algn="ctr"/>
            <a:r>
              <a:rPr lang="en-US" altLang="zh-CN" sz="4800" dirty="0">
                <a:solidFill>
                  <a:schemeClr val="bg1"/>
                </a:solidFill>
                <a:latin typeface="微软雅黑 Light" panose="020B0502040204020203" pitchFamily="34" charset="-122"/>
                <a:ea typeface="微软雅黑 Light" panose="020B0502040204020203" pitchFamily="34" charset="-122"/>
                <a:sym typeface="微软雅黑 Light" panose="020B0502040204020203" pitchFamily="34" charset="-122"/>
              </a:rPr>
              <a:t>PHP</a:t>
            </a:r>
            <a:endParaRPr lang="zh-CN" altLang="en-US" sz="4800" dirty="0">
              <a:solidFill>
                <a:schemeClr val="bg1"/>
              </a:solidFill>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28" name="文本框 2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a:extLst>
              <a:ext uri="{FF2B5EF4-FFF2-40B4-BE49-F238E27FC236}">
                <a16:creationId xmlns:a16="http://schemas.microsoft.com/office/drawing/2014/main" id="{C4575056-F84E-4A45-8200-A3C96F6288AE}"/>
              </a:ext>
            </a:extLst>
          </p:cNvPr>
          <p:cNvSpPr txBox="1"/>
          <p:nvPr/>
        </p:nvSpPr>
        <p:spPr>
          <a:xfrm>
            <a:off x="2640750" y="3962792"/>
            <a:ext cx="6910500" cy="830997"/>
          </a:xfrm>
          <a:prstGeom prst="rect">
            <a:avLst/>
          </a:prstGeom>
          <a:noFill/>
        </p:spPr>
        <p:txBody>
          <a:bodyPr wrap="square" rtlCol="0">
            <a:spAutoFit/>
            <a:scene3d>
              <a:camera prst="orthographicFront">
                <a:rot lat="0" lon="0" rev="0"/>
              </a:camera>
              <a:lightRig rig="threePt" dir="t"/>
            </a:scene3d>
          </a:bodyPr>
          <a:lstStyle/>
          <a:p>
            <a:pPr algn="ctr" defTabSz="914400"/>
            <a:r>
              <a:rPr lang="en-US" altLang="zh-TW" sz="4800" spc="-150" dirty="0">
                <a:solidFill>
                  <a:schemeClr val="bg1"/>
                </a:solidFill>
                <a:latin typeface="微软雅黑 Light" panose="020B0502040204020203" pitchFamily="34" charset="-122"/>
                <a:ea typeface="微软雅黑 Light" panose="020B0502040204020203" pitchFamily="34" charset="-122"/>
                <a:cs typeface="Open Sans" panose="020B0606030504020204" pitchFamily="34" charset="0"/>
                <a:sym typeface="微软雅黑 Light" panose="020B0502040204020203" pitchFamily="34" charset="-122"/>
              </a:rPr>
              <a:t>THANK</a:t>
            </a:r>
            <a:r>
              <a:rPr lang="zh-TW" altLang="en-US" sz="4800" spc="-150" dirty="0">
                <a:solidFill>
                  <a:schemeClr val="bg1"/>
                </a:solidFill>
                <a:latin typeface="微软雅黑 Light" panose="020B0502040204020203" pitchFamily="34" charset="-122"/>
                <a:ea typeface="微软雅黑 Light" panose="020B0502040204020203" pitchFamily="34" charset="-122"/>
                <a:cs typeface="Open Sans" panose="020B0606030504020204" pitchFamily="34" charset="0"/>
                <a:sym typeface="微软雅黑 Light" panose="020B0502040204020203" pitchFamily="34" charset="-122"/>
              </a:rPr>
              <a:t> </a:t>
            </a:r>
            <a:r>
              <a:rPr lang="en-US" altLang="zh-TW" sz="4800" spc="-150" dirty="0">
                <a:solidFill>
                  <a:schemeClr val="bg1"/>
                </a:solidFill>
                <a:latin typeface="微软雅黑 Light" panose="020B0502040204020203" pitchFamily="34" charset="-122"/>
                <a:ea typeface="微软雅黑 Light" panose="020B0502040204020203" pitchFamily="34" charset="-122"/>
                <a:cs typeface="Open Sans" panose="020B0606030504020204" pitchFamily="34" charset="0"/>
                <a:sym typeface="微软雅黑 Light" panose="020B0502040204020203" pitchFamily="34" charset="-122"/>
              </a:rPr>
              <a:t>YOU</a:t>
            </a:r>
            <a:endParaRPr lang="zh-CN" altLang="en-US" sz="4800" spc="-150" dirty="0">
              <a:solidFill>
                <a:schemeClr val="bg1"/>
              </a:solidFill>
              <a:latin typeface="微软雅黑 Light" panose="020B0502040204020203" pitchFamily="34" charset="-122"/>
              <a:ea typeface="微软雅黑 Light" panose="020B0502040204020203" pitchFamily="34" charset="-122"/>
              <a:cs typeface="Open Sans" panose="020B0606030504020204" pitchFamily="34" charset="0"/>
              <a:sym typeface="微软雅黑 Light" panose="020B0502040204020203" pitchFamily="34" charset="-122"/>
            </a:endParaRPr>
          </a:p>
        </p:txBody>
      </p:sp>
    </p:spTree>
    <p:extLst>
      <p:ext uri="{BB962C8B-B14F-4D97-AF65-F5344CB8AC3E}">
        <p14:creationId xmlns:p14="http://schemas.microsoft.com/office/powerpoint/2010/main" val="927033119"/>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2000" fill="hold"/>
                                        <p:tgtEl>
                                          <p:spTgt spid="28"/>
                                        </p:tgtEl>
                                        <p:attrNameLst>
                                          <p:attrName>ppt_w</p:attrName>
                                        </p:attrNameLst>
                                      </p:cBhvr>
                                      <p:tavLst>
                                        <p:tav tm="0">
                                          <p:val>
                                            <p:fltVal val="0"/>
                                          </p:val>
                                        </p:tav>
                                        <p:tav tm="100000">
                                          <p:val>
                                            <p:strVal val="#ppt_w"/>
                                          </p:val>
                                        </p:tav>
                                      </p:tavLst>
                                    </p:anim>
                                    <p:anim calcmode="lin" valueType="num">
                                      <p:cBhvr>
                                        <p:cTn id="8" dur="2000" fill="hold"/>
                                        <p:tgtEl>
                                          <p:spTgt spid="28"/>
                                        </p:tgtEl>
                                        <p:attrNameLst>
                                          <p:attrName>ppt_h</p:attrName>
                                        </p:attrNameLst>
                                      </p:cBhvr>
                                      <p:tavLst>
                                        <p:tav tm="0">
                                          <p:val>
                                            <p:fltVal val="0"/>
                                          </p:val>
                                        </p:tav>
                                        <p:tav tm="100000">
                                          <p:val>
                                            <p:strVal val="#ppt_h"/>
                                          </p:val>
                                        </p:tav>
                                      </p:tavLst>
                                    </p:anim>
                                    <p:animEffect transition="in" filter="fade">
                                      <p:cBhvr>
                                        <p:cTn id="9" dur="2000"/>
                                        <p:tgtEl>
                                          <p:spTgt spid="28"/>
                                        </p:tgtEl>
                                      </p:cBhvr>
                                    </p:animEffect>
                                  </p:childTnLst>
                                </p:cTn>
                              </p:par>
                              <p:par>
                                <p:cTn id="10" presetID="42" presetClass="path" presetSubtype="0" accel="50000" decel="50000" fill="hold" grpId="1" nodeType="withEffect">
                                  <p:stCondLst>
                                    <p:cond delay="0"/>
                                  </p:stCondLst>
                                  <p:childTnLst>
                                    <p:animMotion origin="layout" path="M 4.16667E-6 0.13796 L 4.16667E-6 4.81481E-6 " pathEditMode="relative" rAng="0" ptsTypes="AA">
                                      <p:cBhvr>
                                        <p:cTn id="11" dur="2000" fill="hold"/>
                                        <p:tgtEl>
                                          <p:spTgt spid="28"/>
                                        </p:tgtEl>
                                        <p:attrNameLst>
                                          <p:attrName>ppt_x</p:attrName>
                                          <p:attrName>ppt_y</p:attrName>
                                        </p:attrNameLst>
                                      </p:cBhvr>
                                      <p:rCtr x="0" y="-689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Lst>
  </p:timing>
</p:sld>
</file>

<file path=ppt/theme/theme1.xml><?xml version="1.0" encoding="utf-8"?>
<a:theme xmlns:a="http://schemas.openxmlformats.org/drawingml/2006/main" name="第一PPT，www.1ppt.com">
  <a:themeElements>
    <a:clrScheme name="自定义 472">
      <a:dk1>
        <a:sysClr val="windowText" lastClr="000000"/>
      </a:dk1>
      <a:lt1>
        <a:sysClr val="window" lastClr="FFFFFF"/>
      </a:lt1>
      <a:dk2>
        <a:srgbClr val="44546A"/>
      </a:dk2>
      <a:lt2>
        <a:srgbClr val="E7E6E6"/>
      </a:lt2>
      <a:accent1>
        <a:srgbClr val="6A7991"/>
      </a:accent1>
      <a:accent2>
        <a:srgbClr val="313846"/>
      </a:accent2>
      <a:accent3>
        <a:srgbClr val="6A7991"/>
      </a:accent3>
      <a:accent4>
        <a:srgbClr val="313846"/>
      </a:accent4>
      <a:accent5>
        <a:srgbClr val="6A7991"/>
      </a:accent5>
      <a:accent6>
        <a:srgbClr val="313846"/>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415</TotalTime>
  <Words>1464</Words>
  <Application>Microsoft Office PowerPoint</Application>
  <PresentationFormat>寬螢幕</PresentationFormat>
  <Paragraphs>150</Paragraphs>
  <Slides>23</Slides>
  <Notes>0</Notes>
  <HiddenSlides>0</HiddenSlides>
  <MMClips>0</MMClips>
  <ScaleCrop>false</ScaleCrop>
  <HeadingPairs>
    <vt:vector size="8" baseType="variant">
      <vt:variant>
        <vt:lpstr>使用字型</vt:lpstr>
      </vt:variant>
      <vt:variant>
        <vt:i4>11</vt:i4>
      </vt:variant>
      <vt:variant>
        <vt:lpstr>佈景主題</vt:lpstr>
      </vt:variant>
      <vt:variant>
        <vt:i4>1</vt:i4>
      </vt:variant>
      <vt:variant>
        <vt:lpstr>內嵌 OLE 伺服程式</vt:lpstr>
      </vt:variant>
      <vt:variant>
        <vt:i4>1</vt:i4>
      </vt:variant>
      <vt:variant>
        <vt:lpstr>投影片標題</vt:lpstr>
      </vt:variant>
      <vt:variant>
        <vt:i4>23</vt:i4>
      </vt:variant>
    </vt:vector>
  </HeadingPairs>
  <TitlesOfParts>
    <vt:vector size="36" baseType="lpstr">
      <vt:lpstr>-apple-system</vt:lpstr>
      <vt:lpstr>等线</vt:lpstr>
      <vt:lpstr>等线 Light</vt:lpstr>
      <vt:lpstr>DIN Mittelschrift Std</vt:lpstr>
      <vt:lpstr>微软雅黑 Light</vt:lpstr>
      <vt:lpstr>华文宋体</vt:lpstr>
      <vt:lpstr>細明體</vt:lpstr>
      <vt:lpstr>華康中楷體</vt:lpstr>
      <vt:lpstr>標楷體</vt:lpstr>
      <vt:lpstr>Arial</vt:lpstr>
      <vt:lpstr>Calibri</vt:lpstr>
      <vt:lpstr>第一PPT，www.1ppt.com</vt:lpstr>
      <vt:lpstr>Visio</vt:lpstr>
      <vt:lpstr>網路程式介紹</vt:lpstr>
      <vt:lpstr>主機型電腦</vt:lpstr>
      <vt:lpstr>主機型電腦</vt:lpstr>
      <vt:lpstr>集中式的架構</vt:lpstr>
      <vt:lpstr>集中式的架構</vt:lpstr>
      <vt:lpstr>檔案伺服器架構</vt:lpstr>
      <vt:lpstr>檔案伺服器架構</vt:lpstr>
      <vt:lpstr>主從式架構</vt:lpstr>
      <vt:lpstr>兩層主從式架構的限制</vt:lpstr>
      <vt:lpstr>三層式主從架構</vt:lpstr>
      <vt:lpstr>跨平台</vt:lpstr>
      <vt:lpstr>網路程式與跨平台</vt:lpstr>
      <vt:lpstr>電腦程式</vt:lpstr>
      <vt:lpstr>資訊</vt:lpstr>
      <vt:lpstr>系統</vt:lpstr>
      <vt:lpstr>PHP 介紹</vt:lpstr>
      <vt:lpstr>PHP歷史</vt:lpstr>
      <vt:lpstr>網頁相關技術</vt:lpstr>
      <vt:lpstr>PHP簡介</vt:lpstr>
      <vt:lpstr>PHP 主要的特色 (續)</vt:lpstr>
      <vt:lpstr>PHP 主要的特色 (續)</vt:lpstr>
      <vt:lpstr>安裝軟體</vt:lpstr>
      <vt:lpstr>PowerPoint 簡報</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通用商务</dc:title>
  <dc:creator>第一PPT</dc:creator>
  <cp:keywords>www.1ppt.com</cp:keywords>
  <dc:description>www.1ppt.com</dc:description>
  <cp:lastModifiedBy>Philip Jan</cp:lastModifiedBy>
  <cp:revision>50</cp:revision>
  <dcterms:created xsi:type="dcterms:W3CDTF">2018-06-07T08:55:01Z</dcterms:created>
  <dcterms:modified xsi:type="dcterms:W3CDTF">2025-10-06T14:06:29Z</dcterms:modified>
</cp:coreProperties>
</file>