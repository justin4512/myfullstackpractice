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4" r:id="rId2"/>
    <p:sldId id="275" r:id="rId3"/>
    <p:sldId id="260" r:id="rId4"/>
    <p:sldId id="263" r:id="rId5"/>
    <p:sldId id="264" r:id="rId6"/>
    <p:sldId id="305" r:id="rId7"/>
    <p:sldId id="265" r:id="rId8"/>
    <p:sldId id="257" r:id="rId9"/>
    <p:sldId id="268" r:id="rId10"/>
    <p:sldId id="269" r:id="rId11"/>
    <p:sldId id="270" r:id="rId12"/>
    <p:sldId id="271" r:id="rId13"/>
    <p:sldId id="272" r:id="rId14"/>
    <p:sldId id="274" r:id="rId15"/>
    <p:sldId id="273" r:id="rId16"/>
    <p:sldId id="295" r:id="rId17"/>
    <p:sldId id="281" r:id="rId18"/>
    <p:sldId id="280" r:id="rId19"/>
    <p:sldId id="283" r:id="rId20"/>
    <p:sldId id="261" r:id="rId21"/>
    <p:sldId id="306" r:id="rId22"/>
    <p:sldId id="285" r:id="rId23"/>
    <p:sldId id="304" r:id="rId24"/>
    <p:sldId id="293" r:id="rId25"/>
    <p:sldId id="292" r:id="rId26"/>
    <p:sldId id="289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D4B"/>
    <a:srgbClr val="8FAADC"/>
    <a:srgbClr val="FF5050"/>
    <a:srgbClr val="90D7F3"/>
    <a:srgbClr val="FFE699"/>
    <a:srgbClr val="D9A74A"/>
    <a:srgbClr val="849478"/>
    <a:srgbClr val="9751CB"/>
    <a:srgbClr val="B336C8"/>
    <a:srgbClr val="E97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5724" autoAdjust="0"/>
  </p:normalViewPr>
  <p:slideViewPr>
    <p:cSldViewPr snapToGrid="0">
      <p:cViewPr varScale="1">
        <p:scale>
          <a:sx n="102" d="100"/>
          <a:sy n="102" d="100"/>
        </p:scale>
        <p:origin x="996" y="10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花費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DEE-4B11-8BE2-BB69F55E0F6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DEE-4B11-8BE2-BB69F55E0F6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DEE-4B11-8BE2-BB69F55E0F6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DEE-4B11-8BE2-BB69F55E0F6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2BA7-40FC-9178-B5B370CFF9D7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F5A6-41D2-AB92-8EA3610EE0E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DEE-4B11-8BE2-BB69F55E0F6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DEE-4B11-8BE2-BB69F55E0F6C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7DEE-4B11-8BE2-BB69F55E0F6C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7DEE-4B11-8BE2-BB69F55E0F6C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2BA7-40FC-9178-B5B370CFF9D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F5A6-41D2-AB92-8EA3610EE0E1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工作表1!$A$2:$A$7</c:f>
              <c:strCache>
                <c:ptCount val="5"/>
                <c:pt idx="0">
                  <c:v>機票</c:v>
                </c:pt>
                <c:pt idx="1">
                  <c:v>住宿</c:v>
                </c:pt>
                <c:pt idx="2">
                  <c:v>租車</c:v>
                </c:pt>
                <c:pt idx="3">
                  <c:v>伙食</c:v>
                </c:pt>
                <c:pt idx="4">
                  <c:v>遊玩</c:v>
                </c:pt>
              </c:strCache>
            </c:strRef>
          </c:cat>
          <c:val>
            <c:numRef>
              <c:f>工作表1!$B$2:$B$7</c:f>
              <c:numCache>
                <c:formatCode>General</c:formatCode>
                <c:ptCount val="6"/>
                <c:pt idx="0">
                  <c:v>37000</c:v>
                </c:pt>
                <c:pt idx="1">
                  <c:v>32686</c:v>
                </c:pt>
                <c:pt idx="2">
                  <c:v>28456</c:v>
                </c:pt>
                <c:pt idx="3">
                  <c:v>22000</c:v>
                </c:pt>
                <c:pt idx="4">
                  <c:v>51800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73-4BA4-9D7C-2C22439C0F6E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89CC0-37A5-40C1-B790-2BBC16614622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5FCE-FE55-43C7-B411-BACBFBDA9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473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5FCE-FE55-43C7-B411-BACBFBDA911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017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0F5EB4-E98A-4801-B20F-0BAF37415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76E0EB-6262-4CFC-8E07-A76C1B94A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C601A3-D679-423E-AD99-ED1AD218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AE5DE1-65EA-452E-8906-726447CF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4C5B15-D4EC-488D-B6C0-E75482F8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618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9A6CA-5D0F-4DDA-BCA5-A837D3E1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8D5B49-B093-428A-9DF2-B979118F0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0A3263-180C-42BE-8CA0-B4FD9B7E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74031A-DC92-4762-9367-74F43A9D4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FC086E-6FB0-479C-B624-458ECDF8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84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64C25-EE3F-4651-BC47-5BC132251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3C7725-6CC3-454F-BE74-9FC618FB1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9D770E-5E79-4664-A88B-6A091CC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094512-8FF4-4C6B-9B12-0820922D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DD806C-95B3-4BAA-A205-E06EA34F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131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AEBCD9-1955-41A3-AF45-6C8F4AFD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B3906E-1327-4A19-B5BA-62A9CEBAD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C071E7-DA75-4553-88CB-B17265344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EE3C8F-667C-4F8B-9870-C08FACDA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C83696-36E6-4EC2-9C48-DBFF2C8E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22E977-223B-4D6A-8CB0-15F5E353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362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D33618-B402-4156-88FA-6CC6B397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974136-19AE-4727-A466-2FD94DEB3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3CB1088-1B2B-49F5-B8E9-7569EF76A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726CC58-25D9-479B-ACA3-744F09F5D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322E9A5-03B8-4EA5-A5A3-9121738E6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115F791-24A4-4681-BF02-37C23FFB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F20DC6-727E-4F13-A59F-E9A03615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7EDA41A-598E-497F-9B26-295CE051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272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3A7B05-53F8-40DA-8A58-272A3CCD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2900B96-0FEA-4168-8397-37DC847A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2264761-7D49-423D-BBAB-D90D67A7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7FF889-0C44-4785-BB33-6E400832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29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B3D4637-AE29-45CA-8BA9-23D1804F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1524539-81E9-4EF0-8D90-C7304CBCD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21EB8E-60DD-4043-88F8-D24BAE88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82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885F0-2F71-4A08-80A3-7D4775F7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985935-BD27-47B9-879C-162496B49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A310E09-F688-405B-8981-58092F52F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55ED9B-A1D3-4FE1-9DB3-47879560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291DD3-519C-43C7-96B9-93F326803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FB589B0-8C38-416F-8149-FCF13B88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298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EA5D2-0FD2-4163-A350-BD7E33ED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5A21973-7428-4C9E-90B7-933377FEC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A513E95-191B-4BB9-9ED5-5C9F9947F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4B7482-A987-4077-B41B-6E28FC0D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E4A356-87FB-4711-B14E-DD5C72B8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7AB81F-0932-4A9E-A3F4-4C29E02D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2127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4B4DFA-7D1F-47E0-9892-63E4569C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A446735-7DB4-4D11-BDEA-6290B317D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A06695-6711-43E1-A13E-2B42AD68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29A494-8939-4B25-93DD-28D1CD3C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96C862-352C-40F0-A491-B973CAE3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114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6E2982C-9B6B-444F-845D-4071C0D78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07265B-7DDB-4D85-B713-52CD3E2E8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ACD834-F1B9-4124-98C4-350ABC4A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587C69-C662-4EF5-A73B-83B9BCC3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5F0DD1-F366-4343-9054-D052981F7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30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249CCC0-3EDA-4C4F-B544-11432053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E58DB6-22DC-420E-8920-C00F62F94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B93FAF-EC31-49D5-9043-8B557FC20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43D4C-4FF9-485D-84F2-ED2A299AD81E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5C7C11-E94E-4E4B-8F18-ABC22F4B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2B2153-E536-4E10-8FBC-BBE4DA33D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D8DEE-6FB4-44DA-90A7-ED22823559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84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2.xml"/><Relationship Id="rId18" Type="http://schemas.openxmlformats.org/officeDocument/2006/relationships/slide" Target="slide18.xml"/><Relationship Id="rId3" Type="http://schemas.openxmlformats.org/officeDocument/2006/relationships/slide" Target="slide19.xml"/><Relationship Id="rId7" Type="http://schemas.openxmlformats.org/officeDocument/2006/relationships/slide" Target="slide10.xml"/><Relationship Id="rId12" Type="http://schemas.openxmlformats.org/officeDocument/2006/relationships/slide" Target="slide24.xml"/><Relationship Id="rId17" Type="http://schemas.openxmlformats.org/officeDocument/2006/relationships/slide" Target="slide17.xml"/><Relationship Id="rId2" Type="http://schemas.openxmlformats.org/officeDocument/2006/relationships/slide" Target="slide3.xml"/><Relationship Id="rId16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26.xml"/><Relationship Id="rId5" Type="http://schemas.openxmlformats.org/officeDocument/2006/relationships/slide" Target="slide7.xml"/><Relationship Id="rId15" Type="http://schemas.openxmlformats.org/officeDocument/2006/relationships/slide" Target="slide15.xml"/><Relationship Id="rId10" Type="http://schemas.openxmlformats.org/officeDocument/2006/relationships/slide" Target="slide25.xml"/><Relationship Id="rId19" Type="http://schemas.openxmlformats.org/officeDocument/2006/relationships/slide" Target="slide21.xml"/><Relationship Id="rId4" Type="http://schemas.openxmlformats.org/officeDocument/2006/relationships/slide" Target="slide4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oking.com/hotel/is/sandgerdi-cottages.zh-tw.html?aid=356980&amp;label=gog235jc-10CAgocEIDa2VmSDBYA2jnAYgBAZgBM7gBF8gBDNgBA-gBAfgBAYgCAagCAbgC6eLG0gbAAgHSAiQ0ZDMyMDNmMi1mYTU1LTQ1ZTUtYTQyMy1jZDMxMTU1ZGE0NmTYAgHgAgE&amp;sid=22290808645f5d803136dede959a3ec0&amp;all_sr_blocks=54804104_357362756_6_0_0_1244402&amp;checkin=2027-03-02&amp;checkout=2027-03-03&amp;dest_id=-2648299&amp;dest_type=city&amp;dist=0&amp;group_adults=6&amp;group_children=0&amp;hapos=6&amp;highlighted_blocks=54804104_357362756_6_0_0_1244402&amp;hpos=6&amp;matching_block_id=54804104_357362756_6_0_0_1244402&amp;nflt=review_score%3D90&amp;no_rooms=1&amp;req_adults=6&amp;req_children=0&amp;room1=A,A,A,A,A,A&amp;sb_price_type=total&amp;sr_order=popularity&amp;sr_pri_blocks=54804104_357362756_6_0_0_1244402_22797&amp;srepoch=1784044360&amp;srpvid=07c56f7c47bb048c&amp;type=total&amp;ucfs=1&amp;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king.com/hotel/is/the-old-farm-house-in-iceland.zh-tw.html?aid=311096&amp;label=eldhraun-holiday-home-u*oxGyH8nZSV6LorCywj0gS88431946038:pl:ta:p1:p2:ac:ap:neg:fi:tikwd-75444794486:lp9198563:li:dec:dm:ppccp%3DUmFuZG9tSVYkc2RlIyh9YdQLqCSGZAFD0WyIhasY1aE&amp;sid=e308361bb4967ff81f728f2e89224ef9&amp;checkin=2027-03-02&amp;checkout=2027-03-03&amp;dest_id=14651890&amp;dest_type=hotel&amp;dist=0&amp;group_adults=8&amp;group_children=0&amp;hapos=1&amp;hpos=1&amp;no_rooms=1&amp;req_adults=8&amp;req_children=0&amp;room1=A,A,A,A,A,A,A,A&amp;sb_price_type=total&amp;soh=1&amp;sr_order=popularity&amp;srepoch=1789107817&amp;srpvid=75412cde65b4002d&amp;type=total&amp;ucfs=1&amp;#no_availability_msg" TargetMode="External"/><Relationship Id="rId2" Type="http://schemas.openxmlformats.org/officeDocument/2006/relationships/hyperlink" Target="https://www.skylagoon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dive.i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dventures.is/iceland/day-tours/snowmobiling/eyjafjallajokull-glacier-snowmobiling/" TargetMode="External"/><Relationship Id="rId2" Type="http://schemas.openxmlformats.org/officeDocument/2006/relationships/hyperlink" Target="https://www.booking.com/hotel/is/the-barn.zh-tw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atlatrack.is/all-tours/ice-cave-tours/katla-fast-track-ice-cave-tour/" TargetMode="External"/><Relationship Id="rId2" Type="http://schemas.openxmlformats.org/officeDocument/2006/relationships/hyperlink" Target="https://www.booking.com/hotel/is/the-holiday-houses-kirkjubaejarklaustur.zh-tw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guide.is/" TargetMode="External"/><Relationship Id="rId2" Type="http://schemas.openxmlformats.org/officeDocument/2006/relationships/hyperlink" Target="https://www.booking.com/hotel/is/hofn-hostel.zh-tw.html?aid=356980&amp;label=gog235jc-10CAgocEIDa2VmSDBYA2jnAYgBAZgBM7gBF8gBDNgBA-gBAfgBAYgCAagCAbgC6eLG0gbAAgHSAiQ0ZDMyMDNmMi1mYTU1LTQ1ZTUtYTQyMy1jZDMxMTU1ZGE0NmTYAgHgAgE&amp;sid=22290808645f5d803136dede959a3ec0&amp;all_sr_blocks=54875315_96271677_0_0_0&amp;checkin=2027-03-07&amp;checkout=2027-03-08&amp;dest_id=548753&amp;dest_type=hotel&amp;dist=0&amp;group_adults=6&amp;group_children=0&amp;hapos=1&amp;highlighted_blocks=54875315_96271677_0_0_0&amp;hpos=1&amp;matching_block_id=54875315_96271677_0_0_0&amp;no_rooms=1&amp;req_adults=6&amp;req_children=0&amp;room1=A,A,A,A,A,A&amp;sb_price_type=total&amp;sr_order=popularity&amp;sr_pri_blocks=54875315_96271677_0_0_0__26255&amp;srepoch=1784044472&amp;srpvid=67926fdbfbfa09c9&amp;type=total&amp;ucfs=1&amp;#_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okbaths.is/hours-prices" TargetMode="External"/><Relationship Id="rId2" Type="http://schemas.openxmlformats.org/officeDocument/2006/relationships/hyperlink" Target="https://www.booking.com/hotel/is/mjoeyri-travel-holiday-homes.zh-tw.html?aid=356980&amp;label=gog235jc-10CAgocEIDa2VmSDBYA2jnAYgBAZgBM7gBF8gBDNgBA-gBAfgBAYgCAagCAbgC6eLG0gbAAgHSAiQ0ZDMyMDNmMi1mYTU1LTQ1ZTUtYTQyMy1jZDMxMTU1ZGE0NmTYAgHgAgE&amp;sid=bc416c8b62a1ba00336c79125bc8ffb6&amp;all_sr_blocks=123056101_393885491_6_2_0&amp;checkin=2027-03-07&amp;checkout=2027-03-08&amp;dest_id=864220&amp;dest_type=hotel&amp;dist=0&amp;group_adults=6&amp;group_children=0&amp;hapos=14&amp;highlighted_blocks=123056101_393885491_6_2_0&amp;hpos=14&amp;matching_block_id=123056101_393885491_6_2_0&amp;no_rooms=1&amp;req_adults=6&amp;req_children=0&amp;room1=A,A,A,A,A,A&amp;sb_price_type=total&amp;sr_order=popularity&amp;sr_pri_blocks=123056101_393885491_6_2_0__41200&amp;srepoch=1784819105&amp;srpvid=b7746885c1c30227&amp;type=total&amp;ucfs=1&amp;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rthlagoon.is/" TargetMode="External"/><Relationship Id="rId2" Type="http://schemas.openxmlformats.org/officeDocument/2006/relationships/hyperlink" Target="https://www.booking.com/hotel/is/svartaborg.zh-tw.html?aid=356980&amp;label=gog235jc-10CAgocEIDa2VmSDBYA2jnAYgBAZgBM7gBF8gBDNgBA-gBAfgBAYgCAagCAbgC6eLG0gbAAgHSAiQ0ZDMyMDNmMi1mYTU1LTQ1ZTUtYTQyMy1jZDMxMTU1ZGE0NmTYAgHgAgE&amp;sid=bc416c8b62a1ba00336c79125bc8ffb6&amp;all_sr_blocks=611994103_239568282_6_0_0&amp;checkin=2027-03-08&amp;checkout=2027-03-09&amp;dest_id=1712896&amp;dest_type=hotel&amp;dist=0&amp;group_adults=6&amp;group_children=0&amp;hapos=7&amp;highlighted_blocks=611994103_239568282_6_0_0&amp;hpos=7&amp;matching_block_id=611994103_239568282_6_0_0&amp;no_rooms=1&amp;req_adults=6&amp;req_children=0&amp;room1=A,A,A,A,A,A&amp;sb_price_type=total&amp;sr_order=popularity&amp;sr_pri_blocks=611994103_239568282_6_0_0__53755&amp;srepoch=1784819596&amp;srpvid=6e4d6af356ec0daa&amp;type=total&amp;ucfs=1&amp;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oking.com/hotel/is/heidin.zh-tw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ohusky.is/our-tours/" TargetMode="External"/><Relationship Id="rId2" Type="http://schemas.openxmlformats.org/officeDocument/2006/relationships/hyperlink" Target="https://www.polarhestar.is/en/short-tour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orestlagoon.is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jorubodin.is/en/pay/" TargetMode="External"/><Relationship Id="rId2" Type="http://schemas.openxmlformats.org/officeDocument/2006/relationships/hyperlink" Target="https://www.bjorbodin.is/e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isitakureyri.is/is/moya/extras/allt-sem-thu-oskar-ther/swimming-in-thermal-pools?utm_source=chatgpt.com" TargetMode="External"/><Relationship Id="rId4" Type="http://schemas.openxmlformats.org/officeDocument/2006/relationships/hyperlink" Target="https://www.booking.com/hotel/is/hestasport-cottages.zh-tw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dnam.is/eng/restaurant/" TargetMode="External"/><Relationship Id="rId2" Type="http://schemas.openxmlformats.org/officeDocument/2006/relationships/hyperlink" Target="https://www.krauma.is/bok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ooking.com/hotel/is/hitarnesfjorur.zh-tw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oking.com/hotel/is/northern-lights-luxury-with-hot-tub-10-min-to-city.zh-tw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king.com/hotel/is/ghost-town-guest-house-10-min-from-airport-hafnir.zh-tw.html?aid=304142&amp;label=gen173bo-10CAsocEIxZ2hvc3QtdG93bi1ndWVzdC1ob3VzZS0xMC1taW4tZnJvbS1haXJwb3J0LWhhZm5pckgwWANooAGIAQGYATO4ARfIAQzYAQPoAQH4AQGIAgGYAgSoAgG4AsSGvtUGwAIB0gIkOWQ4MjUxN2YtNjBkNi00YWE0LWFjZmUtYzViY2YwZjRlYWJj2AIB4AIB&amp;sid=89fe1078e2cd1a981b1fb3a10fb4505a&amp;checkin=2027-03-14&amp;checkout=2027-03-15&amp;dest_id=-2645586&amp;dest_type=city&amp;dist=0&amp;group_adults=8&amp;group_children=0&amp;hapos=1&amp;hpos=1&amp;no_rooms=1&amp;req_adults=8&amp;req_children=0&amp;room1=A%2CA%2CA%2CA%2CA%2CA%2CA%2CA&amp;sb_price_type=total&amp;soh=1&amp;sr_order=popularity&amp;srepoch=1789887641&amp;srpvid=c2c130a2b4440360&amp;type=total&amp;ucfs=1&amp;#no_availability_msg" TargetMode="External"/><Relationship Id="rId2" Type="http://schemas.openxmlformats.org/officeDocument/2006/relationships/hyperlink" Target="https://sjavargrillid.i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uelagoon.com/book/spa/time?arrivalDate=2027-03-03T00:00:00.000Z&amp;admissionType=comfort&amp;productId=G-BL-410X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rell.com.tw/products/shoe-w-hike-25fw-moab-speed-2-mid-gtx-brown-m" TargetMode="External"/><Relationship Id="rId2" Type="http://schemas.openxmlformats.org/officeDocument/2006/relationships/hyperlink" Target="https://www.prooutdoor.com.tw/products/patagonia%C2%AE%E5%A5%B3%E6%AC%BE-torrentshell-3l-rain-jacket-3?variant=50571316822249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w.eminent.com/?route=product/product&amp;product_id=495&amp;color=413&amp;size=26" TargetMode="External"/><Relationship Id="rId2" Type="http://schemas.openxmlformats.org/officeDocument/2006/relationships/hyperlink" Target="https://www.prooutdoor.com.tw/products/patagonia%C2%AE%E5%A5%B3%E6%AC%BE-torrentshell-3l-rain-jacket-3?variant=50571316822249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ooking.com/hotel/is/holt-storaborg.zh-tw.html?aid=356980&amp;label=gog235jc-10CAgocEIDa2VmSDBYA2jnAYgBAZgBM7gBF8gBDNgBA-gBAfgBAYgCAagCAbgC6eLG0gbAAgHSAiQ0ZDMyMDNmMi1mYTU1LTQ1ZTUtYTQyMy1jZDMxMTU1ZGE0NmTYAgHgAgE&amp;sid=22290808645f5d803136dede959a3ec0&amp;all_sr_blocks=152580401_427815684_6_0_0&amp;checkin=2027-03-13&amp;checkout=2027-03-15&amp;dest_id=3092642&amp;dest_type=hotel&amp;dist=0&amp;group_adults=6&amp;group_children=0&amp;hapos=14&amp;highlighted_blocks=152580401_427815684_6_0_0&amp;hpos=14&amp;matching_block_id=152580401_427815684_6_0_0&amp;no_rooms=1&amp;req_adults=6&amp;req_children=0&amp;room1=A,A,A,A,A,A&amp;sb_price_type=total&amp;sr_order=popularity&amp;sr_pri_blocks=152580401_427815684_6_0_0__32918&amp;srepoch=1783942821&amp;srpvid=28cf51eae7d40095&amp;type=total&amp;ucfs=1&amp;#map_closed" TargetMode="External"/><Relationship Id="rId3" Type="http://schemas.openxmlformats.org/officeDocument/2006/relationships/hyperlink" Target="https://www.booking.com/hotel/is/hofn-hostel.zh-tw.html?aid=356980&amp;label=gog235jc-10CAgocEIDa2VmSDBYA2jnAYgBAZgBM7gBF8gBDNgBA-gBAfgBAYgCAagCAbgC6eLG0gbAAgHSAiQ0ZDMyMDNmMi1mYTU1LTQ1ZTUtYTQyMy1jZDMxMTU1ZGE0NmTYAgHgAgE&amp;sid=22290808645f5d803136dede959a3ec0&amp;all_sr_blocks=54875315_96271677_0_0_0&amp;checkin=2027-03-07&amp;checkout=2027-03-08&amp;dest_id=548753&amp;dest_type=hotel&amp;dist=0&amp;group_adults=6&amp;group_children=0&amp;hapos=1&amp;highlighted_blocks=54875315_96271677_0_0_0&amp;hpos=1&amp;matching_block_id=54875315_96271677_0_0_0&amp;no_rooms=1&amp;req_adults=6&amp;req_children=0&amp;room1=A,A,A,A,A,A&amp;sb_price_type=total&amp;sr_order=popularity&amp;sr_pri_blocks=54875315_96271677_0_0_0__26255&amp;srepoch=1784044472&amp;srpvid=67926fdbfbfa09c9&amp;type=total&amp;ucfs=1&amp;#_" TargetMode="External"/><Relationship Id="rId7" Type="http://schemas.openxmlformats.org/officeDocument/2006/relationships/hyperlink" Target="https://www.booking.com/hotel/is/hestasport-cottages.zh-tw.html" TargetMode="External"/><Relationship Id="rId2" Type="http://schemas.openxmlformats.org/officeDocument/2006/relationships/hyperlink" Target="https://www.booking.com/hotel/is/eldhraun-holiday-home.zh-tw.html?aid=356980&amp;label=gog235jc-10CAgocEIDa2VmSDBYA2jnAYgBAZgBM7gBF8gBDNgBA-gBAfgBAYgCAagCAbgC6eLG0gbAAgHSAiQ0ZDMyMDNmMi1mYTU1LTQ1ZTUtYTQyMy1jZDMxMTU1ZGE0NmTYAgHgAgE&amp;sid=bc416c8b62a1ba00336c79125bc8ffb6&amp;all_sr_blocks=116791701_360205257_0_2_0&amp;checkin=2027-03-04&amp;checkout=2027-03-06&amp;dest_id=3056991&amp;dest_type=hotel&amp;dist=0&amp;group_adults=6&amp;group_children=0&amp;hapos=1&amp;highlighted_blocks=116791701_360205257_0_2_0&amp;hpos=1&amp;matching_block_id=116791701_360205257_0_2_0&amp;nflt=hotelfacility%3D2&amp;no_rooms=1&amp;req_adults=6&amp;req_children=0&amp;room1=A,A,A,A,A,A&amp;sb_price_type=total&amp;sr_order=popularity&amp;sr_pri_blocks=116791701_360205257_0_2_0__95400&amp;srepoch=1784817710&amp;srpvid=0d5465cf9dfb032a&amp;type=total&amp;ucfs=1&amp;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ooking.com/hotel/is/thingvallastraeti.zh-tw.html?aid=304142&amp;label=gen173bo-10CAsocEIRdGhpbmd2YWxsYXN0cmFldGlIMFgDaOcBiAEBmAEzuAEXyAEM2AED6AEB-AEBiAIBmAIEqAIBuALBkYnTBsACAdICJDQ2NWYxNmI3LWE1MDctNGM4YS05NGQxLWRlY2RkYzY5YmEyMdgCAeACAQ&amp;sid=bc416c8b62a1ba00336c79125bc8ffb6&amp;checkin=2027-03-12&amp;checkout=2027-03-13&amp;dest_id=-2641271&amp;dest_type=city&amp;dist=0&amp;group_adults=6&amp;group_children=0&amp;hapos=1&amp;hpos=1&amp;no_rooms=1&amp;req_adults=6&amp;req_children=0&amp;room1=A,A,A,A,A,A&amp;sb_price_type=total&amp;soh=1&amp;sr_order=popularity&amp;srepoch=1784826100&amp;srpvid=506677a1ad33041a&amp;type=total&amp;ucfs=1&amp;#no_availability_msg" TargetMode="External"/><Relationship Id="rId5" Type="http://schemas.openxmlformats.org/officeDocument/2006/relationships/hyperlink" Target="https://www.booking.com/hotel/is/svartaborg.zh-tw.html?aid=356980&amp;label=gog235jc-10CAgocEIDa2VmSDBYA2jnAYgBAZgBM7gBF8gBDNgBA-gBAfgBAYgCAagCAbgC6eLG0gbAAgHSAiQ0ZDMyMDNmMi1mYTU1LTQ1ZTUtYTQyMy1jZDMxMTU1ZGE0NmTYAgHgAgE&amp;sid=bc416c8b62a1ba00336c79125bc8ffb6&amp;all_sr_blocks=611994103_239568282_6_0_0&amp;checkin=2027-03-08&amp;checkout=2027-03-09&amp;dest_id=1712896&amp;dest_type=hotel&amp;dist=0&amp;group_adults=6&amp;group_children=0&amp;hapos=7&amp;highlighted_blocks=611994103_239568282_6_0_0&amp;hpos=7&amp;matching_block_id=611994103_239568282_6_0_0&amp;no_rooms=1&amp;req_adults=6&amp;req_children=0&amp;room1=A,A,A,A,A,A&amp;sb_price_type=total&amp;sr_order=popularity&amp;sr_pri_blocks=611994103_239568282_6_0_0__53755&amp;srepoch=1784819596&amp;srpvid=6e4d6af356ec0daa&amp;type=total&amp;ucfs=1&amp;" TargetMode="External"/><Relationship Id="rId4" Type="http://schemas.openxmlformats.org/officeDocument/2006/relationships/hyperlink" Target="https://www.booking.com/hotel/is/mjoeyri-travel-holiday-homes.zh-tw.html?aid=356980&amp;label=gog235jc-10CAgocEIDa2VmSDBYA2jnAYgBAZgBM7gBF8gBDNgBA-gBAfgBAYgCAagCAbgC6eLG0gbAAgHSAiQ0ZDMyMDNmMi1mYTU1LTQ1ZTUtYTQyMy1jZDMxMTU1ZGE0NmTYAgHgAgE&amp;sid=bc416c8b62a1ba00336c79125bc8ffb6&amp;all_sr_blocks=123056101_393885491_6_2_0&amp;checkin=2027-03-07&amp;checkout=2027-03-08&amp;dest_id=864220&amp;dest_type=hotel&amp;dist=0&amp;group_adults=6&amp;group_children=0&amp;hapos=14&amp;highlighted_blocks=123056101_393885491_6_2_0&amp;hpos=14&amp;matching_block_id=123056101_393885491_6_2_0&amp;no_rooms=1&amp;req_adults=6&amp;req_children=0&amp;room1=A,A,A,A,A,A&amp;sb_price_type=total&amp;sr_order=popularity&amp;sr_pri_blocks=123056101_393885491_6_2_0__41200&amp;srepoch=1784819105&amp;srpvid=b7746885c1c30227&amp;type=total&amp;ucfs=1&amp;" TargetMode="External"/><Relationship Id="rId9" Type="http://schemas.openxmlformats.org/officeDocument/2006/relationships/hyperlink" Target="https://www.booking.com/hotel/is/black-diamond-villa.zh-tw.html?aid=356980&amp;label=gog235jc-10CAgocEIDa2VmSDBYA2jnAYgBAZgBM7gBF8gBDNgBA-gBAfgBAYgCAagCAbgC6eLG0gbAAgHSAiQ0ZDMyMDNmMi1mYTU1LTQ1ZTUtYTQyMy1jZDMxMTU1ZGE0NmTYAgHgAgE&amp;sid=bc416c8b62a1ba00336c79125bc8ffb6&amp;all_sr_blocks=1267229501_399440841_6_0_0&amp;checkin=2027-03-13&amp;checkout=2027-03-15&amp;dest_id=-2651804&amp;dest_type=city&amp;dist=0&amp;group_adults=6&amp;group_children=0&amp;hapos=22&amp;highlighted_blocks=1267229501_399440841_6_0_0&amp;hpos=22&amp;matching_block_id=1267229501_399440841_6_0_0&amp;nflt=hotelfacility%3D63&amp;no_rooms=1&amp;req_adults=6&amp;req_children=0&amp;room1=A,A,A,A,A,A&amp;sb_price_type=total&amp;sr_order=popularity&amp;sr_pri_blocks=1267229501_399440841_6_0_0__154629&amp;srepoch=1786808555&amp;srpvid=3d346cd88f05016a&amp;type=total&amp;ucfs=1&amp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AFF727-9F6A-03AD-9DB7-E307FB68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dirty="0">
                <a:solidFill>
                  <a:schemeClr val="accent2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DFC779-227E-9507-A1A1-74C3D97F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545" y="1703496"/>
            <a:ext cx="2592278" cy="4610809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zh-TW" altLang="en-US" sz="1800" b="1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集合搭飛機</a:t>
            </a:r>
            <a:endParaRPr lang="en-US" altLang="zh-TW" sz="1800" b="1" dirty="0">
              <a:solidFill>
                <a:srgbClr val="FF00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b="1" dirty="0">
                <a:solidFill>
                  <a:srgbClr val="FF3737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3/3</a:t>
            </a:r>
            <a:r>
              <a:rPr lang="zh-TW" altLang="en-US" sz="1800" b="1" dirty="0">
                <a:solidFill>
                  <a:srgbClr val="FF3737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en-US" altLang="zh-TW" sz="1800" b="1" dirty="0">
              <a:solidFill>
                <a:srgbClr val="FF3737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b="1" dirty="0">
                <a:solidFill>
                  <a:srgbClr val="EE5655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3/4</a:t>
            </a:r>
            <a:r>
              <a:rPr lang="zh-TW" altLang="en-US" sz="1800" b="1" dirty="0">
                <a:solidFill>
                  <a:srgbClr val="EE5655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en-US" altLang="zh-TW" sz="1800" b="1" dirty="0">
              <a:solidFill>
                <a:srgbClr val="EE5655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b="1" dirty="0">
                <a:solidFill>
                  <a:srgbClr val="EE2D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3/5</a:t>
            </a:r>
            <a:r>
              <a:rPr lang="zh-TW" altLang="en-US" sz="1800" b="1" dirty="0">
                <a:solidFill>
                  <a:srgbClr val="EE2D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zh-TW" altLang="en-US" sz="1800" b="1" dirty="0">
              <a:solidFill>
                <a:srgbClr val="EE2D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b="1" dirty="0">
                <a:solidFill>
                  <a:srgbClr val="FF7C24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3/6</a:t>
            </a:r>
            <a:r>
              <a:rPr lang="zh-TW" altLang="en-US" sz="1800" b="1" dirty="0">
                <a:solidFill>
                  <a:srgbClr val="FF7C24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zh-TW" altLang="en-US" sz="1800" b="1" dirty="0">
              <a:solidFill>
                <a:srgbClr val="FF7C24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b="1" dirty="0">
                <a:solidFill>
                  <a:srgbClr val="FFC6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3/7</a:t>
            </a:r>
            <a:r>
              <a:rPr lang="zh-TW" altLang="en-US" sz="1800" b="1" dirty="0">
                <a:solidFill>
                  <a:srgbClr val="FFC6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zh-TW" altLang="en-US" sz="1800" b="1" dirty="0">
              <a:solidFill>
                <a:srgbClr val="FFC6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800" b="1" dirty="0">
                <a:solidFill>
                  <a:srgbClr val="F3D358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3/8</a:t>
            </a:r>
            <a:r>
              <a:rPr lang="zh-TW" altLang="en-US" sz="1800" b="1" dirty="0">
                <a:solidFill>
                  <a:srgbClr val="F3D358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zh-TW" altLang="en-US" sz="1800" b="1" dirty="0">
              <a:solidFill>
                <a:srgbClr val="F3D358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200000"/>
              </a:lnSpc>
            </a:pPr>
            <a:endParaRPr lang="en-US" altLang="zh-TW" sz="18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200000"/>
              </a:lnSpc>
            </a:pPr>
            <a:endParaRPr lang="zh-TW" altLang="en-US" sz="18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99DDBBE-1AA3-A00B-2A23-ACAE10503900}"/>
              </a:ext>
            </a:extLst>
          </p:cNvPr>
          <p:cNvSpPr txBox="1"/>
          <p:nvPr/>
        </p:nvSpPr>
        <p:spPr>
          <a:xfrm>
            <a:off x="6096000" y="2229464"/>
            <a:ext cx="2004133" cy="364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行李清單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  <a:hlinkClick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行前檢查清單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  <a:hlinkClick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租車事項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住宿網址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花費總覽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0139B9-EA10-2BC3-C334-0A91377216F0}"/>
              </a:ext>
            </a:extLst>
          </p:cNvPr>
          <p:cNvSpPr txBox="1"/>
          <p:nvPr/>
        </p:nvSpPr>
        <p:spPr>
          <a:xfrm>
            <a:off x="3503722" y="1589905"/>
            <a:ext cx="2592278" cy="482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67BE46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3/9</a:t>
            </a:r>
            <a:r>
              <a:rPr lang="zh-TW" altLang="en-US" b="1" dirty="0">
                <a:solidFill>
                  <a:srgbClr val="67BE46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en-US" altLang="zh-TW" b="1" dirty="0">
              <a:solidFill>
                <a:srgbClr val="67BE46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  <a:hlinkClick r:id="rId1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0563C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3/10</a:t>
            </a:r>
            <a:r>
              <a:rPr lang="zh-TW" altLang="en-US" b="1" dirty="0">
                <a:solidFill>
                  <a:srgbClr val="0563C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en-US" altLang="zh-TW" b="1" dirty="0">
              <a:solidFill>
                <a:schemeClr val="accent6">
                  <a:lumMod val="60000"/>
                  <a:lumOff val="4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4472C4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3/11</a:t>
            </a:r>
            <a:r>
              <a:rPr lang="zh-TW" altLang="en-US" b="1" dirty="0">
                <a:solidFill>
                  <a:srgbClr val="4472C4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zh-TW" altLang="en-US" b="1" dirty="0">
              <a:solidFill>
                <a:srgbClr val="4472C4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8FAADC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3/12</a:t>
            </a:r>
            <a:r>
              <a:rPr lang="zh-TW" altLang="en-US" b="1" dirty="0">
                <a:solidFill>
                  <a:srgbClr val="8FAADC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zh-TW" altLang="en-US" b="1" dirty="0">
              <a:solidFill>
                <a:srgbClr val="8FAADC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B336C8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3/13</a:t>
            </a:r>
            <a:r>
              <a:rPr lang="zh-TW" altLang="en-US" b="1" dirty="0">
                <a:solidFill>
                  <a:srgbClr val="B336C8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zh-TW" altLang="en-US" b="1" dirty="0">
              <a:solidFill>
                <a:srgbClr val="B336C8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9751CB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3/14</a:t>
            </a:r>
            <a:r>
              <a:rPr lang="zh-TW" altLang="en-US" b="1" dirty="0">
                <a:solidFill>
                  <a:srgbClr val="9751CB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行程</a:t>
            </a:r>
            <a:endParaRPr lang="zh-TW" altLang="en-US" b="1" dirty="0">
              <a:solidFill>
                <a:srgbClr val="9751CB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FFA3FF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3/15</a:t>
            </a:r>
            <a:r>
              <a:rPr lang="zh-TW" altLang="en-US" b="1" dirty="0">
                <a:solidFill>
                  <a:srgbClr val="FFA3FF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回程</a:t>
            </a:r>
            <a:endParaRPr lang="zh-TW" altLang="en-US" b="1" dirty="0">
              <a:solidFill>
                <a:srgbClr val="FFA3FF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821E765-621F-E662-42E7-93AA00B5FACA}"/>
              </a:ext>
            </a:extLst>
          </p:cNvPr>
          <p:cNvSpPr txBox="1"/>
          <p:nvPr/>
        </p:nvSpPr>
        <p:spPr>
          <a:xfrm>
            <a:off x="8761522" y="2179073"/>
            <a:ext cx="2971060" cy="364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行前檢查清單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  <a:hlinkClick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開車注意事項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必看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各項體驗選擇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注意事項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補充</a:t>
            </a:r>
            <a:endParaRPr lang="zh-TW" altLang="en-US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781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E49BF79-2507-470B-998E-5A8CA2F99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013" y="0"/>
            <a:ext cx="9493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0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C74549-9046-4BAE-9028-1CF713B2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2/28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－桃園機場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B64142-AA56-4B7C-9B74-0F3526E25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428745" cy="4740848"/>
          </a:xfrm>
        </p:spPr>
        <p:txBody>
          <a:bodyPr anchor="ctr" anchorCtr="0">
            <a:normAutofit/>
          </a:bodyPr>
          <a:lstStyle/>
          <a:p>
            <a:r>
              <a:rPr lang="en-US" altLang="zh-TW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2/28</a:t>
            </a:r>
            <a:r>
              <a:rPr lang="en-US" altLang="zh-TW" sz="1200" b="1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marL="0" indent="0">
              <a:buNone/>
            </a:pPr>
            <a:r>
              <a:rPr lang="en-US" altLang="zh-TW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16:00</a:t>
            </a:r>
            <a:r>
              <a:rPr lang="zh-TW" altLang="en-US" sz="1200" b="1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從台中出發</a:t>
            </a:r>
            <a:endParaRPr lang="en-US" altLang="zh-TW" sz="1200" b="1" u="none" strike="noStrike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19:00~19:30</a:t>
            </a:r>
            <a:r>
              <a:rPr lang="zh-TW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集合</a:t>
            </a:r>
            <a:endParaRPr lang="en-US" altLang="zh-TW" sz="1200" b="1" u="none" strike="noStrike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200" b="1" u="none" strike="noStrike" dirty="0">
                <a:solidFill>
                  <a:srgbClr val="FF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19:30 </a:t>
            </a:r>
            <a:r>
              <a:rPr lang="zh-TW" altLang="en-US" sz="1200" b="1" u="none" strike="noStrike" dirty="0">
                <a:solidFill>
                  <a:srgbClr val="FF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抵達桃園國際機場</a:t>
            </a:r>
            <a:endParaRPr lang="en-US" altLang="zh-TW" sz="1200" b="1" u="none" strike="noStrike" dirty="0">
              <a:solidFill>
                <a:srgbClr val="FF505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200" b="1" u="none" strike="noStrike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23:00 </a:t>
            </a:r>
            <a:r>
              <a:rPr lang="zh-TW" altLang="en-US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起飛 → </a:t>
            </a:r>
            <a:r>
              <a:rPr lang="en-US" altLang="zh-TW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9h55m </a:t>
            </a:r>
            <a:r>
              <a:rPr lang="zh-TW" altLang="en-US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3/1</a:t>
            </a:r>
            <a:r>
              <a:rPr lang="zh-TW" altLang="en-US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04:55 </a:t>
            </a:r>
            <a:r>
              <a:rPr lang="zh-TW" altLang="en-US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杜拜 → 轉機</a:t>
            </a:r>
            <a:r>
              <a:rPr lang="en-US" altLang="zh-TW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(2h50m)</a:t>
            </a:r>
          </a:p>
          <a:p>
            <a:endParaRPr lang="en-US" altLang="zh-TW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07:45</a:t>
            </a:r>
            <a:r>
              <a:rPr lang="zh-TW" altLang="en-US" sz="12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杜拜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7h55m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11:40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倫敦 → 候機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(8h15m)</a:t>
            </a:r>
          </a:p>
          <a:p>
            <a:pPr marL="0" indent="0">
              <a:buNone/>
            </a:pPr>
            <a:endParaRPr lang="en-US" altLang="zh-TW" sz="1200" b="1" dirty="0">
              <a:solidFill>
                <a:srgbClr val="D9A74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20:35</a:t>
            </a:r>
            <a:r>
              <a:rPr lang="zh-TW" altLang="en-US" sz="12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倫敦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3h15m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23:50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KEF</a:t>
            </a:r>
          </a:p>
          <a:p>
            <a:endParaRPr lang="en-US" altLang="zh-TW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入境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(15~20m)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拿行李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(15~30m)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取車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(45m~1h)</a:t>
            </a:r>
          </a:p>
          <a:p>
            <a:endParaRPr lang="en-US" altLang="zh-TW" sz="1200" b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 </a:t>
            </a:r>
            <a:r>
              <a:rPr lang="en-US" altLang="zh-TW" sz="12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凱夫拉維克</a:t>
            </a:r>
            <a:r>
              <a:rPr lang="zh-TW" altLang="en-US" sz="12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12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3/1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晚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桑德格迪小屋酒店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(15M) </a:t>
            </a:r>
            <a:endParaRPr lang="zh-TW" altLang="en-US" sz="1200" b="1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563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7BA59-A94F-4351-AF90-E4CC07EC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3/2 –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 抵達首都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F1B90D-F031-40C7-98D1-D7CD81A3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364"/>
            <a:ext cx="9399348" cy="4946541"/>
          </a:xfrm>
        </p:spPr>
        <p:txBody>
          <a:bodyPr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TW" altLang="en-US" sz="14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14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11:00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 → 首都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(1H30M)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Sky Lagoon(15M)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塞爾福斯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(1H30M)</a:t>
            </a:r>
          </a:p>
          <a:p>
            <a:pPr>
              <a:lnSpc>
                <a:spcPct val="110000"/>
              </a:lnSpc>
            </a:pPr>
            <a:endParaRPr lang="en-US" altLang="zh-TW" sz="14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4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12:30~14:00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吃午餐、陰莖博物館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(1H)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14:30~17:00</a:t>
            </a:r>
            <a:r>
              <a:rPr lang="en-US" altLang="zh-TW" sz="14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zh-TW" altLang="en-US" sz="14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泡溫泉</a:t>
            </a:r>
            <a:endParaRPr lang="en-US" altLang="zh-TW" sz="1400" b="1" dirty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17:00~17:30</a:t>
            </a:r>
            <a:r>
              <a:rPr lang="en-US" altLang="zh-TW" sz="14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4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小豬超市採買</a:t>
            </a:r>
            <a:endParaRPr lang="en-US" altLang="zh-TW" sz="1400" b="1" dirty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17:30~19:00</a:t>
            </a:r>
            <a:r>
              <a:rPr lang="zh-TW" altLang="en-US" sz="14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4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往塞爾福斯</a:t>
            </a:r>
            <a:endParaRPr lang="en-US" altLang="zh-TW" sz="1400" b="1" dirty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4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4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Sky Lagoon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ISK 115,920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1400" b="1" dirty="0">
              <a:solidFill>
                <a:srgbClr val="4A70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4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：塞爾福斯 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Old farm house in Iceland</a:t>
            </a:r>
            <a:endParaRPr lang="en-US" altLang="zh-TW" sz="14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400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4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400" b="1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2089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69E3BC62-8528-4E24-8DC0-64AB154CC6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78"/>
          <a:stretch/>
        </p:blipFill>
        <p:spPr>
          <a:xfrm>
            <a:off x="-1" y="-9526"/>
            <a:ext cx="12192001" cy="686752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46A09E8-EA4A-457D-9D98-C15DF57816F8}"/>
              </a:ext>
            </a:extLst>
          </p:cNvPr>
          <p:cNvSpPr/>
          <p:nvPr/>
        </p:nvSpPr>
        <p:spPr>
          <a:xfrm>
            <a:off x="4837813" y="1213219"/>
            <a:ext cx="3444949" cy="530521"/>
          </a:xfrm>
          <a:prstGeom prst="rect">
            <a:avLst/>
          </a:prstGeom>
          <a:solidFill>
            <a:srgbClr val="B5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辛格韋德利國家公園</a:t>
            </a:r>
            <a:endParaRPr lang="en-US" altLang="zh-TW" sz="2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DB4D09-ED27-476B-8BD3-C3ED1DF65A79}"/>
              </a:ext>
            </a:extLst>
          </p:cNvPr>
          <p:cNvSpPr/>
          <p:nvPr/>
        </p:nvSpPr>
        <p:spPr>
          <a:xfrm>
            <a:off x="9930809" y="682698"/>
            <a:ext cx="2261191" cy="530521"/>
          </a:xfrm>
          <a:prstGeom prst="rect">
            <a:avLst/>
          </a:prstGeom>
          <a:solidFill>
            <a:srgbClr val="B5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古佛斯瀑布</a:t>
            </a:r>
            <a:endParaRPr lang="en-US" altLang="zh-TW" sz="2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87ACB0-CA3E-445C-8480-81DEB4C6534D}"/>
              </a:ext>
            </a:extLst>
          </p:cNvPr>
          <p:cNvSpPr/>
          <p:nvPr/>
        </p:nvSpPr>
        <p:spPr>
          <a:xfrm>
            <a:off x="7378995" y="2362200"/>
            <a:ext cx="2714846" cy="566731"/>
          </a:xfrm>
          <a:prstGeom prst="rect">
            <a:avLst/>
          </a:prstGeom>
          <a:solidFill>
            <a:srgbClr val="B5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史托克間歇泉</a:t>
            </a:r>
            <a:endParaRPr lang="en-US" altLang="zh-TW" sz="2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07BC44-89DF-4283-9DDC-F0EB8E9724CF}"/>
              </a:ext>
            </a:extLst>
          </p:cNvPr>
          <p:cNvSpPr/>
          <p:nvPr/>
        </p:nvSpPr>
        <p:spPr>
          <a:xfrm>
            <a:off x="6574907" y="4791727"/>
            <a:ext cx="1707855" cy="530521"/>
          </a:xfrm>
          <a:prstGeom prst="rect">
            <a:avLst/>
          </a:prstGeom>
          <a:solidFill>
            <a:srgbClr val="B549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賽爾福斯</a:t>
            </a:r>
            <a:endParaRPr lang="en-US" altLang="zh-TW" sz="2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D2CEE0-E0D3-40B7-998E-22A04BFE03F9}"/>
              </a:ext>
            </a:extLst>
          </p:cNvPr>
          <p:cNvSpPr/>
          <p:nvPr/>
        </p:nvSpPr>
        <p:spPr>
          <a:xfrm>
            <a:off x="1664493" y="3033714"/>
            <a:ext cx="1719263" cy="66675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冰島首都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83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7BA59-A94F-4351-AF90-E4CC07EC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3/3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－西南部（黃金圈）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F1B90D-F031-40C7-98D1-D7CD81A3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624"/>
            <a:ext cx="10021755" cy="4946541"/>
          </a:xfrm>
        </p:spPr>
        <p:txBody>
          <a:bodyPr anchor="ctr" anchorCtr="0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TW" altLang="en-US" sz="12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12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07</a:t>
            </a:r>
            <a:r>
              <a:rPr lang="en-US" altLang="zh-TW" sz="12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:00</a:t>
            </a:r>
            <a:r>
              <a:rPr lang="zh-TW" altLang="en-US" sz="12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塞爾福斯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sz="12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辛格韋德利國家公園</a:t>
            </a:r>
            <a:r>
              <a:rPr lang="en-US" altLang="zh-TW" sz="12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2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1H30M</a:t>
            </a:r>
            <a:r>
              <a:rPr lang="en-US" altLang="zh-TW" sz="12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1200" b="1" u="none" strike="noStrike" dirty="0">
                <a:solidFill>
                  <a:srgbClr val="FF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200" b="1" u="none" strike="noStrike" dirty="0">
                <a:solidFill>
                  <a:srgbClr val="FF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→ 赫伊卡達勒地熱山谷</a:t>
            </a:r>
            <a:r>
              <a:rPr lang="en-US" altLang="zh-TW" sz="12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(50M)</a:t>
            </a:r>
            <a:r>
              <a:rPr lang="zh-TW" altLang="en-US" sz="1200" b="1" u="none" strike="noStrike" dirty="0">
                <a:solidFill>
                  <a:srgbClr val="FF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1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sz="12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黃金瀑布</a:t>
            </a:r>
            <a:r>
              <a:rPr lang="en-US" altLang="zh-TW" sz="12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(20M)</a:t>
            </a:r>
            <a:r>
              <a:rPr lang="zh-TW" altLang="en-US" sz="12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1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zh-TW" altLang="en-US" sz="1200" b="1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凱瑞斯火山口</a:t>
            </a:r>
            <a:r>
              <a:rPr lang="en-US" altLang="zh-TW" sz="1200" b="1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(50M)</a:t>
            </a:r>
            <a:r>
              <a:rPr lang="en-US" altLang="zh-TW" sz="12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$150/</a:t>
            </a:r>
            <a:r>
              <a:rPr lang="zh-TW" altLang="en-US" sz="12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r>
              <a:rPr lang="en-US" altLang="zh-TW" sz="12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18:30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Hella(1H)</a:t>
            </a:r>
            <a:r>
              <a:rPr lang="zh-TW" alt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加油</a:t>
            </a:r>
            <a:r>
              <a:rPr lang="en-US" altLang="zh-TW" sz="12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12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2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2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08:45 :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史費拉裂縫浮潛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09:00~11:30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2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11:30~12:10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吃午餐</a:t>
            </a:r>
            <a:endParaRPr lang="en-US" altLang="zh-TW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2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12:10~13:30</a:t>
            </a:r>
            <a:r>
              <a:rPr lang="zh-TW" altLang="en-US" sz="12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國家公園散步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阿爾曼納峽谷冰與火之歌的取景地、辛格韋德利教堂、</a:t>
            </a:r>
            <a:r>
              <a:rPr lang="zh-TW" altLang="en-US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法律岩、淹死池、</a:t>
            </a:r>
            <a:r>
              <a:rPr lang="en-US" altLang="zh-TW" sz="1200" b="1" dirty="0" err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Öxarárfoss</a:t>
            </a:r>
            <a:r>
              <a:rPr lang="en-US" altLang="zh-TW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瀑布 </a:t>
            </a:r>
            <a:r>
              <a:rPr lang="en-US" altLang="zh-TW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endParaRPr lang="en-US" altLang="zh-TW" sz="1200" b="1" dirty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2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14:30~15:20</a:t>
            </a:r>
            <a:r>
              <a:rPr lang="en-US" altLang="zh-TW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地熱山谷</a:t>
            </a:r>
            <a:r>
              <a:rPr lang="en-US" altLang="zh-TW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蓋席爾間歇泉、</a:t>
            </a:r>
            <a:r>
              <a:rPr lang="en-US" altLang="zh-TW" sz="1200" b="1" dirty="0" err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strokkur</a:t>
            </a:r>
            <a:r>
              <a:rPr lang="en-US" altLang="zh-TW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2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15:40~16:10</a:t>
            </a:r>
            <a:r>
              <a:rPr lang="en-US" altLang="zh-TW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黃金瀑布</a:t>
            </a:r>
            <a:endParaRPr lang="en-US" altLang="zh-TW" sz="1200" b="1" dirty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2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17:10~17:30</a:t>
            </a:r>
            <a:r>
              <a:rPr lang="en-US" altLang="zh-TW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2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火山口</a:t>
            </a:r>
            <a:endParaRPr lang="en-US" altLang="zh-TW" sz="1200" b="1" dirty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2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2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史費拉裂縫浮潛  </a:t>
            </a:r>
            <a:r>
              <a:rPr lang="en-US" altLang="zh-TW" sz="12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ISK 159,992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1200" b="1" dirty="0">
              <a:solidFill>
                <a:srgbClr val="4A70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2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200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2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2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Dive.is</a:t>
            </a:r>
            <a:r>
              <a:rPr lang="en-US" altLang="zh-TW" sz="12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3hr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純浮潛 </a:t>
            </a:r>
            <a:r>
              <a:rPr lang="en-US" altLang="zh-TW" sz="12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$5100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57D1DF8-37C2-D1D9-4E22-7E2475B5A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83" y="4103825"/>
            <a:ext cx="4110172" cy="245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3/4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－南岸海景（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1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651"/>
            <a:ext cx="10515600" cy="5061140"/>
          </a:xfrm>
        </p:spPr>
        <p:txBody>
          <a:bodyPr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TW" altLang="en-US" sz="11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11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1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08:50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Hella</a:t>
            </a:r>
            <a:r>
              <a:rPr lang="zh-TW" altLang="en-US" sz="11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100" b="1" u="none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布魯基地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(45M</a:t>
            </a:r>
            <a:r>
              <a:rPr lang="en-US" altLang="zh-TW" sz="1100" b="1" u="none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1100" b="1" u="none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塞里雅蘭瀑布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(45M)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斯科加瀑布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(40M)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en-US" altLang="zh-TW" sz="11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Dyrholaey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(45M)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 </a:t>
            </a:r>
            <a:r>
              <a:rPr lang="en-US" altLang="zh-TW" sz="11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Reynisfjara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雷尼斯黑沙灘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P(35M) → </a:t>
            </a:r>
            <a:r>
              <a:rPr lang="en-US" altLang="zh-TW" sz="11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Vík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Myrdal Church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維克紅頂教堂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(25M)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維克超市 → 教堂鎮</a:t>
            </a:r>
            <a:r>
              <a:rPr lang="en-US" altLang="zh-TW" sz="11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(1.5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</a:t>
            </a:r>
            <a:r>
              <a:rPr lang="en-US" altLang="zh-TW" sz="11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110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1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09:45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Brú Base Camp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（布魯基地），雪地摩托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10:00~13:10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13:10~13:30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吃午餐</a:t>
            </a:r>
            <a:endParaRPr lang="en-US" altLang="zh-TW" sz="11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14:15~15:15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塞里雅蘭瀑布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(40m)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走十分鐘到</a:t>
            </a:r>
            <a:r>
              <a:rPr lang="en-US" altLang="zh-TW" sz="11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gljufrabui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隱藏瀑布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(15m)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16:00~16:35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斯科加瀑布，爬五百階樓梯</a:t>
            </a:r>
            <a:endParaRPr lang="en-US" altLang="zh-TW" sz="11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100" b="1" u="none" strike="noStrik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17:</a:t>
            </a:r>
            <a:r>
              <a:rPr lang="en-US" altLang="zh-TW" sz="1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25</a:t>
            </a:r>
            <a:r>
              <a:rPr lang="en-US" altLang="zh-TW" sz="1100" b="1" u="none" strike="noStrik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~17:40</a:t>
            </a:r>
            <a:r>
              <a:rPr lang="zh-TW" altLang="en-US" sz="11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：順路經過</a:t>
            </a:r>
            <a:r>
              <a:rPr lang="en-US" altLang="zh-TW" sz="11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11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索爾黑馬冰川路口</a:t>
            </a:r>
            <a:r>
              <a:rPr lang="en-US" altLang="zh-TW" sz="11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1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Dyrholaey</a:t>
            </a:r>
            <a:endParaRPr lang="en-US" altLang="zh-TW" sz="11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黑沙灘</a:t>
            </a:r>
            <a:endParaRPr lang="en-US" altLang="zh-TW" sz="110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18:00~18:30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維克鎮 </a:t>
            </a:r>
            <a:r>
              <a:rPr lang="en-US" altLang="zh-TW" sz="11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Krónan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超市採買＋加油</a:t>
            </a:r>
            <a:endParaRPr lang="en-US" altLang="zh-TW" sz="11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100" b="1" u="none" strike="noStrik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19:45</a:t>
            </a:r>
            <a:r>
              <a:rPr lang="zh-TW" altLang="en-US" sz="1100" b="1" u="none" strike="noStrik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b="1" u="none" strike="noStrik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11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抵達民宿</a:t>
            </a:r>
            <a:endParaRPr lang="en-US" altLang="zh-TW" sz="110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10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1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100" b="1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雪地摩托車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2.5H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r>
              <a:rPr lang="zh-TW" altLang="en-US" sz="11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要帶汽車駕照跟國際駕照  </a:t>
            </a:r>
            <a:r>
              <a:rPr lang="en-US" altLang="zh-TW" sz="11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ISK279920</a:t>
            </a:r>
            <a:endParaRPr lang="en-US" altLang="zh-TW" sz="1100" b="1" dirty="0">
              <a:solidFill>
                <a:srgbClr val="4A70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1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11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vik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barn</a:t>
            </a:r>
            <a:endParaRPr lang="en-US" altLang="zh-TW" sz="11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1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1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arctic adventures</a:t>
            </a:r>
            <a:r>
              <a:rPr lang="zh-TW" altLang="en-US" sz="11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雪地摩托 </a:t>
            </a:r>
            <a:r>
              <a:rPr lang="en-US" altLang="zh-TW" sz="11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$6185</a:t>
            </a:r>
          </a:p>
        </p:txBody>
      </p:sp>
    </p:spTree>
    <p:extLst>
      <p:ext uri="{BB962C8B-B14F-4D97-AF65-F5344CB8AC3E}">
        <p14:creationId xmlns:p14="http://schemas.microsoft.com/office/powerpoint/2010/main" val="3007497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D4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9EEBA2FB-DEAF-4ED7-8B9B-BB9D9FFFC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3/5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－南岸海景（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2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652"/>
            <a:ext cx="10515600" cy="5002963"/>
          </a:xfrm>
        </p:spPr>
        <p:txBody>
          <a:bodyPr anchor="ctr" anchorCtr="0"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zh-TW" altLang="en-US" sz="16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16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6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08:30</a:t>
            </a:r>
            <a:r>
              <a:rPr lang="zh-TW" altLang="en-US" sz="1600" b="1" u="non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教堂鎮</a:t>
            </a:r>
            <a:r>
              <a:rPr lang="zh-TW" altLang="en-US" sz="16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羽毛峽谷 → </a:t>
            </a:r>
            <a:r>
              <a:rPr lang="zh-TW" altLang="en-US" sz="16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卡特拉火山黑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冰洞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(2M)</a:t>
            </a:r>
            <a:r>
              <a:rPr lang="zh-TW" altLang="en-US" sz="16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索爾黑馬冰川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(35M)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彩虹瀑布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(30M) →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塞里雅蘭瀑布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P(10M)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教堂鎮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(1H20M)</a:t>
            </a:r>
            <a:endParaRPr lang="en-US" altLang="zh-TW" sz="16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0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08:40</a:t>
            </a:r>
            <a:r>
              <a:rPr lang="en-US" altLang="zh-TW" sz="16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 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冰洞探險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09:00~12:50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12:50~13:40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6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The soup company(</a:t>
            </a:r>
            <a:r>
              <a:rPr lang="zh-TW" altLang="en-US" sz="16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第一間</a:t>
            </a:r>
            <a:r>
              <a:rPr lang="en-US" altLang="zh-TW" sz="16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endParaRPr lang="en-US" altLang="zh-TW" sz="16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13:40~14:15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維克鎮加油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Krónan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超市買菜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14:40~15:20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600" b="1" strike="sngStrik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迪霍拉里</a:t>
            </a:r>
            <a:endParaRPr lang="en-US" altLang="zh-TW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b="1" u="non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15:50~16:40</a:t>
            </a:r>
            <a:r>
              <a:rPr lang="en-US" altLang="zh-TW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黑沙灘</a:t>
            </a:r>
            <a:endParaRPr lang="en-US" altLang="zh-TW" sz="1600" b="1" u="non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b="1" u="non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16:55~17:30</a:t>
            </a:r>
            <a:r>
              <a:rPr lang="en-US" altLang="zh-TW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教堂</a:t>
            </a:r>
            <a:endParaRPr lang="en-US" altLang="zh-TW" sz="1600" b="1" u="non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b="1" u="non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18:40 : </a:t>
            </a:r>
            <a:r>
              <a:rPr lang="zh-TW" altLang="en-US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左轉切入 </a:t>
            </a:r>
            <a:r>
              <a:rPr lang="en-US" altLang="zh-TW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206 </a:t>
            </a:r>
            <a:r>
              <a:rPr lang="zh-TW" altLang="en-US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號公路</a:t>
            </a:r>
            <a:endParaRPr lang="en-US" altLang="zh-TW" sz="1600" b="1" u="non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600" b="1" u="non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18:45~19:15</a:t>
            </a:r>
            <a:r>
              <a:rPr lang="en-US" altLang="zh-TW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600" b="1" u="non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羽毛峽谷，抵達住宿</a:t>
            </a:r>
            <a:endParaRPr lang="en-US" altLang="zh-TW" sz="1600" b="1" u="non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700" b="1" u="non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6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600" b="1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黑冰洞探險   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ISK 239,200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1100" b="1" dirty="0">
              <a:solidFill>
                <a:srgbClr val="4A70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6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教堂鎮  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Holiday Houses by Stay in Iceland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700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6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katlatrack</a:t>
            </a:r>
            <a:r>
              <a:rPr lang="zh-TW" altLang="en-US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3hr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$7,730 </a:t>
            </a:r>
          </a:p>
        </p:txBody>
      </p:sp>
    </p:spTree>
    <p:extLst>
      <p:ext uri="{BB962C8B-B14F-4D97-AF65-F5344CB8AC3E}">
        <p14:creationId xmlns:p14="http://schemas.microsoft.com/office/powerpoint/2010/main" val="138664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3/6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－東南部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/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封路機率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(15%)</a:t>
            </a:r>
            <a:r>
              <a:rPr lang="en-US" altLang="zh-TW" b="1" dirty="0" err="1">
                <a:solidFill>
                  <a:schemeClr val="bg1"/>
                </a:solidFill>
                <a:ea typeface="SimSun" panose="02010600030101010101" pitchFamily="2" charset="-122"/>
              </a:rPr>
              <a:t>planB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小心側風強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36" y="1551420"/>
            <a:ext cx="10515600" cy="5006397"/>
          </a:xfrm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en-US" sz="16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16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6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07:40</a:t>
            </a:r>
            <a:r>
              <a:rPr lang="zh-TW" altLang="en-US" sz="16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教堂鎮 → 傑古沙龍冰河湖</a:t>
            </a:r>
            <a:r>
              <a:rPr lang="en-US" altLang="zh-TW" sz="1600" b="1" strike="noStrike" dirty="0">
                <a:solidFill>
                  <a:srgbClr val="FF5050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</a:t>
            </a:r>
            <a:r>
              <a:rPr lang="en-US" altLang="zh-TW" sz="16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(2H)</a:t>
            </a:r>
            <a:r>
              <a:rPr lang="zh-TW" altLang="en-US" sz="16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鑽石沙灘</a:t>
            </a:r>
            <a:r>
              <a:rPr lang="en-US" altLang="zh-TW" sz="16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zh-TW" altLang="en-US" sz="16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赫本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鎮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(1H15M)</a:t>
            </a:r>
            <a:endParaRPr lang="en-US" altLang="zh-TW" sz="16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endParaRPr lang="en-US" altLang="zh-TW" sz="10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09:50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傑古沙龍藍冰洞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10:15~14:15</a:t>
            </a:r>
          </a:p>
          <a:p>
            <a:pPr marL="0" indent="0"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14:15~14:45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: Food Truck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吃飯 </a:t>
            </a:r>
            <a:r>
              <a:rPr lang="en-US" altLang="zh-TW" sz="16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$$$900(</a:t>
            </a:r>
            <a:r>
              <a:rPr lang="zh-TW" altLang="en-US" sz="16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未加</a:t>
            </a:r>
            <a:r>
              <a:rPr lang="en-US" altLang="zh-TW" sz="16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14:45~15:45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: 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鑽石沙灘</a:t>
            </a:r>
            <a:endParaRPr lang="en-US" altLang="zh-TW" sz="16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17:00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in</a:t>
            </a:r>
          </a:p>
          <a:p>
            <a:pPr marL="0" indent="0"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17:15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直接開車去 </a:t>
            </a:r>
            <a:r>
              <a:rPr lang="en-US" altLang="zh-TW" sz="1600" b="1" dirty="0" err="1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Pakkhús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第二間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餐廳門口卡位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不接受預約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endParaRPr lang="en-US" altLang="zh-TW" sz="105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600" b="1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藍冰洞探險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4H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r>
              <a:rPr lang="en-US" altLang="zh-TW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ISK 23,900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1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6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6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赫本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鎮  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霍芬旅館</a:t>
            </a:r>
            <a:endParaRPr lang="en-US" altLang="zh-TW" sz="1600" b="1" dirty="0">
              <a:solidFill>
                <a:srgbClr val="FF505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endParaRPr lang="en-US" altLang="zh-TW" sz="1100" b="1" dirty="0">
              <a:solidFill>
                <a:srgbClr val="FF505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6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guide of </a:t>
            </a:r>
            <a:r>
              <a:rPr lang="en-US" altLang="zh-TW" sz="1600" b="1" dirty="0" err="1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vatnajokull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2.5~4hr </a:t>
            </a:r>
            <a:r>
              <a:rPr lang="en-US" altLang="zh-TW" sz="16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$6,178</a:t>
            </a:r>
          </a:p>
        </p:txBody>
      </p:sp>
    </p:spTree>
    <p:extLst>
      <p:ext uri="{BB962C8B-B14F-4D97-AF65-F5344CB8AC3E}">
        <p14:creationId xmlns:p14="http://schemas.microsoft.com/office/powerpoint/2010/main" val="2958365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3/7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－東峽灣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(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封路機率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15~25%/</a:t>
            </a:r>
            <a:r>
              <a:rPr lang="en-US" altLang="zh-TW" b="1" dirty="0" err="1">
                <a:solidFill>
                  <a:schemeClr val="bg1"/>
                </a:solidFill>
                <a:ea typeface="SimSun" panose="02010600030101010101" pitchFamily="2" charset="-122"/>
              </a:rPr>
              <a:t>planB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)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790382" cy="5283200"/>
          </a:xfrm>
        </p:spPr>
        <p:txBody>
          <a:bodyPr anchor="ctr" anchorCtr="0"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zh-TW" altLang="en-US" sz="20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08:30</a:t>
            </a:r>
            <a:r>
              <a:rPr lang="zh-TW" altLang="en-US" sz="2000" b="1" u="non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赫本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鎮 →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天空之鏡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(15M)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橘色燈塔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(50M)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迪尤皮沃格爾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漁港</a:t>
            </a:r>
            <a:r>
              <a:rPr lang="en-US" altLang="zh-TW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45M</a:t>
            </a:r>
            <a:r>
              <a:rPr lang="en-US" altLang="zh-TW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哈洛姆斯塔德森林</a:t>
            </a:r>
            <a:r>
              <a:rPr lang="en-US" altLang="zh-TW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(1H40M)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埃伊爾斯塔濟</a:t>
            </a:r>
            <a:r>
              <a:rPr lang="en-US" altLang="zh-TW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(30M)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000" b="1" u="none" strike="noStrike" dirty="0"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時速降到 </a:t>
            </a:r>
            <a:r>
              <a:rPr lang="en-US" altLang="zh-TW" sz="2000" b="1" u="none" strike="noStrike" dirty="0"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60-70 </a:t>
            </a:r>
            <a:r>
              <a:rPr lang="zh-TW" altLang="en-US" sz="2000" b="1" u="none" strike="noStrike" dirty="0"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公里，走一號公路</a:t>
            </a:r>
            <a:endParaRPr lang="en-US" altLang="zh-TW" sz="2000" b="1" u="none" strike="noStrike" dirty="0">
              <a:solidFill>
                <a:srgbClr val="FFC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08:45~09:45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Vestrahorn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天空之鏡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蝙蝠山</a:t>
            </a:r>
            <a:r>
              <a:rPr lang="en-US" altLang="zh-TW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$$$</a:t>
            </a:r>
            <a:r>
              <a:rPr lang="zh-TW" altLang="en-US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門票</a:t>
            </a:r>
            <a:r>
              <a:rPr lang="en-US" altLang="zh-TW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260</a:t>
            </a:r>
            <a:r>
              <a:rPr lang="zh-TW" altLang="en-US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未加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10:35~11:15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Hvalnes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Lighthouse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橘色燈塔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黑沙灘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12:00~13:00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漁港、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Eggin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l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gleoivik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14:40~15:30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森林、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Lagarfljót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拉加爾湖尋找傳說中的冰島水怪</a:t>
            </a:r>
            <a:endParaRPr lang="en-US" altLang="zh-TW" sz="13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16:00~17:15</a:t>
            </a:r>
            <a:r>
              <a:rPr lang="zh-TW" altLang="en-US" sz="2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1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埃伊爾斯塔濟加油</a:t>
            </a:r>
            <a:r>
              <a:rPr lang="zh-TW" altLang="en-US" sz="2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、小豬超市、住宿</a:t>
            </a:r>
            <a:r>
              <a:rPr lang="en-US" altLang="zh-TW" sz="2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1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17:30~20:00 </a:t>
            </a:r>
            <a:r>
              <a:rPr lang="en-US" altLang="zh-TW" sz="2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泡湯</a:t>
            </a:r>
            <a:endParaRPr lang="en-US" altLang="zh-TW" sz="21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0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vok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baths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地熱溫泉　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000" b="1" strike="sngStrik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尋找水怪</a:t>
            </a:r>
            <a:endParaRPr lang="en-US" altLang="zh-TW" sz="2000" b="1" strike="sngStrike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000" b="1" strike="sngStrike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0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埃伊爾斯塔濟  </a:t>
            </a:r>
            <a:r>
              <a:rPr kumimoji="0" lang="zh-TW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 Light" panose="020B0304030504040204" pitchFamily="34" charset="-120"/>
                <a:ea typeface="微軟正黑體 Light" panose="020B0304030504040204" pitchFamily="34" charset="-120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美吉里度假屋</a:t>
            </a:r>
            <a:endParaRPr lang="en-US" altLang="zh-TW" sz="13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4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0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0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地熱溫泉</a:t>
            </a:r>
            <a:r>
              <a:rPr lang="en-US" altLang="zh-TW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$2,000 </a:t>
            </a:r>
            <a:r>
              <a:rPr lang="zh-TW" altLang="en-US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元／人</a:t>
            </a:r>
            <a:r>
              <a:rPr lang="en-US" altLang="zh-TW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前兩個月訂</a:t>
            </a:r>
            <a:r>
              <a:rPr lang="en-US" altLang="zh-TW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6449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3/8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－東北部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(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封路機率</a:t>
            </a:r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30~40%)/plan b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105034"/>
          </a:xfrm>
        </p:spPr>
        <p:txBody>
          <a:bodyPr anchor="ctr" anchorCtr="0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sz="20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08:00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埃伊爾斯塔濟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地熱谷</a:t>
            </a:r>
            <a:r>
              <a:rPr lang="en-US" altLang="zh-TW" sz="2000" b="1" strike="noStrike" dirty="0">
                <a:solidFill>
                  <a:srgbClr val="FF5050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</a:t>
            </a:r>
            <a:r>
              <a:rPr lang="en-US" altLang="zh-TW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(2H)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火山區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(25M)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Grjótagjá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地裂縫山洞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(25M)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黑色城堡</a:t>
            </a:r>
            <a:r>
              <a:rPr lang="en-US" altLang="zh-TW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(15M)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偽火山口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(20M)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米湖</a:t>
            </a:r>
            <a:r>
              <a:rPr lang="en-US" altLang="zh-TW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(20M)</a:t>
            </a:r>
            <a:r>
              <a:rPr lang="zh-TW" altLang="en-US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穿冰爪</a:t>
            </a:r>
            <a:r>
              <a:rPr lang="en-US" altLang="zh-TW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車速</a:t>
            </a:r>
            <a:r>
              <a:rPr lang="en-US" altLang="zh-TW" sz="20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50/60km) </a:t>
            </a:r>
          </a:p>
          <a:p>
            <a:pPr>
              <a:lnSpc>
                <a:spcPct val="110000"/>
              </a:lnSpc>
            </a:pPr>
            <a:r>
              <a:rPr lang="zh-TW" altLang="en-US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15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10:00~11:00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5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hverir</a:t>
            </a:r>
            <a:r>
              <a:rPr lang="zh-TW" altLang="en-US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地熱谷</a:t>
            </a:r>
            <a:endParaRPr lang="en-US" altLang="zh-TW" sz="15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15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11:25~12:15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500" b="1" strike="sngStrik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Krafla</a:t>
            </a:r>
            <a:r>
              <a:rPr lang="zh-TW" altLang="en-US" sz="1500" b="1" strike="sngStrik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火山區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</a:t>
            </a:r>
            <a:r>
              <a:rPr lang="zh-TW" altLang="en-US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月通往火山口湖的支路若積雪太厚，車子只能開到地熱發電廠附近遠眺。若路口顯示封閉，切勿強行開入。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15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12:40~13:00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zh-TW" altLang="en-US" sz="16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地裂縫山洞</a:t>
            </a:r>
            <a:endParaRPr lang="en-US" altLang="zh-TW" sz="15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15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13:05~14:40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500" b="1" dirty="0" err="1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Vogafjos</a:t>
            </a:r>
            <a:r>
              <a:rPr lang="en-US" altLang="zh-TW" sz="15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farm resort </a:t>
            </a:r>
            <a:r>
              <a:rPr lang="zh-TW" altLang="en-US" sz="15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吃午餐</a:t>
            </a:r>
            <a:r>
              <a:rPr lang="en-US" altLang="zh-TW" sz="15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5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第三間，現場候位</a:t>
            </a:r>
            <a:r>
              <a:rPr lang="en-US" altLang="zh-TW" sz="15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15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15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14:55~15:45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5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Dimmuborgir</a:t>
            </a:r>
            <a:r>
              <a:rPr lang="zh-TW" altLang="en-US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黑色城堡</a:t>
            </a:r>
            <a:endParaRPr lang="en-US" altLang="zh-TW" sz="15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15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16:05~16:50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5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Skútustaðagígar</a:t>
            </a:r>
            <a:r>
              <a:rPr lang="zh-TW" altLang="en-US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偽火山口</a:t>
            </a:r>
            <a:endParaRPr lang="en-US" altLang="zh-TW" sz="15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15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17:10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check</a:t>
            </a:r>
            <a:r>
              <a:rPr lang="zh-TW" altLang="en-US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5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1500" b="1" u="none" strike="noStrike" dirty="0">
                <a:solidFill>
                  <a:srgbClr val="D97D4B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17:30~20:00</a:t>
            </a:r>
            <a:r>
              <a:rPr lang="en-US" altLang="zh-TW" sz="15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5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泡溫泉、</a:t>
            </a:r>
            <a:r>
              <a:rPr lang="zh-TW" altLang="en-US" sz="1500" b="1" u="none" strike="noStrike" dirty="0">
                <a:solidFill>
                  <a:srgbClr val="92D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回米湖加油</a:t>
            </a:r>
            <a:endParaRPr lang="en-US" altLang="zh-TW" sz="1500" b="1" u="none" strike="noStrike" dirty="0">
              <a:solidFill>
                <a:srgbClr val="92D05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TW" sz="60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0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1.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myvatn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nature baths</a:t>
            </a:r>
            <a:r>
              <a:rPr lang="zh-TW" altLang="en-US" sz="2000" b="1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泡溫泉</a:t>
            </a:r>
            <a:r>
              <a:rPr lang="en-US" altLang="zh-TW" sz="2000" b="1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(1.5~2h)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　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狩獵極光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(myvatn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湖附近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TW" sz="5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0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0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米湖 </a:t>
            </a:r>
            <a:r>
              <a:rPr lang="zh-TW" altLang="en-US" sz="2000" b="1" strike="noStrike" dirty="0">
                <a:solidFill>
                  <a:srgbClr val="FF5050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</a:t>
            </a:r>
            <a:r>
              <a:rPr lang="en-US" altLang="zh-TW" sz="2000" b="1" strike="noStrike" dirty="0" err="1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Svartaborg</a:t>
            </a:r>
            <a:endParaRPr lang="en-US" altLang="zh-TW" sz="600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0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myvatn nature baths</a:t>
            </a:r>
            <a:r>
              <a:rPr lang="en-US" altLang="zh-TW" sz="20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$2100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前兩個月訂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0797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3/9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－北部（鑽石圈）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754" y="1579419"/>
            <a:ext cx="10716491" cy="4802908"/>
          </a:xfrm>
        </p:spPr>
        <p:txBody>
          <a:bodyPr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TW" altLang="en-US" sz="18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18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09:00</a:t>
            </a:r>
            <a:r>
              <a:rPr lang="zh-TW" altLang="en-US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米湖景區 → </a:t>
            </a:r>
            <a:r>
              <a:rPr lang="en-US" altLang="zh-TW" sz="18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grjotagia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洞穴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(15M)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zh-TW" altLang="en-US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眾神瀑布</a:t>
            </a:r>
            <a:r>
              <a:rPr lang="en-US" altLang="zh-TW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(1H)</a:t>
            </a:r>
            <a:r>
              <a:rPr lang="zh-TW" altLang="en-US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瓦拉森林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(40M)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</a:t>
            </a:r>
            <a:r>
              <a:rPr lang="zh-TW" altLang="en-US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阿克雷里</a:t>
            </a:r>
            <a:r>
              <a:rPr lang="en-US" altLang="zh-TW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(35M)</a:t>
            </a:r>
          </a:p>
          <a:p>
            <a:pPr marL="0" indent="0">
              <a:buNone/>
            </a:pPr>
            <a:endParaRPr lang="en-US" altLang="zh-TW" sz="1800" b="1" u="none" strike="noStrike" dirty="0">
              <a:solidFill>
                <a:srgbClr val="FF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09:15~09:45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洞穴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10:45~11:45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8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Gooafoss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眾神瀑布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12:25~13:10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8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Vaglaskógur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森林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13:45~14:45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阿克雷里教堂、超市補給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18:30~20:30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Strikio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第四間，先訂位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endParaRPr lang="en-US" altLang="zh-TW" sz="1800" b="1" u="none" strike="sng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1.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三大冬日奇景 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市區漫步（追光）</a:t>
            </a:r>
            <a:endParaRPr lang="en-US" altLang="zh-TW" sz="18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endParaRPr lang="en-US" altLang="zh-TW" sz="18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8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阿克雷里 </a:t>
            </a:r>
            <a:r>
              <a:rPr lang="en-US" altLang="zh-TW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Heiðin Homes Villas</a:t>
            </a:r>
            <a:endParaRPr lang="en-US" altLang="zh-TW" sz="18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7321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5F167A3-9EEF-4CDE-8ECF-0A59F06A8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93"/>
          <a:stretch/>
        </p:blipFill>
        <p:spPr>
          <a:xfrm>
            <a:off x="571500" y="1"/>
            <a:ext cx="11049000" cy="6858000"/>
          </a:xfrm>
        </p:spPr>
      </p:pic>
    </p:spTree>
    <p:extLst>
      <p:ext uri="{BB962C8B-B14F-4D97-AF65-F5344CB8AC3E}">
        <p14:creationId xmlns:p14="http://schemas.microsoft.com/office/powerpoint/2010/main" val="4287137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3/10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－北境遊</a:t>
            </a:r>
            <a:r>
              <a:rPr lang="en-US" altLang="zh-TW" b="1" dirty="0" err="1">
                <a:solidFill>
                  <a:schemeClr val="bg1"/>
                </a:solidFill>
                <a:ea typeface="SimSun" panose="02010600030101010101" pitchFamily="2" charset="-122"/>
              </a:rPr>
              <a:t>planA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136" y="1828800"/>
            <a:ext cx="10867737" cy="4479637"/>
          </a:xfrm>
        </p:spPr>
        <p:txBody>
          <a:bodyPr anchor="ctr" anchorCtr="0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zh-TW" altLang="en-US" sz="18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18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09:10</a:t>
            </a:r>
            <a:r>
              <a:rPr lang="zh-TW" altLang="en-US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阿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克</a:t>
            </a:r>
            <a:r>
              <a:rPr lang="zh-TW" altLang="en-US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雷里 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Go Husky(30M)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市區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(30M)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Polar Hestar(50M) 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forest lagoon(50M)</a:t>
            </a:r>
            <a:endParaRPr lang="en-US" altLang="zh-TW" sz="18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2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10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09:40 : 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雪橇犬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10:00~12:00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12:30~13:00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吃午餐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13:50</a:t>
            </a:r>
            <a:r>
              <a:rPr lang="zh-TW" altLang="en-US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冰島馬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14:00~16:00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17:30~20:00</a:t>
            </a:r>
            <a:r>
              <a:rPr lang="zh-TW" altLang="en-US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8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forest lagoon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18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8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阿克雷里</a:t>
            </a:r>
            <a:endParaRPr lang="en-US" altLang="zh-TW" sz="18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8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Polar </a:t>
            </a:r>
            <a:r>
              <a:rPr lang="en-US" altLang="zh-TW" sz="1800" b="1" dirty="0" err="1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hestar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2h </a:t>
            </a:r>
            <a:r>
              <a:rPr lang="en-US" altLang="zh-TW" sz="18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$3876 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Husky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十月預約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2h</a:t>
            </a:r>
            <a:r>
              <a:rPr lang="en-US" altLang="zh-TW" sz="18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$10300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forest lagoon</a:t>
            </a:r>
            <a:r>
              <a:rPr lang="zh-TW" altLang="en-US" sz="18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18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$2600</a:t>
            </a:r>
          </a:p>
        </p:txBody>
      </p:sp>
    </p:spTree>
    <p:extLst>
      <p:ext uri="{BB962C8B-B14F-4D97-AF65-F5344CB8AC3E}">
        <p14:creationId xmlns:p14="http://schemas.microsoft.com/office/powerpoint/2010/main" val="1424248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31BB-1B9F-86CB-BDCB-6B7C7371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C360BC1-B06F-0382-E16D-1797DA1B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3/11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－保留日</a:t>
            </a:r>
            <a:r>
              <a:rPr lang="en-US" altLang="zh-TW" b="1" dirty="0" err="1">
                <a:solidFill>
                  <a:schemeClr val="bg1"/>
                </a:solidFill>
                <a:ea typeface="SimSun" panose="02010600030101010101" pitchFamily="2" charset="-122"/>
              </a:rPr>
              <a:t>planB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6F981ABC-BF24-8715-BAFD-953422AC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3381"/>
            <a:ext cx="10515600" cy="4625254"/>
          </a:xfrm>
        </p:spPr>
        <p:txBody>
          <a:bodyPr anchor="ctr" anchorCtr="0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TW" altLang="en-US" sz="20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TW" sz="2000" b="1" u="none" strike="noStrike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逛市區</a:t>
            </a:r>
            <a:r>
              <a:rPr lang="en-US" altLang="zh-TW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雙塔大教堂</a:t>
            </a:r>
            <a:r>
              <a:rPr lang="en-US" altLang="zh-TW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、博物館、咖啡店、紀念品店、</a:t>
            </a:r>
            <a:r>
              <a:rPr lang="en-US" altLang="zh-TW" sz="2000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akureyri</a:t>
            </a:r>
            <a:r>
              <a:rPr lang="en-US" altLang="zh-TW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botanical garden(</a:t>
            </a:r>
            <a:r>
              <a:rPr lang="zh-TW" altLang="en-US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散步</a:t>
            </a:r>
            <a:r>
              <a:rPr lang="en-US" altLang="zh-TW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en-US" altLang="zh-TW" sz="2000" strike="sngStrik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bjorbooin beer spa</a:t>
            </a:r>
            <a:r>
              <a:rPr lang="en-US" altLang="zh-TW" sz="2000" strike="sngStrik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2000" strike="sngStrik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啤酒</a:t>
            </a:r>
            <a:r>
              <a:rPr lang="en-US" altLang="zh-TW" sz="2000" strike="sngStrik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spa)(</a:t>
            </a:r>
            <a:r>
              <a:rPr lang="zh-TW" altLang="en-US" sz="2000" strike="sngStrik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暫停營業</a:t>
            </a:r>
            <a:r>
              <a:rPr lang="en-US" altLang="zh-TW" sz="2000" strike="sngStrik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2000" strike="sngStrike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、植物園</a:t>
            </a:r>
            <a:endParaRPr lang="en-US" altLang="zh-TW" sz="2000" strike="sngStrike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TW" sz="200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0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16:30~18:30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20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Hauganes </a:t>
            </a:r>
            <a:r>
              <a:rPr lang="zh-TW" altLang="en-US" sz="20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海邊木桶</a:t>
            </a:r>
            <a:r>
              <a:rPr lang="zh-TW" altLang="en-US" sz="20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$650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要往北開半小時，看狀況決定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000" b="1" dirty="0">
              <a:solidFill>
                <a:srgbClr val="FFE69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17:30~19:30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akureyri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swimming pool $360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擇一</a:t>
            </a:r>
            <a:endParaRPr lang="en-US" altLang="zh-TW" sz="20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TW" sz="20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0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赫斯塔休閒小屋酒店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TW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0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地熱游泳池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$360</a:t>
            </a:r>
          </a:p>
        </p:txBody>
      </p:sp>
    </p:spTree>
    <p:extLst>
      <p:ext uri="{BB962C8B-B14F-4D97-AF65-F5344CB8AC3E}">
        <p14:creationId xmlns:p14="http://schemas.microsoft.com/office/powerpoint/2010/main" val="1946142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3/12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－西北部（補給站）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46691" cy="4562908"/>
          </a:xfrm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en-US" sz="18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18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布魯迪歐斯 → </a:t>
            </a:r>
            <a:r>
              <a:rPr lang="zh-TW" altLang="en-US" sz="1800" b="1" strike="noStrike" dirty="0">
                <a:solidFill>
                  <a:srgbClr val="8FAADC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赫倫瀑布群</a:t>
            </a:r>
            <a:r>
              <a:rPr lang="en-US" altLang="zh-TW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2H15M</a:t>
            </a:r>
            <a:r>
              <a:rPr lang="en-US" altLang="zh-TW" sz="1800" b="1" strike="noStrike" dirty="0">
                <a:solidFill>
                  <a:schemeClr val="bg1"/>
                </a:solidFill>
                <a:effectLst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溫泉眼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(20M)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博加內斯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(40M)</a:t>
            </a:r>
            <a:endParaRPr lang="en-US" altLang="zh-TW" sz="18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endParaRPr lang="en-US" altLang="zh-TW" sz="1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11:10~11:55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: 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布魯迪歐斯、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n1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加油站、鯨魚教堂</a:t>
            </a:r>
            <a:endParaRPr lang="en-US" altLang="zh-TW" sz="18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14:10~14:55</a:t>
            </a:r>
            <a:r>
              <a:rPr lang="en-US" altLang="zh-TW" sz="1800" b="1" dirty="0">
                <a:solidFill>
                  <a:srgbClr val="8FAADC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 </a:t>
            </a:r>
            <a:r>
              <a:rPr lang="en-US" altLang="zh-TW" sz="18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Hraunfossar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en-US" altLang="zh-TW" sz="1800" b="1" dirty="0" err="1">
                <a:solidFill>
                  <a:srgbClr val="8FAADC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barnafoss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瀑布群旁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15:15~18:30 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en-US" altLang="zh-TW" sz="1800" b="1" dirty="0">
                <a:solidFill>
                  <a:srgbClr val="8FAADC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8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Deildartunguhver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溫泉眼、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800" b="1" strike="sngStrike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Krauma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zh-TW" altLang="en-US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溫泉水療</a:t>
            </a:r>
            <a:r>
              <a:rPr lang="en-US" altLang="zh-TW" sz="18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16:00~18:30</a:t>
            </a:r>
            <a:endParaRPr lang="en-US" altLang="zh-TW" sz="1800" b="1" dirty="0">
              <a:solidFill>
                <a:srgbClr val="FF505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19:15~21:00 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sz="18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8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settlement center restaurant</a:t>
            </a:r>
            <a:r>
              <a:rPr lang="zh-TW" altLang="en-US" sz="18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18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8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第五間，先預約</a:t>
            </a:r>
            <a:r>
              <a:rPr lang="en-US" altLang="zh-TW" sz="18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8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8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：博加爾內斯  </a:t>
            </a:r>
            <a:r>
              <a:rPr lang="nb-NO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Hítarneskot - Private hot tub Cottages</a:t>
            </a:r>
            <a:endParaRPr lang="en-US" altLang="zh-TW" sz="1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800" b="1" strike="noStrik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8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Krauma </a:t>
            </a:r>
            <a:r>
              <a:rPr lang="zh-TW" altLang="en-US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溫泉水療 </a:t>
            </a:r>
            <a:r>
              <a:rPr lang="en-US" altLang="zh-TW" sz="1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$2112</a:t>
            </a:r>
            <a:endParaRPr lang="en-US" altLang="zh-TW" sz="1800" b="1" strike="sngStrike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0472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6BBB6D7-3077-49F5-8A81-9757514E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3/13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－斯奈山半島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6B25653-20B3-415C-928D-A2F100C94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528"/>
            <a:ext cx="10515600" cy="5123506"/>
          </a:xfrm>
        </p:spPr>
        <p:txBody>
          <a:bodyPr anchor="ctr" anchorCtr="0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sz="20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</a:t>
            </a:r>
            <a:r>
              <a:rPr lang="zh-TW" altLang="en-US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07:50</a:t>
            </a:r>
            <a:r>
              <a:rPr lang="zh-TW" altLang="en-US" sz="20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博加內斯加油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</a:t>
            </a:r>
            <a:r>
              <a:rPr lang="en-US" altLang="zh-TW" sz="2000" b="1" u="none" strike="noStrike" dirty="0" err="1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ytri</a:t>
            </a:r>
            <a:r>
              <a:rPr lang="en-US" altLang="zh-TW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u="none" strike="noStrike" dirty="0" err="1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tunga</a:t>
            </a:r>
            <a:r>
              <a:rPr lang="zh-TW" altLang="en-US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海豹沙灘</a:t>
            </a:r>
            <a:r>
              <a:rPr lang="en-US" altLang="zh-TW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1H30</a:t>
            </a:r>
            <a:r>
              <a:rPr lang="en-US" altLang="zh-TW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M)</a:t>
            </a:r>
            <a:r>
              <a:rPr lang="zh-TW" altLang="en-US" sz="2000" b="1" u="none" strike="noStrike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黑教堂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(20M)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arnarstapi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阿納斯塔皮</a:t>
            </a:r>
            <a:r>
              <a:rPr lang="en-US" altLang="zh-TW" sz="20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(15M)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怪物海岸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(15M)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黑沙灘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(10M)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教會山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(1H)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→ 凱夫拉維克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(4H)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TW" sz="11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09:30~10:15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海豹沙灘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10:35~11:05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黑教堂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11:20~12:20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塔皮小漁村、惡魔石橋（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Gatklettur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12:35~12:55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怪物海岸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13:05~13:50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黑沙灘</a:t>
            </a:r>
            <a:endParaRPr lang="en-US" altLang="zh-TW" sz="2000" b="1" dirty="0">
              <a:solidFill>
                <a:schemeClr val="accent6">
                  <a:lumMod val="60000"/>
                  <a:lumOff val="4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14:50~15:50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教會山、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Grundarfjörður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小鎮吃午餐、</a:t>
            </a:r>
            <a:r>
              <a:rPr lang="zh-TW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加油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000" b="1" u="none" strike="noStrike" dirty="0">
              <a:solidFill>
                <a:schemeClr val="bg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0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b="1" u="none" dirty="0">
              <a:solidFill>
                <a:schemeClr val="bg1"/>
              </a:solidFill>
              <a:effectLst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2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0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：首都   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Northern Lights Luxury w Hot Tub 10 min to city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9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0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b="1" dirty="0">
              <a:solidFill>
                <a:srgbClr val="FF5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9518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4C43-767B-52EB-2945-0CDFC982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0D176D-1F61-CD21-E9D1-2B7FBE26B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76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3/14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－首都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86E924-04B1-3802-E80A-44547B3B6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49" y="1463662"/>
            <a:ext cx="11306924" cy="5209309"/>
          </a:xfrm>
        </p:spPr>
        <p:txBody>
          <a:bodyPr anchor="ctr" anchorCtr="0">
            <a:normAutofit fontScale="85000" lnSpcReduction="20000"/>
          </a:bodyPr>
          <a:lstStyle/>
          <a:p>
            <a:r>
              <a:rPr lang="zh-TW" altLang="en-US" sz="20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路線 </a:t>
            </a:r>
            <a:r>
              <a:rPr lang="en-US" altLang="zh-TW" sz="20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b="1" u="none" strike="noStrike" dirty="0">
                <a:solidFill>
                  <a:srgbClr val="B54949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首都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→ 藍湖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(50M)/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豪姆斯維克溫泉 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Hvammsvík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endParaRPr lang="en-US" altLang="zh-TW" sz="2000" b="1" dirty="0">
              <a:solidFill>
                <a:srgbClr val="90D7F3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endParaRPr lang="en-US" altLang="zh-TW" sz="1400" b="1" u="none" strike="noStrike" dirty="0">
              <a:solidFill>
                <a:srgbClr val="0563C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0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10:00~11:30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哈爾格林姆教堂、彩虹街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(20m)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、太陽航海者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(30m)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11:30~13:30</a:t>
            </a:r>
            <a:r>
              <a:rPr lang="en-US" altLang="zh-TW" sz="16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 err="1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Sjávargrillið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</a:t>
            </a:r>
            <a:r>
              <a:rPr lang="zh-TW" altLang="en-US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第六間，先訂位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吃午餐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(9/1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訂位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13:30~16:30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  <a:r>
              <a:rPr lang="en-US" altLang="zh-TW" sz="16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laugavegur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購物街、熱狗</a:t>
            </a:r>
            <a:r>
              <a:rPr lang="en-US" altLang="zh-TW" sz="16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Bæjarins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Beztu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Pylsur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3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(one with everything)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、哈帕音樂廳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(30m)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16:30~17:15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 bonus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超市補貨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17:15~18:00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回住宿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Check in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、放食材、換泳衣帶毛巾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18:00</a:t>
            </a:r>
            <a:r>
              <a:rPr lang="zh-TW" altLang="en-US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出發</a:t>
            </a:r>
            <a:r>
              <a:rPr lang="en-US" altLang="zh-TW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19:00~21:30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藍湖溫泉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TW" altLang="en-US" sz="1600" b="1" dirty="0">
                <a:solidFill>
                  <a:srgbClr val="D97D4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晚上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en-US" altLang="zh-TW" sz="16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grotta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燈塔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有機會看到極光，危險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0" indent="0">
              <a:buNone/>
            </a:pPr>
            <a:endParaRPr lang="en-US" altLang="zh-TW" sz="1400" b="1" u="none" strike="noStrike" dirty="0">
              <a:solidFill>
                <a:srgbClr val="0563C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體驗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1.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買紀念品 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泡溫泉 </a:t>
            </a:r>
            <a:r>
              <a:rPr lang="en-US" altLang="zh-TW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3.</a:t>
            </a:r>
            <a:r>
              <a:rPr lang="zh-TW" altLang="en-US" sz="20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住宿看極光</a:t>
            </a:r>
            <a:endParaRPr lang="en-US" altLang="zh-TW" sz="20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endParaRPr lang="en-US" altLang="zh-TW" sz="1400" b="1" dirty="0">
              <a:solidFill>
                <a:srgbClr val="D9A74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住宿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KEF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</a:t>
            </a:r>
            <a:r>
              <a:rPr lang="en-US" altLang="zh-TW" sz="2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Hafnir</a:t>
            </a:r>
            <a:endParaRPr lang="en-US" altLang="zh-TW" sz="2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2000" b="1" dirty="0">
              <a:solidFill>
                <a:srgbClr val="FF505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2000" b="1" dirty="0">
                <a:solidFill>
                  <a:srgbClr val="4068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道具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19:00</a:t>
            </a:r>
            <a:r>
              <a:rPr lang="en-US" altLang="zh-TW" sz="21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 Lagoon</a:t>
            </a:r>
            <a:r>
              <a:rPr lang="zh-TW" altLang="en-US" sz="21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17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Comfort</a:t>
            </a:r>
            <a:r>
              <a:rPr lang="zh-TW" altLang="en-US" sz="17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（基本票）</a:t>
            </a:r>
            <a:r>
              <a:rPr lang="zh-TW" altLang="en-US" sz="17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人數確定就先訂</a:t>
            </a:r>
            <a:endParaRPr lang="en-US" altLang="zh-TW" sz="20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6568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群組 35">
            <a:extLst>
              <a:ext uri="{FF2B5EF4-FFF2-40B4-BE49-F238E27FC236}">
                <a16:creationId xmlns:a16="http://schemas.microsoft.com/office/drawing/2014/main" id="{B0CB71EB-7FD5-4C75-815A-5FA26F524F73}"/>
              </a:ext>
            </a:extLst>
          </p:cNvPr>
          <p:cNvGrpSpPr/>
          <p:nvPr/>
        </p:nvGrpSpPr>
        <p:grpSpPr>
          <a:xfrm>
            <a:off x="0" y="-9525"/>
            <a:ext cx="12192000" cy="6867525"/>
            <a:chOff x="0" y="-9525"/>
            <a:chExt cx="12192000" cy="6867525"/>
          </a:xfrm>
        </p:grpSpPr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77A65965-8638-43D0-BF62-B53E4C6ADF0D}"/>
                </a:ext>
              </a:extLst>
            </p:cNvPr>
            <p:cNvGrpSpPr/>
            <p:nvPr/>
          </p:nvGrpSpPr>
          <p:grpSpPr>
            <a:xfrm>
              <a:off x="0" y="-9525"/>
              <a:ext cx="12192000" cy="6867525"/>
              <a:chOff x="0" y="-9525"/>
              <a:chExt cx="12192000" cy="6867525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D0590B63-8723-4885-A0FE-2A8A70EE3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1999" cy="6858000"/>
              </a:xfrm>
              <a:prstGeom prst="rect">
                <a:avLst/>
              </a:prstGeom>
            </p:spPr>
          </p:pic>
          <p:pic>
            <p:nvPicPr>
              <p:cNvPr id="26" name="圖形 25" descr="皇冠 以實心填滿">
                <a:extLst>
                  <a:ext uri="{FF2B5EF4-FFF2-40B4-BE49-F238E27FC236}">
                    <a16:creationId xmlns:a16="http://schemas.microsoft.com/office/drawing/2014/main" id="{D2A3793C-4D48-4F9E-BC5C-61E14FAEC3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10114" y="3328989"/>
                <a:ext cx="371474" cy="371474"/>
              </a:xfrm>
              <a:prstGeom prst="rect">
                <a:avLst/>
              </a:prstGeom>
            </p:spPr>
          </p:pic>
          <p:pic>
            <p:nvPicPr>
              <p:cNvPr id="28" name="圖形 27" descr="皇冠 以實心填滿">
                <a:extLst>
                  <a:ext uri="{FF2B5EF4-FFF2-40B4-BE49-F238E27FC236}">
                    <a16:creationId xmlns:a16="http://schemas.microsoft.com/office/drawing/2014/main" id="{7F1DA4E6-5EB7-45E7-BD05-D2CD78D304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814763" y="2721771"/>
                <a:ext cx="371474" cy="371474"/>
              </a:xfrm>
              <a:prstGeom prst="rect">
                <a:avLst/>
              </a:prstGeom>
            </p:spPr>
          </p:pic>
          <p:pic>
            <p:nvPicPr>
              <p:cNvPr id="29" name="圖形 28" descr="皇冠 以實心填滿">
                <a:extLst>
                  <a:ext uri="{FF2B5EF4-FFF2-40B4-BE49-F238E27FC236}">
                    <a16:creationId xmlns:a16="http://schemas.microsoft.com/office/drawing/2014/main" id="{C9C33DF6-C5C2-40A3-BF0F-01D713BB1A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890963" y="5257800"/>
                <a:ext cx="371474" cy="371474"/>
              </a:xfrm>
              <a:prstGeom prst="rect">
                <a:avLst/>
              </a:prstGeom>
            </p:spPr>
          </p:pic>
          <p:pic>
            <p:nvPicPr>
              <p:cNvPr id="30" name="圖形 29" descr="皇冠 以實心填滿">
                <a:extLst>
                  <a:ext uri="{FF2B5EF4-FFF2-40B4-BE49-F238E27FC236}">
                    <a16:creationId xmlns:a16="http://schemas.microsoft.com/office/drawing/2014/main" id="{BB61FE36-B223-464B-90AF-9233ECE792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38688" y="1140620"/>
                <a:ext cx="371474" cy="371474"/>
              </a:xfrm>
              <a:prstGeom prst="rect">
                <a:avLst/>
              </a:prstGeom>
            </p:spPr>
          </p:pic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20412F9-4BD6-449A-8865-159A5D3CBB45}"/>
                  </a:ext>
                </a:extLst>
              </p:cNvPr>
              <p:cNvSpPr/>
              <p:nvPr/>
            </p:nvSpPr>
            <p:spPr>
              <a:xfrm>
                <a:off x="7924800" y="-9525"/>
                <a:ext cx="4267200" cy="1428750"/>
              </a:xfrm>
              <a:prstGeom prst="rect">
                <a:avLst/>
              </a:prstGeom>
              <a:solidFill>
                <a:srgbClr val="B549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3500" b="1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冰島市中心</a:t>
                </a:r>
                <a:endParaRPr lang="en-US" altLang="zh-TW" sz="35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ctr"/>
                <a:r>
                  <a:rPr lang="zh-TW" altLang="en-US" sz="3500" b="1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雷克雅維克景點地圖</a:t>
                </a:r>
                <a:endParaRPr lang="en-US" altLang="zh-TW" sz="35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pic>
          <p:nvPicPr>
            <p:cNvPr id="38" name="圖形 37" descr="皇冠 以實心填滿">
              <a:extLst>
                <a:ext uri="{FF2B5EF4-FFF2-40B4-BE49-F238E27FC236}">
                  <a16:creationId xmlns:a16="http://schemas.microsoft.com/office/drawing/2014/main" id="{14D76FC4-403B-4269-BC50-4F1C33E4EFD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87478" y="2493502"/>
              <a:ext cx="371474" cy="371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5929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C74549-9046-4BAE-9028-1CF713B2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ea typeface="SimSun" panose="02010600030101010101" pitchFamily="2" charset="-122"/>
              </a:rPr>
              <a:t>3/15</a:t>
            </a:r>
            <a:r>
              <a:rPr lang="zh-TW" altLang="en-US" b="1" dirty="0">
                <a:solidFill>
                  <a:schemeClr val="bg1"/>
                </a:solidFill>
                <a:ea typeface="SimSun" panose="02010600030101010101" pitchFamily="2" charset="-122"/>
              </a:rPr>
              <a:t>－返程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B64142-AA56-4B7C-9B74-0F3526E25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0"/>
            <a:ext cx="10515600" cy="4996585"/>
          </a:xfrm>
        </p:spPr>
        <p:txBody>
          <a:bodyPr anchor="ctr" anchorCtr="0">
            <a:normAutofit/>
          </a:bodyPr>
          <a:lstStyle/>
          <a:p>
            <a:r>
              <a:rPr lang="en-US" altLang="zh-TW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3/15</a:t>
            </a:r>
          </a:p>
          <a:p>
            <a:pPr marL="0" indent="0">
              <a:buNone/>
            </a:pPr>
            <a:r>
              <a:rPr lang="en-US" altLang="zh-TW" sz="1600" b="1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03:00 </a:t>
            </a:r>
            <a:r>
              <a:rPr lang="zh-TW" altLang="en-US" sz="1600" b="1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起床整理行李</a:t>
            </a:r>
            <a:r>
              <a:rPr lang="en-US" altLang="zh-TW" sz="1600" b="1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600" b="1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吃早餐</a:t>
            </a:r>
            <a:endParaRPr lang="en-US" altLang="zh-TW" sz="1600" b="1" u="none" strike="noStrike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04:00</a:t>
            </a:r>
            <a:r>
              <a:rPr lang="zh-TW" altLang="en-US" sz="1600" b="1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從</a:t>
            </a:r>
            <a:r>
              <a:rPr lang="zh-TW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小屋</a:t>
            </a:r>
            <a:r>
              <a:rPr lang="zh-TW" altLang="en-US" sz="1600" b="1" u="none" strike="noStrike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出發</a:t>
            </a:r>
            <a:endParaRPr lang="en-US" altLang="zh-TW" sz="1600" b="1" u="none" strike="noStrike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6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05</a:t>
            </a:r>
            <a:r>
              <a:rPr lang="en-US" altLang="zh-TW" sz="1600" b="1" u="none" strike="noStrike" dirty="0">
                <a:solidFill>
                  <a:srgbClr val="FF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:00 </a:t>
            </a:r>
            <a:r>
              <a:rPr lang="zh-TW" altLang="en-US" sz="1600" b="1" u="none" strike="noStrike" dirty="0">
                <a:solidFill>
                  <a:srgbClr val="FF5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抵達</a:t>
            </a:r>
            <a:r>
              <a:rPr lang="en-US" altLang="zh-TW" sz="1600" b="1" dirty="0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KEF</a:t>
            </a:r>
          </a:p>
          <a:p>
            <a:pPr marL="0" indent="0">
              <a:buNone/>
            </a:pPr>
            <a:r>
              <a:rPr lang="en-US" altLang="zh-TW" sz="16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05:00~06:00 : </a:t>
            </a:r>
            <a:r>
              <a:rPr lang="zh-TW" altLang="en-US" sz="16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還車</a:t>
            </a:r>
            <a:r>
              <a:rPr lang="en-US" altLang="zh-TW" sz="16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6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報到</a:t>
            </a:r>
            <a:r>
              <a:rPr lang="en-US" altLang="zh-TW" sz="16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托</a:t>
            </a:r>
            <a:r>
              <a:rPr lang="zh-TW" altLang="en-US" sz="1600" b="1" u="none" strike="noStrike" dirty="0">
                <a:solidFill>
                  <a:srgbClr val="8FAAD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運</a:t>
            </a:r>
            <a:endParaRPr lang="en-US" altLang="zh-TW" sz="1600" b="1" u="none" strike="noStrike" dirty="0">
              <a:solidFill>
                <a:srgbClr val="8FAADC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16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06:00~06:40</a:t>
            </a:r>
            <a:r>
              <a:rPr lang="zh-TW" altLang="en-US" sz="16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安檢</a:t>
            </a:r>
            <a:r>
              <a:rPr lang="en-US" altLang="zh-TW" sz="16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8FAAD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出境</a:t>
            </a:r>
            <a:endParaRPr lang="en-US" altLang="zh-TW" sz="1600" b="1" u="none" strike="noStrike" dirty="0">
              <a:solidFill>
                <a:srgbClr val="8FAADC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sz="1600" b="1" u="none" strike="noStrike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08:00 </a:t>
            </a:r>
            <a:r>
              <a:rPr lang="zh-TW" altLang="en-US" sz="16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起飛 → </a:t>
            </a:r>
            <a:r>
              <a:rPr lang="en-US" altLang="zh-TW" sz="16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2h45m </a:t>
            </a:r>
            <a:r>
              <a:rPr lang="zh-TW" altLang="en-US" sz="16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6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10:45 </a:t>
            </a:r>
            <a:r>
              <a:rPr lang="zh-TW" altLang="en-US" sz="16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曼徹斯特 → 轉機</a:t>
            </a:r>
            <a:r>
              <a:rPr lang="en-US" altLang="zh-TW" sz="1600" b="1" dirty="0">
                <a:solidFill>
                  <a:srgbClr val="90D7F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(2h30m)</a:t>
            </a:r>
          </a:p>
          <a:p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13:15</a:t>
            </a:r>
            <a:r>
              <a:rPr lang="zh-TW" altLang="en-US" sz="1600" b="1" dirty="0">
                <a:solidFill>
                  <a:srgbClr val="D9A7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曼徹斯特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7h10m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3/16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00:25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杜拜 → 候機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(3h15m)</a:t>
            </a:r>
          </a:p>
          <a:p>
            <a:pPr marL="0" indent="0">
              <a:buNone/>
            </a:pPr>
            <a:endParaRPr lang="en-US" altLang="zh-TW" sz="1600" b="1" dirty="0">
              <a:solidFill>
                <a:srgbClr val="D9A74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3/16</a:t>
            </a:r>
            <a:r>
              <a:rPr lang="zh-TW" altLang="en-US" sz="16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03:40</a:t>
            </a:r>
            <a:r>
              <a:rPr lang="zh-TW" altLang="en-US" sz="1600" b="1" dirty="0">
                <a:solidFill>
                  <a:srgbClr val="4A70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杜拜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7h55m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15:35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TPE</a:t>
            </a:r>
          </a:p>
        </p:txBody>
      </p:sp>
    </p:spTree>
    <p:extLst>
      <p:ext uri="{BB962C8B-B14F-4D97-AF65-F5344CB8AC3E}">
        <p14:creationId xmlns:p14="http://schemas.microsoft.com/office/powerpoint/2010/main" val="959922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CBC0DEB-BCF6-D83E-08F7-6171D506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3795"/>
          </a:xfrm>
        </p:spPr>
        <p:txBody>
          <a:bodyPr/>
          <a:lstStyle/>
          <a:p>
            <a:pPr algn="ctr"/>
            <a:r>
              <a:rPr lang="zh-TW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行李清單</a:t>
            </a:r>
          </a:p>
        </p:txBody>
      </p:sp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3CAF7254-288A-533B-F520-269C64C89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781" y="1243019"/>
            <a:ext cx="1795166" cy="545468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行前檢查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F733A-DD51-93F2-BA17-CB49C156B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2737" y="2081505"/>
            <a:ext cx="3606525" cy="39908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排汗發熱衣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內層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刷毛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</a:t>
            </a: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羊毛中層*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1~2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羽絨外套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很怕冷建議帶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防水防風外套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*1(</a:t>
            </a:r>
            <a:r>
              <a:rPr lang="en-US" altLang="zh-TW" sz="1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gore-tex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內層褲*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日常長褲*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2(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發熱褲、羊毛褲、機能褲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13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例 </a:t>
            </a:r>
            <a:r>
              <a:rPr lang="en-US" altLang="zh-TW" sz="13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 </a:t>
            </a:r>
            <a:r>
              <a:rPr lang="zh-TW" altLang="en-US" sz="13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美麗諾羊毛底層褲</a:t>
            </a:r>
            <a:r>
              <a:rPr lang="en-US" altLang="zh-TW" sz="13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Uniqlo </a:t>
            </a:r>
            <a:r>
              <a:rPr lang="zh-TW" altLang="en-US" sz="13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發熱褲（較便宜）</a:t>
            </a:r>
            <a:endParaRPr lang="en-US" altLang="zh-TW" sz="1300" dirty="0">
              <a:solidFill>
                <a:schemeClr val="accent4">
                  <a:lumMod val="40000"/>
                  <a:lumOff val="6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防水褲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雨褲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內褲*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14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、內衣、睡衣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32CEC0-CFF3-C4F0-37FC-31E0B2CA1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0449" y="1242068"/>
            <a:ext cx="1917626" cy="546419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穿著部分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7629E55-C6C4-CE9C-67B4-7EEE98338FBD}"/>
              </a:ext>
            </a:extLst>
          </p:cNvPr>
          <p:cNvSpPr txBox="1">
            <a:spLocks/>
          </p:cNvSpPr>
          <p:nvPr/>
        </p:nvSpPr>
        <p:spPr>
          <a:xfrm>
            <a:off x="862056" y="1918131"/>
            <a:ext cx="2972616" cy="48021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行李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最重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25kg)+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後背包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護照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確認效期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國際駕照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台灣駕照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身分證、健保卡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信用卡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*1/visa *1  (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需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pin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碼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機票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Sim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卡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</a:t>
            </a:r>
            <a:r>
              <a:rPr lang="en-US" altLang="zh-TW" sz="1400" dirty="0" err="1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esim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緊急連絡卡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租車確認信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住宿確認信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報團活動確認信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離線地圖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偏遠地區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278AC5D-F6E4-0F3F-34A6-EDBB64CBB344}"/>
              </a:ext>
            </a:extLst>
          </p:cNvPr>
          <p:cNvSpPr txBox="1"/>
          <p:nvPr/>
        </p:nvSpPr>
        <p:spPr>
          <a:xfrm>
            <a:off x="8167582" y="1918131"/>
            <a:ext cx="370165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毛帽*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圍巾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毛茸茸耳罩*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防水保暖手套*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口罩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戶外活動很冷</a:t>
            </a:r>
            <a:r>
              <a:rPr lang="en-US" altLang="zh-TW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暖暖包</a:t>
            </a:r>
            <a:endParaRPr lang="en-US" altLang="zh-TW" sz="1400" dirty="0">
              <a:solidFill>
                <a:schemeClr val="accent4">
                  <a:lumMod val="60000"/>
                  <a:lumOff val="4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拖鞋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*1(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機場、民宿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防水登山鞋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羊毛襪*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、一般棉襪*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（飛機、住宿穿）</a:t>
            </a:r>
            <a:endParaRPr lang="en-US" altLang="zh-TW" sz="1400" dirty="0">
              <a:solidFill>
                <a:schemeClr val="accent4">
                  <a:lumMod val="40000"/>
                  <a:lumOff val="6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冰爪</a:t>
            </a:r>
          </a:p>
        </p:txBody>
      </p:sp>
    </p:spTree>
    <p:extLst>
      <p:ext uri="{BB962C8B-B14F-4D97-AF65-F5344CB8AC3E}">
        <p14:creationId xmlns:p14="http://schemas.microsoft.com/office/powerpoint/2010/main" val="2026694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F2B5-67C1-89E2-A7B4-0CFFB5B5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FF4E259-0C18-7052-A9A1-D4AF2712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3795"/>
          </a:xfrm>
        </p:spPr>
        <p:txBody>
          <a:bodyPr/>
          <a:lstStyle/>
          <a:p>
            <a:pPr algn="ctr"/>
            <a:r>
              <a:rPr lang="zh-TW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行李清單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26282BC-EC11-5528-8689-3AFA6C33B46F}"/>
              </a:ext>
            </a:extLst>
          </p:cNvPr>
          <p:cNvSpPr txBox="1">
            <a:spLocks/>
          </p:cNvSpPr>
          <p:nvPr/>
        </p:nvSpPr>
        <p:spPr>
          <a:xfrm>
            <a:off x="3133780" y="1924531"/>
            <a:ext cx="2752153" cy="431647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歐規轉接頭*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4~6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行充*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4(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不能托運，要放隨身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車窗刮冰器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確認租車有沒有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頭燈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拖車繩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反光背心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確認租車有沒有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洗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潤</a:t>
            </a:r>
            <a:r>
              <a:rPr lang="en-US" altLang="zh-TW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髮精、沐浴乳</a:t>
            </a:r>
            <a:endParaRPr lang="en-US" altLang="zh-TW" sz="1400" dirty="0">
              <a:solidFill>
                <a:schemeClr val="accent4">
                  <a:lumMod val="40000"/>
                  <a:lumOff val="6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護唇膏</a:t>
            </a:r>
            <a:endParaRPr lang="en-US" altLang="zh-TW" sz="1400" dirty="0">
              <a:solidFill>
                <a:schemeClr val="accent4">
                  <a:lumMod val="40000"/>
                  <a:lumOff val="6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保濕乳</a:t>
            </a:r>
            <a:endParaRPr lang="en-US" altLang="zh-TW" sz="1400" dirty="0">
              <a:solidFill>
                <a:schemeClr val="accent4">
                  <a:lumMod val="40000"/>
                  <a:lumOff val="6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防曬乳</a:t>
            </a:r>
            <a:endParaRPr lang="en-US" altLang="zh-TW" sz="1400" dirty="0">
              <a:solidFill>
                <a:schemeClr val="accent4">
                  <a:lumMod val="40000"/>
                  <a:lumOff val="6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簡易醫療包*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防水收納袋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*30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衛生紙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濕紙巾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手電筒</a:t>
            </a:r>
            <a:r>
              <a:rPr lang="en-US" altLang="zh-TW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</a:t>
            </a:r>
            <a:r>
              <a:rPr lang="zh-TW" altLang="en-US" sz="14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頭燈</a:t>
            </a: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US" altLang="zh-TW" sz="14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661AD2AF-058B-97B6-0DBB-26938E061571}"/>
              </a:ext>
            </a:extLst>
          </p:cNvPr>
          <p:cNvSpPr txBox="1">
            <a:spLocks/>
          </p:cNvSpPr>
          <p:nvPr/>
        </p:nvSpPr>
        <p:spPr>
          <a:xfrm>
            <a:off x="6311951" y="1924531"/>
            <a:ext cx="2618985" cy="44263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防水手機袋</a:t>
            </a:r>
            <a:endParaRPr lang="en-US" altLang="zh-TW" sz="18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藥品</a:t>
            </a:r>
            <a:r>
              <a:rPr lang="en-US" altLang="zh-TW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依需求</a:t>
            </a:r>
            <a:r>
              <a:rPr lang="en-US" altLang="zh-TW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垃圾袋</a:t>
            </a:r>
            <a:endParaRPr lang="en-US" altLang="zh-TW" sz="18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保暖毯</a:t>
            </a:r>
            <a:endParaRPr lang="en-US" altLang="zh-TW" sz="18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巧克力</a:t>
            </a:r>
            <a:endParaRPr lang="en-US" altLang="zh-TW" sz="18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快煮鍋</a:t>
            </a:r>
            <a:r>
              <a:rPr lang="en-US" altLang="zh-TW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環保筷、湯匙</a:t>
            </a:r>
            <a:endParaRPr lang="en-US" altLang="zh-TW" sz="18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調味料</a:t>
            </a:r>
            <a:endParaRPr lang="en-US" altLang="zh-TW" sz="18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小菜刀</a:t>
            </a:r>
            <a:r>
              <a:rPr lang="en-US" altLang="zh-TW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保鮮膜夾鏈袋</a:t>
            </a:r>
            <a:endParaRPr lang="en-US" altLang="zh-TW" sz="18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可折疊購物袋*</a:t>
            </a:r>
            <a:r>
              <a:rPr lang="en-US" altLang="zh-TW" sz="18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</a:t>
            </a:r>
          </a:p>
        </p:txBody>
      </p:sp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id="{6D241A76-B8A1-AF14-86E8-4D936C84B8C9}"/>
              </a:ext>
            </a:extLst>
          </p:cNvPr>
          <p:cNvSpPr txBox="1">
            <a:spLocks/>
          </p:cNvSpPr>
          <p:nvPr/>
        </p:nvSpPr>
        <p:spPr>
          <a:xfrm>
            <a:off x="3642335" y="1338920"/>
            <a:ext cx="1764436" cy="4786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可共用</a:t>
            </a:r>
          </a:p>
        </p:txBody>
      </p:sp>
      <p:sp>
        <p:nvSpPr>
          <p:cNvPr id="11" name="文字版面配置區 3">
            <a:extLst>
              <a:ext uri="{FF2B5EF4-FFF2-40B4-BE49-F238E27FC236}">
                <a16:creationId xmlns:a16="http://schemas.microsoft.com/office/drawing/2014/main" id="{9F983E45-23C9-C588-ED14-C5F1073225EF}"/>
              </a:ext>
            </a:extLst>
          </p:cNvPr>
          <p:cNvSpPr txBox="1">
            <a:spLocks/>
          </p:cNvSpPr>
          <p:nvPr/>
        </p:nvSpPr>
        <p:spPr>
          <a:xfrm>
            <a:off x="7590088" y="1295370"/>
            <a:ext cx="2139838" cy="546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視個人情況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0F2830C0-EDC4-CE0D-F051-EE393C8FEA5D}"/>
              </a:ext>
            </a:extLst>
          </p:cNvPr>
          <p:cNvSpPr txBox="1">
            <a:spLocks/>
          </p:cNvSpPr>
          <p:nvPr/>
        </p:nvSpPr>
        <p:spPr>
          <a:xfrm>
            <a:off x="9356954" y="1924531"/>
            <a:ext cx="2349674" cy="4426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大髮圈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自拍棒</a:t>
            </a:r>
            <a:r>
              <a:rPr lang="en-US" altLang="zh-TW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</a:t>
            </a: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三腳架</a:t>
            </a:r>
            <a:endParaRPr lang="en-US" altLang="zh-TW" sz="16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相機</a:t>
            </a:r>
            <a:r>
              <a:rPr lang="en-US" altLang="zh-TW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電池、記憶卡</a:t>
            </a:r>
            <a:r>
              <a:rPr lang="en-US" altLang="zh-TW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</p:txBody>
      </p:sp>
      <p:sp>
        <p:nvSpPr>
          <p:cNvPr id="18" name="文字版面配置區 3">
            <a:extLst>
              <a:ext uri="{FF2B5EF4-FFF2-40B4-BE49-F238E27FC236}">
                <a16:creationId xmlns:a16="http://schemas.microsoft.com/office/drawing/2014/main" id="{184570F8-2AB0-C51C-F92E-D8BF0D3130BF}"/>
              </a:ext>
            </a:extLst>
          </p:cNvPr>
          <p:cNvSpPr txBox="1">
            <a:spLocks/>
          </p:cNvSpPr>
          <p:nvPr/>
        </p:nvSpPr>
        <p:spPr>
          <a:xfrm>
            <a:off x="458868" y="1353651"/>
            <a:ext cx="2621683" cy="4298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需自備</a:t>
            </a:r>
            <a:r>
              <a:rPr lang="en-US" altLang="zh-TW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都要帶</a:t>
            </a:r>
            <a:r>
              <a:rPr lang="en-US" altLang="zh-TW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endParaRPr lang="zh-TW" altLang="en-US" dirty="0">
              <a:solidFill>
                <a:schemeClr val="accent6">
                  <a:lumMod val="60000"/>
                  <a:lumOff val="4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AAE6E7F0-04A0-1A5D-33DE-2555F2C0AC32}"/>
              </a:ext>
            </a:extLst>
          </p:cNvPr>
          <p:cNvSpPr txBox="1">
            <a:spLocks/>
          </p:cNvSpPr>
          <p:nvPr/>
        </p:nvSpPr>
        <p:spPr>
          <a:xfrm>
            <a:off x="438016" y="1924531"/>
            <a:ext cx="2485697" cy="4541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牙刷、牙膏</a:t>
            </a:r>
            <a:endParaRPr lang="en-US" altLang="zh-TW" sz="1600" dirty="0">
              <a:solidFill>
                <a:schemeClr val="accent4">
                  <a:lumMod val="40000"/>
                  <a:lumOff val="6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洗面乳</a:t>
            </a:r>
            <a:r>
              <a:rPr lang="en-US" altLang="zh-TW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卸妝乳</a:t>
            </a:r>
            <a:r>
              <a:rPr lang="en-US" altLang="zh-TW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刮鬍刀</a:t>
            </a:r>
            <a:endParaRPr lang="en-US" altLang="zh-TW" sz="1600" dirty="0">
              <a:solidFill>
                <a:schemeClr val="accent4">
                  <a:lumMod val="40000"/>
                  <a:lumOff val="60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保溫水壺*</a:t>
            </a:r>
            <a:r>
              <a:rPr lang="en-US" altLang="zh-TW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泳衣</a:t>
            </a:r>
            <a:r>
              <a:rPr lang="en-US" altLang="zh-TW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快乾毛巾*</a:t>
            </a:r>
            <a:r>
              <a:rPr lang="en-US" altLang="zh-TW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太陽眼鏡</a:t>
            </a:r>
            <a:r>
              <a:rPr lang="en-US" altLang="zh-TW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防水手機袋</a:t>
            </a:r>
            <a:endParaRPr lang="en-US" altLang="zh-TW" sz="16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充電線</a:t>
            </a:r>
            <a:endParaRPr lang="en-US" altLang="zh-TW" sz="16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車充</a:t>
            </a:r>
            <a:endParaRPr lang="en-US" altLang="zh-TW" sz="16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一顆愛玩的心</a:t>
            </a:r>
            <a:endParaRPr lang="en-US" altLang="zh-TW" sz="16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TW" altLang="en-US" sz="16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出國宣言</a:t>
            </a:r>
            <a:endParaRPr lang="en-US" altLang="zh-TW" sz="16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TW" sz="16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32057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C043B-757E-E4A5-D111-5B156FA45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花費總攬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1B5258F6-6CF7-EA94-ECB4-F32CBD1CC4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7670174"/>
              </p:ext>
            </p:extLst>
          </p:nvPr>
        </p:nvGraphicFramePr>
        <p:xfrm>
          <a:off x="838200" y="1690688"/>
          <a:ext cx="4675909" cy="4479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2118A219-160F-2591-FA32-9ADE38B80BA4}"/>
              </a:ext>
            </a:extLst>
          </p:cNvPr>
          <p:cNvSpPr txBox="1"/>
          <p:nvPr/>
        </p:nvSpPr>
        <p:spPr>
          <a:xfrm>
            <a:off x="6096000" y="1517385"/>
            <a:ext cx="5791200" cy="4110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機票</a:t>
            </a:r>
            <a:r>
              <a:rPr lang="en-US" altLang="zh-TW" sz="2000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+</a:t>
            </a:r>
            <a:r>
              <a:rPr lang="zh-TW" altLang="en-US" sz="2000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保險 </a:t>
            </a:r>
            <a:r>
              <a:rPr lang="en-US" altLang="zh-TW" sz="2000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2000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2000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37,000</a:t>
            </a:r>
          </a:p>
          <a:p>
            <a:pPr>
              <a:lnSpc>
                <a:spcPct val="150000"/>
              </a:lnSpc>
            </a:pPr>
            <a:r>
              <a:rPr lang="en-US" altLang="zh-TW" sz="11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34,000+3,000=37,000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D9A74A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住宿 </a:t>
            </a:r>
            <a:r>
              <a:rPr lang="en-US" altLang="zh-TW" sz="2000" dirty="0">
                <a:solidFill>
                  <a:srgbClr val="D9A74A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 35,000</a:t>
            </a:r>
            <a:endParaRPr lang="en-US" altLang="zh-TW" sz="1100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租車 </a:t>
            </a:r>
            <a:r>
              <a:rPr lang="en-US" altLang="zh-TW" sz="20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 28,956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伙食</a:t>
            </a:r>
            <a:r>
              <a:rPr lang="zh-TW" altLang="en-US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 22,000</a:t>
            </a:r>
          </a:p>
          <a:p>
            <a:pPr>
              <a:lnSpc>
                <a:spcPct val="150000"/>
              </a:lnSpc>
            </a:pPr>
            <a:r>
              <a:rPr lang="en-US" altLang="zh-TW" sz="11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10,000+12,000 (</a:t>
            </a:r>
            <a:r>
              <a:rPr lang="zh-TW" altLang="en-US" sz="11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指定餐廳</a:t>
            </a:r>
            <a:r>
              <a:rPr lang="en-US" altLang="zh-TW" sz="11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*6)</a:t>
            </a:r>
            <a:r>
              <a:rPr lang="zh-TW" altLang="en-US" sz="11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=$22,000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8FAADC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遊玩</a:t>
            </a:r>
            <a:r>
              <a:rPr lang="zh-TW" altLang="en-US" sz="20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 52,331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雜項 </a:t>
            </a:r>
            <a:r>
              <a:rPr lang="en-US" altLang="zh-TW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2,456</a:t>
            </a:r>
          </a:p>
          <a:p>
            <a:pPr>
              <a:lnSpc>
                <a:spcPct val="150000"/>
              </a:lnSpc>
            </a:pP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1,000+400+1,056(</a:t>
            </a:r>
            <a:r>
              <a:rPr lang="zh-TW" altLang="en-US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停車費</a:t>
            </a:r>
            <a:r>
              <a:rPr lang="en-US" altLang="zh-TW" sz="11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)=2,456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Total : 175,429/</a:t>
            </a:r>
            <a:r>
              <a:rPr lang="zh-TW" altLang="en-US" sz="24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人</a:t>
            </a:r>
            <a:r>
              <a:rPr lang="en-US" altLang="zh-TW" sz="24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24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準備</a:t>
            </a:r>
            <a:r>
              <a:rPr lang="en-US" altLang="zh-TW" sz="24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18w</a:t>
            </a:r>
            <a:r>
              <a:rPr lang="zh-TW" altLang="en-US" sz="24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，最好</a:t>
            </a:r>
            <a:r>
              <a:rPr lang="en-US" altLang="zh-TW" sz="2400" b="1" dirty="0">
                <a:solidFill>
                  <a:srgbClr val="FF505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20w)</a:t>
            </a:r>
            <a:endParaRPr lang="en-US" altLang="zh-TW" sz="2800" b="1" dirty="0">
              <a:solidFill>
                <a:srgbClr val="FF505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9762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B8E0-31C3-3ED8-C847-33A4608C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CD4E4B-C5E4-4792-49B3-CB7DC370F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6E7D39-EE0D-C04D-0AF1-DAA8F16EC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759" y="1593858"/>
            <a:ext cx="5788241" cy="5197560"/>
          </a:xfrm>
        </p:spPr>
        <p:txBody>
          <a:bodyPr>
            <a:noAutofit/>
          </a:bodyPr>
          <a:lstStyle/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購買機票時間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八月底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~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十月中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八月開始每天看機票價格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目前看到票價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$33680    $32000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以下可以直接買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32000~32499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可觀察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/32500~33299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可觀察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/33300~34000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正常價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機票訂完馬上訂住宿跟租車、報團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保險選擇 </a:t>
            </a:r>
            <a:r>
              <a:rPr lang="en-US" altLang="zh-TW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富邦產險 </a:t>
            </a:r>
            <a:r>
              <a:rPr lang="en-US" altLang="zh-TW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2200~3200   </a:t>
            </a:r>
            <a:r>
              <a:rPr lang="zh-TW" altLang="en-US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包含內容</a:t>
            </a:r>
            <a:r>
              <a:rPr lang="en-US" altLang="zh-TW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旅平險</a:t>
            </a:r>
            <a:r>
              <a:rPr lang="en-US" altLang="zh-TW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(1000w)</a:t>
            </a:r>
            <a:r>
              <a:rPr lang="zh-TW" altLang="en-US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、旅遊不便險、海外突發疾病醫療</a:t>
            </a:r>
            <a:r>
              <a:rPr lang="en-US" altLang="zh-TW" sz="1200" dirty="0">
                <a:solidFill>
                  <a:srgbClr val="90D7F3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(100w)</a:t>
            </a: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國泰產險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2000~3000</a:t>
            </a: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新光產險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1700~2600</a:t>
            </a: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哪些位置：最好拍。哪裡不能站。停車場在哪。廁所在哪。要不要門票。停多久。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活動攻略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住宿攻略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Check-in✔ 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停車✔ </a:t>
            </a:r>
            <a:r>
              <a:rPr lang="en-US" altLang="zh-TW" sz="1200" dirty="0" err="1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WiFi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✔ 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洗衣✔ 超市✔ 加油站✔ 最近餐廳✔ 最近醫院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極光攻略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KP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值 雲量 拍攝縮時 手機拍法 相機設定。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攝影攻略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常用冰島語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謝謝 你好 加油站 醫院 停車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交通標誌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常用英文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 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租車：住宿：餐廳：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行李箱最多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4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人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28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吋，兩人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24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吋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3450774C-E316-7D67-477E-C4F2A52F5584}"/>
              </a:ext>
            </a:extLst>
          </p:cNvPr>
          <p:cNvSpPr txBox="1">
            <a:spLocks/>
          </p:cNvSpPr>
          <p:nvPr/>
        </p:nvSpPr>
        <p:spPr>
          <a:xfrm>
            <a:off x="6177378" y="1593858"/>
            <a:ext cx="5788241" cy="5197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該買的東西 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旅行壓縮袋、</a:t>
            </a:r>
            <a:r>
              <a:rPr lang="zh-TW" altLang="en-US" sz="12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防風防水外套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zh-TW" altLang="en-US" sz="1200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行李箱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、行李箱秤、羊毛襪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體驗該準備甚麼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?</a:t>
            </a: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各種消費怎麼付款</a:t>
            </a:r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每天住宿包含甚麼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可以自己煮嗎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凱夫拉維克</a:t>
            </a:r>
            <a:endParaRPr lang="en-US" altLang="zh-TW" sz="12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賽爾福斯</a:t>
            </a:r>
            <a:endParaRPr lang="en-US" altLang="zh-TW" sz="12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教堂*</a:t>
            </a:r>
            <a:r>
              <a:rPr lang="en-US" altLang="zh-TW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</a:t>
            </a: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赫本</a:t>
            </a:r>
            <a:endParaRPr lang="en-US" altLang="zh-TW" sz="12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埃伊爾斯塔濟</a:t>
            </a:r>
            <a:endParaRPr lang="en-US" altLang="zh-TW" sz="12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米湖</a:t>
            </a:r>
            <a:endParaRPr lang="en-US" altLang="zh-TW" sz="12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阿克雷里*</a:t>
            </a:r>
            <a:r>
              <a:rPr lang="en-US" altLang="zh-TW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</a:t>
            </a: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布魯迪歐斯</a:t>
            </a:r>
            <a:endParaRPr lang="en-US" altLang="zh-TW" sz="12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博加內爾</a:t>
            </a:r>
            <a:endParaRPr lang="en-US" altLang="zh-TW" sz="12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en-US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首都*</a:t>
            </a:r>
            <a:r>
              <a:rPr lang="en-US" altLang="zh-TW" sz="12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</a:t>
            </a:r>
          </a:p>
          <a:p>
            <a:endParaRPr lang="en-US" altLang="zh-TW" sz="1200" dirty="0">
              <a:solidFill>
                <a:schemeClr val="bg1">
                  <a:lumMod val="9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8509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47674-DF80-294E-9B1C-D898D98D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8DD2BD-7C12-3968-AC6D-942F7965F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0294" y="439367"/>
            <a:ext cx="6211410" cy="855540"/>
          </a:xfrm>
        </p:spPr>
        <p:txBody>
          <a:bodyPr>
            <a:normAutofit/>
          </a:bodyPr>
          <a:lstStyle/>
          <a:p>
            <a:r>
              <a:rPr lang="zh-TW" altLang="en-US" sz="4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住宿網址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66970F-4FB1-B89E-7C3C-DEA61D0F9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6722" y="1429385"/>
            <a:ext cx="5938553" cy="507802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3/2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      凱夫拉維克  桑德格迪小屋酒店</a:t>
            </a: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3/3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      塞爾福斯  </a:t>
            </a: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The Old farm house in Iceland</a:t>
            </a:r>
          </a:p>
          <a:p>
            <a:pPr algn="l">
              <a:lnSpc>
                <a:spcPct val="150000"/>
              </a:lnSpc>
            </a:pP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3/4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5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教堂鎮   </a:t>
            </a:r>
            <a:r>
              <a:rPr lang="en-US" altLang="zh-TW" sz="15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Eldhraun Holiday Home</a:t>
            </a: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3/6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      赫本鎮  </a:t>
            </a:r>
            <a:r>
              <a:rPr lang="zh-TW" altLang="en-US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霍芬旅館</a:t>
            </a: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lvl="0" algn="l">
              <a:lnSpc>
                <a:spcPct val="150000"/>
              </a:lnSpc>
            </a:pP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3/7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      埃伊爾斯塔濟</a:t>
            </a:r>
            <a:r>
              <a:rPr lang="zh-TW" altLang="en-US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</a:t>
            </a:r>
            <a:r>
              <a:rPr lang="zh-TW" altLang="en-US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美吉里度假屋</a:t>
            </a: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3/8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      米湖   </a:t>
            </a:r>
            <a:r>
              <a:rPr lang="zh-TW" altLang="en-US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500" b="1" dirty="0" err="1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Svartaborg</a:t>
            </a: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3/9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10   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阿克雷里  </a:t>
            </a:r>
            <a:r>
              <a:rPr lang="en-US" altLang="zh-TW" sz="1500" b="1" dirty="0" err="1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Thingvallastræti</a:t>
            </a:r>
            <a:endParaRPr lang="en-US" altLang="zh-TW" sz="1500" b="1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3/11</a:t>
            </a:r>
            <a:r>
              <a:rPr lang="zh-TW" altLang="en-US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     布魯迪歐斯  </a:t>
            </a:r>
            <a:r>
              <a:rPr lang="zh-TW" altLang="en-US" sz="15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赫斯塔休閒小屋酒店</a:t>
            </a: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3/12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    </a:t>
            </a:r>
            <a:r>
              <a:rPr lang="en-US" altLang="zh-TW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</a:t>
            </a:r>
            <a:r>
              <a:rPr lang="zh-TW" altLang="en-US" sz="1500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博加內斯  </a:t>
            </a:r>
            <a:r>
              <a:rPr lang="zh-TW" altLang="en-US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霍爾特度假屋</a:t>
            </a:r>
            <a:endParaRPr lang="en-US" altLang="zh-TW" sz="1500" b="1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3/13</a:t>
            </a:r>
            <a:r>
              <a:rPr lang="zh-TW" altLang="en-US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en-US" altLang="zh-TW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14</a:t>
            </a:r>
            <a:r>
              <a:rPr lang="zh-TW" altLang="en-US" sz="1500" b="1" dirty="0">
                <a:solidFill>
                  <a:srgbClr val="FFE699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 雷克雅維克  </a:t>
            </a:r>
            <a:r>
              <a:rPr lang="en-US" altLang="zh-TW" sz="1600" b="1" dirty="0">
                <a:solidFill>
                  <a:srgbClr val="FFE6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Black Diamond Villa</a:t>
            </a:r>
            <a:endParaRPr lang="en-US" altLang="zh-TW" sz="1500" b="1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514350" indent="-514350" algn="l">
              <a:lnSpc>
                <a:spcPct val="150000"/>
              </a:lnSpc>
              <a:buFont typeface="Wingdings" panose="05000000000000000000" pitchFamily="2" charset="2"/>
              <a:buAutoNum type="circleNumWdWhitePlain"/>
            </a:pP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514350" indent="-514350" algn="l">
              <a:buFont typeface="Wingdings" panose="05000000000000000000" pitchFamily="2" charset="2"/>
              <a:buAutoNum type="circleNumWdWhitePlain"/>
            </a:pP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514350" indent="-514350" algn="l">
              <a:buFont typeface="Wingdings" panose="05000000000000000000" pitchFamily="2" charset="2"/>
              <a:buAutoNum type="circleNumWdWhitePlain"/>
            </a:pP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 algn="l">
              <a:buNone/>
            </a:pPr>
            <a:endParaRPr lang="en-US" altLang="zh-TW" sz="1500" dirty="0">
              <a:solidFill>
                <a:srgbClr val="FFE699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018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24072</TotalTime>
  <Words>2767</Words>
  <Application>Microsoft Office PowerPoint</Application>
  <PresentationFormat>寬螢幕</PresentationFormat>
  <Paragraphs>390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SimSun</vt:lpstr>
      <vt:lpstr>微軟正黑體</vt:lpstr>
      <vt:lpstr>微軟正黑體 Light</vt:lpstr>
      <vt:lpstr>Arial</vt:lpstr>
      <vt:lpstr>Calibri</vt:lpstr>
      <vt:lpstr>Calibri Light</vt:lpstr>
      <vt:lpstr>Wingdings</vt:lpstr>
      <vt:lpstr>Office 佈景主題</vt:lpstr>
      <vt:lpstr>目錄</vt:lpstr>
      <vt:lpstr>PowerPoint 簡報</vt:lpstr>
      <vt:lpstr>2/28－桃園機場</vt:lpstr>
      <vt:lpstr>3/2 – 抵達首都</vt:lpstr>
      <vt:lpstr>PowerPoint 簡報</vt:lpstr>
      <vt:lpstr>3/3－西南部（黃金圈）</vt:lpstr>
      <vt:lpstr>3/4－南岸海景（1</vt:lpstr>
      <vt:lpstr>PowerPoint 簡報</vt:lpstr>
      <vt:lpstr>3/5－南岸海景（2</vt:lpstr>
      <vt:lpstr>3/6－東南部/封路機率(15%)planB小心側風強</vt:lpstr>
      <vt:lpstr>3/7－東峽灣(封路機率15~25%/planB)</vt:lpstr>
      <vt:lpstr>3/8－東北部(封路機率30~40%)/plan b</vt:lpstr>
      <vt:lpstr>3/9－北部（鑽石圈）</vt:lpstr>
      <vt:lpstr>PowerPoint 簡報</vt:lpstr>
      <vt:lpstr>3/10－北境遊planA</vt:lpstr>
      <vt:lpstr>3/11－保留日planB</vt:lpstr>
      <vt:lpstr>3/12－西北部（補給站）</vt:lpstr>
      <vt:lpstr>3/13－斯奈山半島</vt:lpstr>
      <vt:lpstr>3/14－首都</vt:lpstr>
      <vt:lpstr>PowerPoint 簡報</vt:lpstr>
      <vt:lpstr>3/15－返程</vt:lpstr>
      <vt:lpstr>行李清單</vt:lpstr>
      <vt:lpstr>行李清單</vt:lpstr>
      <vt:lpstr>花費總攬</vt:lpstr>
      <vt:lpstr>注意事項</vt:lpstr>
      <vt:lpstr>住宿網址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Administrator</dc:creator>
  <cp:lastModifiedBy>姿毓 黃</cp:lastModifiedBy>
  <cp:revision>354</cp:revision>
  <dcterms:created xsi:type="dcterms:W3CDTF">2026-06-26T18:35:08Z</dcterms:created>
  <dcterms:modified xsi:type="dcterms:W3CDTF">2026-09-20T07:38:17Z</dcterms:modified>
</cp:coreProperties>
</file>